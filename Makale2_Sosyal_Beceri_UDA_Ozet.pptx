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notesMasterIdLst>
    <p:notesMasterId r:id="rId10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9144000" cy="6858000" type="screen4x3"/>
  <p:notesSz cx="6797675" cy="9872663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Orta Stil 2 - Vurgu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Orta Stil 2 - Vurgu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Orta Stil 2 - Vurgu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Orta Stil 2 - Vurgu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69" d="100"/>
          <a:sy n="69" d="100"/>
        </p:scale>
        <p:origin x="-1416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106" Type="http://schemas.openxmlformats.org/officeDocument/2006/relationships/notesMaster" Target="notesMasters/notesMaster1.xml"/><Relationship Id="rId107" Type="http://schemas.openxmlformats.org/officeDocument/2006/relationships/presProps" Target="presProps.xml"/><Relationship Id="rId108" Type="http://schemas.openxmlformats.org/officeDocument/2006/relationships/viewProps" Target="viewProps.xml"/><Relationship Id="rId109" Type="http://schemas.openxmlformats.org/officeDocument/2006/relationships/theme" Target="theme/theme1.xml"/><Relationship Id="rId11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49D820-8787-4EFC-A334-4F6172B60678}" type="datetimeFigureOut">
              <a:rPr lang="tr-TR" smtClean="0"/>
              <a:t>03.11.2018</a:t>
            </a:fld>
            <a:endParaRPr lang="tr-TR"/>
          </a:p>
        </p:txBody>
      </p:sp>
      <p:sp>
        <p:nvSpPr>
          <p:cNvPr id="4" name="Slayt Görüntüsü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930275" y="739775"/>
            <a:ext cx="4937125" cy="370363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79768" y="4689515"/>
            <a:ext cx="5438140" cy="444269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tr-TR"/>
          </a:p>
        </p:txBody>
      </p:sp>
      <p:sp>
        <p:nvSpPr>
          <p:cNvPr id="6" name="Altbilgi Yer Tutucusu 5"/>
          <p:cNvSpPr>
            <a:spLocks noGrp="1"/>
          </p:cNvSpPr>
          <p:nvPr>
            <p:ph type="ftr" sz="quarter" idx="4"/>
          </p:nvPr>
        </p:nvSpPr>
        <p:spPr>
          <a:xfrm>
            <a:off x="0" y="9377316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50443" y="9377316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7162E2-2D59-4448-8347-DF58660EEE41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9677128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905000"/>
            <a:ext cx="7543800" cy="2593975"/>
          </a:xfrm>
        </p:spPr>
        <p:txBody>
          <a:bodyPr anchor="b"/>
          <a:lstStyle>
            <a:lvl1pPr>
              <a:defRPr sz="6600">
                <a:ln>
                  <a:noFill/>
                </a:ln>
                <a:solidFill>
                  <a:schemeClr val="tx2"/>
                </a:solidFill>
              </a:defRPr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0" y="4572000"/>
            <a:ext cx="6461760" cy="10668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tr-TR" smtClean="0"/>
              <a:t>Asıl alt başlık stilini düzenlemek için tıklatın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69B0-F384-4AD7-AD8D-4096480A9A4A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6E379-24A1-460A-9149-676909C681DD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5486400"/>
            <a:ext cx="7659687" cy="1168400"/>
          </a:xfrm>
        </p:spPr>
        <p:txBody>
          <a:bodyPr anchor="t"/>
          <a:lstStyle>
            <a:lvl1pPr algn="l">
              <a:defRPr sz="3600" b="0" cap="all"/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3852863"/>
            <a:ext cx="6135687" cy="1633538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AAD7F-6F3F-4DFF-B7AD-B125074C601A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536192"/>
            <a:ext cx="3657600" cy="45902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19600" y="1536192"/>
            <a:ext cx="3657600" cy="45902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F9635F-7193-4694-BC28-2F8F93A66EBD}" type="datetime1">
              <a:rPr lang="tr-TR" smtClean="0"/>
              <a:t>03.11.2018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3657600" cy="6397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365760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19600" y="1535113"/>
            <a:ext cx="3657600" cy="6397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19600" y="2174875"/>
            <a:ext cx="365760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18252-8E12-4243-A9B5-112538D552CA}" type="datetime1">
              <a:rPr lang="tr-TR" smtClean="0"/>
              <a:t>03.11.2018</a:t>
            </a:fld>
            <a:endParaRPr lang="tr-T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0BD8F-24F3-4D49-A602-4010108E9C2F}" type="datetime1">
              <a:rPr lang="tr-TR" smtClean="0"/>
              <a:t>03.11.2018</a:t>
            </a:fld>
            <a:endParaRPr lang="tr-T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78E7C8-ED9D-4733-AE7A-D26D62C5977F}" type="datetime1">
              <a:rPr lang="tr-TR" smtClean="0"/>
              <a:t>03.11.2018</a:t>
            </a:fld>
            <a:endParaRPr lang="tr-T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1" y="5495544"/>
            <a:ext cx="7772400" cy="594360"/>
          </a:xfrm>
        </p:spPr>
        <p:txBody>
          <a:bodyPr anchor="b"/>
          <a:lstStyle>
            <a:lvl1pPr algn="ctr">
              <a:defRPr sz="2200" b="1"/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799" y="6096000"/>
            <a:ext cx="7772401" cy="6096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5256B2-AAAF-4ACC-8725-F361F719AEAE}" type="datetime1">
              <a:rPr lang="tr-TR" smtClean="0"/>
              <a:t>03.11.2018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304800" y="381000"/>
            <a:ext cx="7772400" cy="4942840"/>
          </a:xfrm>
        </p:spPr>
        <p:txBody>
          <a:bodyPr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1752" y="5495278"/>
            <a:ext cx="7772400" cy="594626"/>
          </a:xfrm>
        </p:spPr>
        <p:txBody>
          <a:bodyPr anchor="b"/>
          <a:lstStyle>
            <a:lvl1pPr algn="ctr">
              <a:defRPr sz="2200" b="1">
                <a:ln>
                  <a:noFill/>
                </a:ln>
                <a:solidFill>
                  <a:schemeClr val="tx2"/>
                </a:solidFill>
              </a:defRPr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0" y="0"/>
            <a:ext cx="8458200" cy="54864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tr-TR" smtClean="0"/>
              <a:t>Resim eklemek için simgeyi tıklatın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1752" y="6096000"/>
            <a:ext cx="7772400" cy="612648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86ABE-C472-4B30-AEE4-F60A52850637}" type="datetime1">
              <a:rPr lang="tr-TR" smtClean="0"/>
              <a:t>03.11.2018</a:t>
            </a:fld>
            <a:endParaRPr lang="tr-T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tr-T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,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D784E-E50D-4FCE-98A9-267F995A398B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1752600" cy="5851525"/>
          </a:xfrm>
        </p:spPr>
        <p:txBody>
          <a:bodyPr vert="eaVert" anchor="b" anchorCtr="0"/>
          <a:lstStyle/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FF191-22B5-4872-AE57-ADC5493E3A67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620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7620000" cy="4800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8458200" y="0"/>
            <a:ext cx="6858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8458200" y="5486400"/>
            <a:ext cx="685800" cy="685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31788" y="5648960"/>
            <a:ext cx="548640" cy="396240"/>
          </a:xfrm>
          <a:prstGeom prst="bracketPair">
            <a:avLst>
              <a:gd name="adj" fmla="val 17949"/>
            </a:avLst>
          </a:prstGeom>
          <a:ln w="19050">
            <a:solidFill>
              <a:srgbClr val="FFFFFF"/>
            </a:solidFill>
          </a:ln>
        </p:spPr>
        <p:txBody>
          <a:bodyPr vert="horz" lIns="0" tIns="0" rIns="0" bIns="0" rtlCol="0" anchor="ctr"/>
          <a:lstStyle>
            <a:lvl1pPr algn="ctr">
              <a:defRPr sz="1800">
                <a:solidFill>
                  <a:srgbClr val="FFFFFF"/>
                </a:solidFill>
              </a:defRPr>
            </a:lvl1pPr>
          </a:lstStyle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7586910" y="4048760"/>
            <a:ext cx="2367281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2"/>
                </a:solidFill>
              </a:defRPr>
            </a:lvl1pPr>
          </a:lstStyle>
          <a:p>
            <a:endParaRPr lang="tr-T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7551351" y="1645920"/>
            <a:ext cx="2438399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2"/>
                </a:solidFill>
              </a:defRPr>
            </a:lvl1pPr>
          </a:lstStyle>
          <a:p>
            <a:fld id="{A74E615E-36E1-4294-A833-FBFDBE08EE80}" type="datetime1">
              <a:rPr lang="tr-TR" smtClean="0"/>
              <a:t>03.11.2018</a:t>
            </a:fld>
            <a:endParaRPr lang="tr-T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hf hdr="0" ftr="0" dt="0"/>
  <p:txStyles>
    <p:titleStyle>
      <a:lvl1pPr algn="l" defTabSz="914400" rtl="0" eaLnBrk="1" latinLnBrk="0" hangingPunct="1">
        <a:spcBef>
          <a:spcPct val="0"/>
        </a:spcBef>
        <a:buNone/>
        <a:defRPr sz="4600" kern="1200" cap="none" spc="-100" baseline="0">
          <a:ln>
            <a:noFill/>
          </a:ln>
          <a:solidFill>
            <a:schemeClr val="tx2"/>
          </a:solidFill>
          <a:effectLst/>
          <a:latin typeface="+mj-lt"/>
          <a:ea typeface="+mj-ea"/>
          <a:cs typeface="+mj-cs"/>
        </a:defRPr>
      </a:lvl1pPr>
    </p:titleStyle>
    <p:bodyStyle>
      <a:lvl1pPr marL="342900" indent="-22860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28600" algn="l" defTabSz="914400" rtl="0" eaLnBrk="1" latinLnBrk="0" hangingPunct="1">
        <a:spcBef>
          <a:spcPct val="20000"/>
        </a:spcBef>
        <a:buClr>
          <a:schemeClr val="accent2"/>
        </a:buClr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05840" indent="-228600" algn="l" defTabSz="914400" rtl="0" eaLnBrk="1" latinLnBrk="0" hangingPunct="1">
        <a:spcBef>
          <a:spcPct val="20000"/>
        </a:spcBef>
        <a:buClr>
          <a:schemeClr val="accent3"/>
        </a:buClr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280160" indent="-228600" algn="l" defTabSz="914400" rtl="0" eaLnBrk="1" latinLnBrk="0" hangingPunct="1">
        <a:spcBef>
          <a:spcPct val="20000"/>
        </a:spcBef>
        <a:buClr>
          <a:schemeClr val="accent4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indent="-228600" algn="l" defTabSz="914400" rtl="0" eaLnBrk="1" latinLnBrk="0" hangingPunct="1">
        <a:spcBef>
          <a:spcPct val="20000"/>
        </a:spcBef>
        <a:buClr>
          <a:schemeClr val="accent5"/>
        </a:buClr>
        <a:buFont typeface="Arial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73736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182880" algn="l" defTabSz="914400" rtl="0" eaLnBrk="1" latinLnBrk="0" hangingPunct="1">
        <a:spcBef>
          <a:spcPct val="20000"/>
        </a:spcBef>
        <a:buClr>
          <a:schemeClr val="accent2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103120" indent="-182880" algn="l" defTabSz="914400" rtl="0" eaLnBrk="1" latinLnBrk="0" hangingPunct="1">
        <a:spcBef>
          <a:spcPct val="20000"/>
        </a:spcBef>
        <a:buClr>
          <a:schemeClr val="accent3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286000" indent="-182880" algn="l" defTabSz="914400" rtl="0" eaLnBrk="1" latinLnBrk="0" hangingPunct="1">
        <a:spcBef>
          <a:spcPct val="20000"/>
        </a:spcBef>
        <a:buClr>
          <a:schemeClr val="accent4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400">
                <a:latin typeface="Times New Roman"/>
              </a:rPr>
              <a:t>Özel Eğitim Öğretmenlerinin Uygulamalı Davranış Analizi Kapsamında Sosyal Becerilere Yönelik Görüşlerinin İncelenmesi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1">
                <a:latin typeface="Times New Roman"/>
              </a:rPr>
              <a:t>Abdullah Bilgin KAYMAZ</a:t>
            </a:r>
          </a:p>
          <a:p>
            <a:r>
              <a:rPr sz="2000" b="1">
                <a:latin typeface="Times New Roman"/>
              </a:rPr>
              <a:t>Salih Zeki GENÇ</a:t>
            </a:r>
          </a:p>
          <a:p>
            <a:r>
              <a:rPr sz="1400" b="0">
                <a:latin typeface="Times New Roman"/>
              </a:rPr>
              <a:t>Uluslararası Engelsiz Yaşam ve Toplum Dergisi, 2025, 9 (1), 22-41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</a:t>
            </a:fld>
            <a:endParaRPr lang="tr-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Öz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Amaç: Özel eğitim öğretmenlerinin uygulamalı davranış analizi (UDA) kapsamında sosyal beceri öğretimine ilişkin görüşlerini ortaya koymak.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Desen: Nitel araştırma, durum çalışması; İstanbul Beylikdüzü’nde görevli 27 özel eğitim öğretmeni.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Araç: Demografik bilgi formu ve 10 soruluk yarı yapılandırılmış görüşme formu; veriler içerik analiziyle çözümlenmiştir.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2</a:t>
            </a:fld>
            <a:endParaRPr lang="tr-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Öz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Bulgu: Öğretmenlerin büyük çoğunluğu UDA’nın sosyal beceri öğretiminde etkili bir yaklaşım olduğunu belirtmiştir.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Anahtar kelimeler: Özel eğitim, uygulamalı davranış analizi, sosyal beceriler, özel eğitim öğretmenleri.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Yayın: Geliş 03 Kasım 2025, kabul 30 Aralık 2025 (DOI: 10.29329/baflas.2025.1404.2).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3</a:t>
            </a:fld>
            <a:endParaRPr lang="tr-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Giriş: Özel Eğitim ve Sosyal Beceriler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Özel eğitim, bireylerin gelişim özellikleri, yetenekleri ve ihtiyaçları dikkate alınarak hazırlanan programlarla sunulan eğitim hizmetidir (MEB, 2018).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Dünya Sağlık Örgütü’ne (2020) göre engel oranı dünya nüfusunun yaklaşık %15’idir.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Sosyal beceriler, bireyi topluma bütünleştiren, toplumca kabul gören ve öğrenilmiş davranışlardır (Yüksel, 1999; Rutherford vd., 1998).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Sosyal beceride yetersizlik yaşayan bireyler toplumla kaynaşmada ve akranlarıyla sorun çözmede daha fazla güçlük çeker (Samancı ve Uçan, 2017).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4</a:t>
            </a:fld>
            <a:endParaRPr lang="tr-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Giriş: Uygulamalı Davranış Analizi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UDA, sosyal açıdan kabul gören istenen davranışlara odaklanan, gözlemlenebilir davranışları bilimsel yöntemlerle araştıran bilimsel dayanaklı bir uygulamadır (Birkan, 2013).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Davranış değişimini sağlayan yöntem ve tekniklerle özel gereksinimli bireylerin gelişimini destekler; istenen davranışın sıklığını artırıp genellenmesini amaçlar (Tekin-İftar, 2014).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Sosyal becerilerin gelişiminde öğretmenlerin tutumları ve alan bilgisi de etkilidir.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5</a:t>
            </a:fld>
            <a:endParaRPr lang="tr-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Amaç ve Alt Amaçlar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Amaç: </a:t>
            </a:r>
            <a:r>
              <a:rPr sz="2000" b="0">
                <a:latin typeface="Times New Roman"/>
              </a:rPr>
              <a:t>Öğretmenlerden elde edilen verilerle UDA yöntem ve tekniklerinin sosyal beceri öğretimindeki yerini, karşılaşılan zorlukları ve önerileri belirlemek.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1. Öğretmenlerin sosyal beceri öğretiminde UDA’ya ilişkin bilgi düzeylerini belirlemek.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2. Sık tercih ettikleri UDA tekniklerini (ayrık denemeli öğretim, ipucu verme, pekiştirme vb.) saptamak.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3. UDA’ya alternatif olarak kullandıkları uygulamaları belirlemek.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4. UDA tekniklerinin sosyal beceri kazandırmadaki etkililiğine ilişkin görüşleri ortaya koymak.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6</a:t>
            </a:fld>
            <a:endParaRPr lang="tr-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Yöntem: Araştırma Deseni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Nitel araştırma yöntemlerinden tek durumlu durum çalışması kullanılmıştır.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Bağlam: İstanbul Beylikdüzü’ndeki devlet okullarının ilkokul, ortaokul ve lise düzeyindeki özel eğitim sınıfları.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Durum çalışması, gerçek yaşam bağlamında bir duruma odaklanarak olayların zengin ve ayrıntılı anlaşılmasını sağlar (Gustafsson, 2024; Creswell, 2021).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Veri toplama tekniği olarak yarı yapılandırılmış görüşme formu kullanılmıştır (Aziz vd., 2011).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7</a:t>
            </a:fld>
            <a:endParaRPr lang="tr-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Çalışma Grubu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Ölçüt örnekleme: özel eğitimde aktif görev yapma ve sosyal beceri öğretimi deneyimine sahip olma; okul yönetimleri aracılığıyla ulaşılmıştır.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27 öğretmen: 8 kadın, 19 erkek.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Görev yeri: 5’i ilkokul, 18’i ortaokul, 4’ü lise.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Mezuniyet: 7’si zihinsel engelliler öğretmenliği, 20’si özel eğitim öğretmenliği.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Öğrenim: 19 lisans, 5 tezli ve 3 tezsiz yüksek lisans.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Mesleki kıdem: 2 ile 20 yıl arası.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8</a:t>
            </a:fld>
            <a:endParaRPr lang="tr-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Veri Toplama Aracı ve Analiz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Görüşme formu araştırmacı tarafından alanyazın taranarak geliştirilmiştir; kapsam geçerliği için 2 doçent ve 2 profesör görüşüne sunulmuş, Türkçe dil uzmanıyla düzenlenmiştir.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Veriler içerik analiziyle çözümlenmiştir: sorular ayrı ayrı kodlanmış, kodlar danışman tarafından incelenmiş, kodlar birleştirilerek kategorilere dönüştürülmüş ve tablolar halinde sunulmuştur.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9</a:t>
            </a:fld>
            <a:endParaRPr lang="tr-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Geçerlik ve Güvenirlik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Form uzman görüşü ve alan yazın taramasıyla geliştirilmiş, kodlar bir alan uzmanınca yeniden incelenmiştir.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Miles ve Huberman (1994) formülüyle güvenirlik katsayısı %82 bulunmuş, analiz güvenilir kabul edilmiştir.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Kod kitabı oluşturulmuş; bulgular katılımcı ifadeleriyle desteklenmiştir.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Etik: Kurum izni alınmış, gönüllü katılım ve yazılı onam esas alınmış, kimlikler gizli tutulmuştur.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10</a:t>
            </a:fld>
            <a:endParaRPr lang="tr-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Tablo 2. Sosyal Becerinin Önemi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800200"/>
          <a:ext cx="7619999" cy="3822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31428"/>
                <a:gridCol w="1088571"/>
              </a:tblGrid>
              <a:tr h="347472">
                <a:tc>
                  <a:txBody>
                    <a:bodyPr/>
                    <a:lstStyle/>
                    <a:p>
                      <a:r>
                        <a:rPr sz="1600" b="1">
                          <a:latin typeface="Times New Roman"/>
                        </a:rPr>
                        <a:t>Kategori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00" b="1">
                          <a:latin typeface="Times New Roman"/>
                        </a:rPr>
                        <a:t>f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600" b="0">
                          <a:latin typeface="Times New Roman"/>
                        </a:rPr>
                        <a:t>Sosyal hayata adaptasyon ve entegrasyon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Times New Roman"/>
                        </a:rPr>
                        <a:t>15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600" b="0">
                          <a:latin typeface="Times New Roman"/>
                        </a:rPr>
                        <a:t>Bağımsız yaşam ve temel becerilerin gelişimi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Times New Roman"/>
                        </a:rPr>
                        <a:t>8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600" b="0">
                          <a:latin typeface="Times New Roman"/>
                        </a:rPr>
                        <a:t>Sosyal ve iletişim becerilerinin gelişimi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Times New Roman"/>
                        </a:rPr>
                        <a:t>7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600" b="0">
                          <a:latin typeface="Times New Roman"/>
                        </a:rPr>
                        <a:t>Akademik ve bilişsel gelişimle bağlantı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Times New Roman"/>
                        </a:rPr>
                        <a:t>5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600" b="0">
                          <a:latin typeface="Times New Roman"/>
                        </a:rPr>
                        <a:t>Genel yaşam kalitesinin artırılması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Times New Roman"/>
                        </a:rPr>
                        <a:t>5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600" b="0">
                          <a:latin typeface="Times New Roman"/>
                        </a:rPr>
                        <a:t>Özgüven ve akran ilişkilerinin güçlendirilmesi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Times New Roman"/>
                        </a:rPr>
                        <a:t>3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600" b="0">
                          <a:latin typeface="Times New Roman"/>
                        </a:rPr>
                        <a:t>Öğrenci ihtiyaçlarının karşılanması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Times New Roman"/>
                        </a:rPr>
                        <a:t>3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600" b="0">
                          <a:latin typeface="Times New Roman"/>
                        </a:rPr>
                        <a:t>Problemli davranışların azaltılması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Times New Roman"/>
                        </a:rPr>
                        <a:t>1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600" b="0">
                          <a:latin typeface="Times New Roman"/>
                        </a:rPr>
                        <a:t>İstihdam ve topluma katılım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Times New Roman"/>
                        </a:rPr>
                        <a:t>1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600" b="1">
                          <a:latin typeface="Times New Roman"/>
                        </a:rPr>
                        <a:t>Toplam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latin typeface="Times New Roman"/>
                        </a:rPr>
                        <a:t>48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11</a:t>
            </a:fld>
            <a:endParaRPr lang="tr-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Bulgular: Sosyal Becerinin Önemi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En sık dile getirilen kategori “Sosyal Hayata Adaptasyon ve Entegrasyon”dur (f=15); ardından bağımsız yaşam (f=8) ve sosyal-iletişim becerileri (f=7) gelir.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Öğretmenler sosyal beceri çalışmalarının akademik ve bilişsel gelişimi ve yaşam kalitesini de desteklediğini belirtmiştir.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“Çok önemli olduğunu hatta akademik becerilerden önce sosyal beceri çalışılması gerekmektedir.” (öğretmen görüşü)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12</a:t>
            </a:fld>
            <a:endParaRPr lang="tr-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Tablo 3. UDA’da Kullanılan Yöntemler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800200"/>
          <a:ext cx="7620000" cy="3127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7500"/>
                <a:gridCol w="952500"/>
              </a:tblGrid>
              <a:tr h="347472">
                <a:tc>
                  <a:txBody>
                    <a:bodyPr/>
                    <a:lstStyle/>
                    <a:p>
                      <a:r>
                        <a:rPr sz="1500" b="1">
                          <a:latin typeface="Times New Roman"/>
                        </a:rPr>
                        <a:t>Kategori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1">
                          <a:latin typeface="Times New Roman"/>
                        </a:rPr>
                        <a:t>f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500" b="0">
                          <a:latin typeface="Times New Roman"/>
                        </a:rPr>
                        <a:t>Davranışsal öğretim yöntemleri (ayrık denemeli öğretim 7, pekiştirme tarifeleri 4, uygun olmayan davranışı önleme 5…)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latin typeface="Times New Roman"/>
                        </a:rPr>
                        <a:t>20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500" b="0">
                          <a:latin typeface="Times New Roman"/>
                        </a:rPr>
                        <a:t>Model olma ve drama teknikleri (videoyla model olma 8, rol yapma 3)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latin typeface="Times New Roman"/>
                        </a:rPr>
                        <a:t>11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500" b="0">
                          <a:latin typeface="Times New Roman"/>
                        </a:rPr>
                        <a:t>Sosyal temelli öğrenme yöntemleri (sosyal öyküler 7…)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latin typeface="Times New Roman"/>
                        </a:rPr>
                        <a:t>10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500" b="0">
                          <a:latin typeface="Times New Roman"/>
                        </a:rPr>
                        <a:t>Doğrudan öğretim yöntemleri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latin typeface="Times New Roman"/>
                        </a:rPr>
                        <a:t>7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500" b="0">
                          <a:latin typeface="Times New Roman"/>
                        </a:rPr>
                        <a:t>Doğal öğretim yöntemleri (doğal öğretim 3, fırsat öğretimi 3)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latin typeface="Times New Roman"/>
                        </a:rPr>
                        <a:t>6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500" b="0">
                          <a:latin typeface="Times New Roman"/>
                        </a:rPr>
                        <a:t>Yanlışsız öğretim yöntemleri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latin typeface="Times New Roman"/>
                        </a:rPr>
                        <a:t>4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500" b="0">
                          <a:latin typeface="Times New Roman"/>
                        </a:rPr>
                        <a:t>Etkinlik temelli öğrenme yöntemleri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latin typeface="Times New Roman"/>
                        </a:rPr>
                        <a:t>4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500" b="0">
                          <a:latin typeface="Times New Roman"/>
                        </a:rPr>
                        <a:t>Beceri ve destekleyici teknikler (beceri analizi, fiziksel yardım)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latin typeface="Times New Roman"/>
                        </a:rPr>
                        <a:t>2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13</a:t>
            </a:fld>
            <a:endParaRPr lang="tr-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Bulgular: Kullanılan Yöntemler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En sık kullanılan grup davranışsal öğretim yöntemleridir (f=20); bunu model olma ve drama teknikleri (f=11) ile sosyal temelli öğrenme yöntemleri (f=10) izler.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Ayrık denemelerle öğretim (f=7), videoyla model olma (f=8) ve sosyal öykülerle öğretim (f=7) öne çıkan tekniklerdir.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Bulgular öğretmenlerin sosyal beceri öğretiminde UDA kapsamında farklı yöntem ve tekniklerden yararlandığını göstermektedir.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14</a:t>
            </a:fld>
            <a:endParaRPr lang="tr-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Tablo 4. UDA Dışı Uygulamalar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800200"/>
          <a:ext cx="7620000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572000"/>
                <a:gridCol w="762000"/>
              </a:tblGrid>
              <a:tr h="347472">
                <a:tc>
                  <a:txBody>
                    <a:bodyPr/>
                    <a:lstStyle/>
                    <a:p>
                      <a:r>
                        <a:rPr sz="1700" b="1">
                          <a:latin typeface="Times New Roman"/>
                        </a:rPr>
                        <a:t>Kategori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00" b="1">
                          <a:latin typeface="Times New Roman"/>
                        </a:rPr>
                        <a:t>Uygulamalar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00" b="1">
                          <a:latin typeface="Times New Roman"/>
                        </a:rPr>
                        <a:t>f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700" b="0">
                          <a:latin typeface="Times New Roman"/>
                        </a:rPr>
                        <a:t>Etkileşim temelli yöntemler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00" b="0">
                          <a:latin typeface="Times New Roman"/>
                        </a:rPr>
                        <a:t>Akran destekli öğretim (4), Erken Denver Modeli (1), öykü temelli sosyal beceri öğretimi (3), Floortime terapisi (3)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latin typeface="Times New Roman"/>
                        </a:rPr>
                        <a:t>11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700" b="0">
                          <a:latin typeface="Times New Roman"/>
                        </a:rPr>
                        <a:t>Alternatif ve destekleyici iletişim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latin typeface="Times New Roman"/>
                        </a:rPr>
                        <a:t>PECS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latin typeface="Times New Roman"/>
                        </a:rPr>
                        <a:t>3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700" b="0">
                          <a:latin typeface="Times New Roman"/>
                        </a:rPr>
                        <a:t>Video ve görsel destekli yöntemler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00" b="0">
                          <a:latin typeface="Times New Roman"/>
                        </a:rPr>
                        <a:t>Video modelle öğretim (1), gösteri yöntemi (3)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latin typeface="Times New Roman"/>
                        </a:rPr>
                        <a:t>4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350000"/>
            <a:ext cx="762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1">
                <a:latin typeface="Times New Roman"/>
              </a:rPr>
              <a:t>Öğretmenlerin UDA’ya ek olarak etkileşim temelli, görsel destekli ve alternatif iletişim yöntemlerini de tercih ettiği görülmektedir.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15</a:t>
            </a:fld>
            <a:endParaRPr lang="tr-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Tablo 5. Genel Eğitim Sınıfında UDA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800200"/>
          <a:ext cx="7619999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73333"/>
                <a:gridCol w="846666"/>
              </a:tblGrid>
              <a:tr h="347472">
                <a:tc>
                  <a:txBody>
                    <a:bodyPr/>
                    <a:lstStyle/>
                    <a:p>
                      <a:r>
                        <a:rPr sz="1700" b="1">
                          <a:latin typeface="Times New Roman"/>
                        </a:rPr>
                        <a:t>Kategori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00" b="1">
                          <a:latin typeface="Times New Roman"/>
                        </a:rPr>
                        <a:t>f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700" b="0">
                          <a:latin typeface="Times New Roman"/>
                        </a:rPr>
                        <a:t>Grup çalışmalarında etkilidir (model alma, gözlem yapma, akran ortamında hızlı dönüt, genelleme imkânı)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latin typeface="Times New Roman"/>
                        </a:rPr>
                        <a:t>14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700" b="0">
                          <a:latin typeface="Times New Roman"/>
                        </a:rPr>
                        <a:t>Grup çalışmalarında etkili değildir (davranış değiştirme bireysel yapılmalı, etkili düşünmüyorum)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latin typeface="Times New Roman"/>
                        </a:rPr>
                        <a:t>4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700" b="0">
                          <a:latin typeface="Times New Roman"/>
                        </a:rPr>
                        <a:t>Genel eğitim sınıfında çalışmadığı için yorum yapamayanlar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latin typeface="Times New Roman"/>
                        </a:rPr>
                        <a:t>3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350000"/>
            <a:ext cx="762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1">
                <a:latin typeface="Times New Roman"/>
              </a:rPr>
              <a:t>Öğretmenlerin çoğu olumlu görüş bildirmiş; bazıları uygulamanın sınırlılıklarına dikkat çekmiştir.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16</a:t>
            </a:fld>
            <a:endParaRPr lang="tr-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Sonuç ve Tartışma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Öğretmenler UDA’ya olumlu yaklaşmakta, kendilerini yeterli görmekte ve UDA’ya dayalı uygulamaları aktif kullanmaktadır.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UDA bilimsel dayanaklı bir yöntemdir (Cooper vd., 2019); sosyal beceri öğretiminde etkili bir davranış değiştirme yöntemidir (İftar, 2023).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Bazı öğretmenler, kalabalık sınıf, zaman sınırlılığı ve uygulayıcı yeterliği gibi nedenlerle grup ortamında uygulamanın güç, bireysel öğretimde daha etkili olduğunu belirtmiştir.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Uygulamalar yapılandırılmış özel eğitim sınıflarında daha sistematik yürütülebilirken genel eğitimde destekleyici düzenlemelere ihtiyaç vardır.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17</a:t>
            </a:fld>
            <a:endParaRPr lang="tr-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Sonuç ve Tartışma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Öğretmenler sosyal becerilerin zekâ ve sosyal gelişime, okula uyuma katkı sağladığını ve çeşitli gelişim alanlarını desteklediğini ifade etmiştir; bulgular alanyazınla tutarlıdır.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UDA dışında en çok etkileşim temelli yöntemler (akran destekli öğretim, Erken Denver Modeli, öykü temelli, Floortime), alternatif iletişimde PECS tercih edilmiştir (İftar vd., 2023; Karaaslan ve Kutlu, 2010).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Öğretmenler UDA’nın sosyal beceri dışında akademik, öz bakım, dil ve problem davranışla baş etme gibi alanlarda da olumlu etkisi olduğunu belirtmiştir.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18</a:t>
            </a:fld>
            <a:endParaRPr lang="tr-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Kaynakça (Seçme)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800" b="0">
                <a:latin typeface="Times New Roman"/>
              </a:rPr>
              <a:t>Cooper, J. O., Heron, T. E., &amp; Heward, W. L. (2007). Applied behavior analysis (2nd ed.). Pearson Prentice Hall.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Times New Roman"/>
              </a:rPr>
              <a:t>Creswell, J. W. (2021). Nitel araştırma yöntemleri: Beş yaklaşıma göre nitel araştırma ve araştırma deseni. Siyasal Kitabevi.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Times New Roman"/>
              </a:rPr>
              <a:t>Güleç-Aslan, Y. (2017). Otizm spektrum bozukluğu olan çocuklarla çalışan eğitimcilerin ABA algıları. Hacettepe Üniversitesi Eğitim Fakültesi Dergisi, 32, 1013–1032.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Times New Roman"/>
              </a:rPr>
              <a:t>Karaaslan, Ö., &amp; Kutlu, M. (2010). OSB’li çocuklarda sosyal öykü kullanımı. Çukurova Üniversitesi SBE Dergisi, 19(2), 1–17.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Times New Roman"/>
              </a:rPr>
              <a:t>Milli Eğitim Bakanlığı. (2018). Özel eğitim hizmetleri yönetmeliği.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Times New Roman"/>
              </a:rPr>
              <a:t>Tekin-İftar, E. (2014). Uygulamalı davranış analizi. Vize Yayıncılık.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19</a:t>
            </a:fld>
            <a:endParaRPr lang="tr-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400" b="0">
                <a:latin typeface="Times New Roman"/>
              </a:rPr>
              <a:t>HAZIRLAYAN :</a:t>
            </a:r>
          </a:p>
          <a:p/>
          <a:p>
            <a:r>
              <a:rPr sz="2400" b="0">
                <a:latin typeface="Times New Roman"/>
              </a:rPr>
              <a:t/>
            </a:r>
          </a:p>
          <a:p>
            <a:r>
              <a:rPr sz="2400" b="0">
                <a:latin typeface="Times New Roman"/>
              </a:rPr>
              <a:t/>
            </a:r>
          </a:p>
          <a:p>
            <a:r>
              <a:rPr sz="2400" b="0">
                <a:latin typeface="Times New Roman"/>
              </a:rPr>
              <a:t>ÖZET MAKALE (TÜRKÇE)</a:t>
            </a:r>
          </a:p>
          <a:p/>
          <a:p>
            <a:r>
              <a:rPr sz="2400" b="1">
                <a:latin typeface="Times New Roman"/>
              </a:rPr>
              <a:t>Uluslararası Engelsiz Yaşam ve Toplum Dergisi, 2025, 9 (1), 22-41</a:t>
            </a:r>
          </a:p>
          <a:p>
            <a:r>
              <a:rPr sz="2400" b="1">
                <a:latin typeface="Times New Roman"/>
              </a:rPr>
              <a:t>İstanbul / Türkiye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20</a:t>
            </a:fld>
            <a:endParaRPr lang="tr-TR"/>
          </a:p>
        </p:txBody>
      </p:sp>
    </p:spTree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Bitişiklik">
  <a:themeElements>
    <a:clrScheme name="Bitişiklik">
      <a:dk1>
        <a:srgbClr val="2F2B20"/>
      </a:dk1>
      <a:lt1>
        <a:srgbClr val="FFFFFF"/>
      </a:lt1>
      <a:dk2>
        <a:srgbClr val="675E47"/>
      </a:dk2>
      <a:lt2>
        <a:srgbClr val="DFDCB7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Ofis">
      <a:majorFont>
        <a:latin typeface="Cambria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明朝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itişiklik">
      <a:fillStyleLst>
        <a:solidFill>
          <a:schemeClr val="phClr"/>
        </a:solidFill>
        <a:solidFill>
          <a:schemeClr val="phClr">
            <a:tint val="55000"/>
          </a:schemeClr>
        </a:solidFill>
        <a:solidFill>
          <a:schemeClr val="phClr"/>
        </a:soli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algn="bl" rotWithShape="0">
              <a:srgbClr val="000000">
                <a:alpha val="60000"/>
              </a:srgbClr>
            </a:outerShdw>
          </a:effectLst>
        </a:effectStyle>
        <a:effectStyle>
          <a:effectLst/>
          <a:scene3d>
            <a:camera prst="orthographicFront">
              <a:rot lat="0" lon="0" rev="0"/>
            </a:camera>
            <a:lightRig rig="brightRoom" dir="tl">
              <a:rot lat="0" lon="0" rev="1800000"/>
            </a:lightRig>
          </a:scene3d>
          <a:sp3d contourW="10160" prstMaterial="dkEdge">
            <a:bevelT w="38100" h="50800" prst="angle"/>
            <a:contourClr>
              <a:schemeClr val="phClr">
                <a:shade val="40000"/>
                <a:satMod val="15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</a:schemeClr>
            </a:gs>
            <a:gs pos="75000">
              <a:schemeClr val="phClr">
                <a:shade val="100000"/>
                <a:satMod val="115000"/>
              </a:schemeClr>
            </a:gs>
            <a:gs pos="100000">
              <a:schemeClr val="phClr">
                <a:shade val="70000"/>
                <a:satMod val="130000"/>
              </a:schemeClr>
            </a:gs>
          </a:gsLst>
          <a:path path="circle">
            <a:fillToRect l="20000" t="50000" r="100000" b="5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tint val="97000"/>
              </a:schemeClr>
              <a:schemeClr val="phClr">
                <a:shade val="96000"/>
              </a:schemeClr>
            </a:duotone>
          </a:blip>
          <a:tile tx="0" ty="0" sx="32000" sy="32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is Teması">
  <a:themeElements>
    <a:clrScheme name="Ofi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i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i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Adjacency</Template>
  <TotalTime>356</TotalTime>
  <Words>6685</Words>
  <Application>Microsoft Office PowerPoint</Application>
  <PresentationFormat>Ekran Gösterisi (4:3)</PresentationFormat>
  <Paragraphs>498</Paragraphs>
  <Slides>104</Slides>
  <Notes>1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Slayt Başlıkları</vt:lpstr>
      </vt:variant>
      <vt:variant>
        <vt:i4>104</vt:i4>
      </vt:variant>
    </vt:vector>
  </HeadingPairs>
  <TitlesOfParts>
    <vt:vector size="105" baseType="lpstr">
      <vt:lpstr>Bitişiklik</vt:lpstr>
      <vt:lpstr>Zihinsel Yetersizliği Olan Çocuklar ve Oyun Ortamında Akran Etkileşimi</vt:lpstr>
      <vt:lpstr>  Öz </vt:lpstr>
      <vt:lpstr>Öz 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Giriş </vt:lpstr>
      <vt:lpstr>Zihinsel Yetersizliği Olan Çocuklar ve Oyun Ortamında Akran Etkileşimi</vt:lpstr>
      <vt:lpstr>PowerPoint Sunusu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Yöntem  Araştırma Modeli </vt:lpstr>
      <vt:lpstr>Zihinsel Yetersizliği Olan Çocuklar ve Oyun Ortamında Akran Etkileşimi</vt:lpstr>
      <vt:lpstr>Zihinsel Yetersizliği Olan Çocuklar ve Oyun Ortamında Akran Etkileşimi</vt:lpstr>
      <vt:lpstr>Katılımcılar </vt:lpstr>
      <vt:lpstr>PowerPoint Sunusu</vt:lpstr>
      <vt:lpstr>Veri Toplama Araçları 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Verilerin Toplanması </vt:lpstr>
      <vt:lpstr>Verilerin Toplanması </vt:lpstr>
      <vt:lpstr>Verilerin Toplanması </vt:lpstr>
      <vt:lpstr>PowerPoint Sunusu</vt:lpstr>
      <vt:lpstr>PowerPoint Sunusu</vt:lpstr>
      <vt:lpstr>PowerPoint Sunusu</vt:lpstr>
      <vt:lpstr>PowerPoint Sunusu</vt:lpstr>
      <vt:lpstr>Verilerin Analizi </vt:lpstr>
      <vt:lpstr>Verilerin Analizi </vt:lpstr>
      <vt:lpstr>Bulgular </vt:lpstr>
      <vt:lpstr>Tema 1. Tek Başına Oyun Davranışları </vt:lpstr>
      <vt:lpstr>Tema 1. Tek Başına Oyun Davranışları </vt:lpstr>
      <vt:lpstr>Tema 2. Akranlarla Birlikte Oyun Davranışları </vt:lpstr>
      <vt:lpstr>Tema 2. Akranlarla Birlikte Oyun Davranışları </vt:lpstr>
      <vt:lpstr>PowerPoint Sunusu</vt:lpstr>
      <vt:lpstr>Tablo 1. Ali’nin Zihinsel Yetersizliğe Sâhip Akranları ile Oyun Davranışları 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Tablo 2. Ali’nin Normal Gelişim Gösteren Akranları ile Oyun Davranışları 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Tema 3. Akran Etkileşimi </vt:lpstr>
      <vt:lpstr>Ali’nin Normal Gelişim Gösteren Akranları ile Oyun Davranışları</vt:lpstr>
      <vt:lpstr>Ali’nin Normal Gelişim Gösteren Akranları ile Oyun Davranışları</vt:lpstr>
      <vt:lpstr>Tartışma ve Sonuç 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PowerPoint Sunusu</vt:lpstr>
      <vt:lpstr>KAYNAKÇA</vt:lpstr>
      <vt:lpstr>PowerPoint Sunusu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Zihinsel Yetersizliği Olan Çocuklar ve Oyun Ortamında Akran Etkileşimi</dc:title>
  <cp:lastModifiedBy>Hp</cp:lastModifiedBy>
  <cp:revision>40</cp:revision>
  <cp:lastPrinted>2018-11-03T19:18:00Z</cp:lastPrinted>
  <dcterms:modified xsi:type="dcterms:W3CDTF">2018-11-03T19:21:03Z</dcterms:modified>
</cp:coreProperties>
</file>