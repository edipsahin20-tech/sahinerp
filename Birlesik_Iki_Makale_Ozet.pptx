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0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797675" cy="9872663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Orta Stil 2 - Vurgu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Orta Stil 2 - Vurgu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Orta Stil 2 - Vurgu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106" Type="http://schemas.openxmlformats.org/officeDocument/2006/relationships/notesMaster" Target="notesMasters/notesMaster1.xml"/><Relationship Id="rId107" Type="http://schemas.openxmlformats.org/officeDocument/2006/relationships/presProps" Target="presProps.xml"/><Relationship Id="rId108" Type="http://schemas.openxmlformats.org/officeDocument/2006/relationships/viewProps" Target="viewProps.xml"/><Relationship Id="rId109" Type="http://schemas.openxmlformats.org/officeDocument/2006/relationships/theme" Target="theme/theme1.xml"/><Relationship Id="rId1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49D820-8787-4EFC-A334-4F6172B60678}" type="datetimeFigureOut">
              <a:rPr lang="tr-TR" smtClean="0"/>
              <a:t>03.11.2018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50443" y="9377316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162E2-2D59-4448-8347-DF58660EEE4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67712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69B0-F384-4AD7-AD8D-4096480A9A4A}" type="datetime1">
              <a:rPr lang="tr-TR" smtClean="0"/>
              <a:t>03.11.2018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E379-24A1-460A-9149-676909C681DD}" type="datetime1">
              <a:rPr lang="tr-TR" smtClean="0"/>
              <a:t>03.11.2018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AAD7F-6F3F-4DFF-B7AD-B125074C601A}" type="datetime1">
              <a:rPr lang="tr-TR" smtClean="0"/>
              <a:t>03.11.2018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635F-7193-4694-BC28-2F8F93A66EBD}" type="datetime1">
              <a:rPr lang="tr-TR" smtClean="0"/>
              <a:t>03.11.2018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18252-8E12-4243-A9B5-112538D552CA}" type="datetime1">
              <a:rPr lang="tr-TR" smtClean="0"/>
              <a:t>03.11.2018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0BD8F-24F3-4D49-A602-4010108E9C2F}" type="datetime1">
              <a:rPr lang="tr-TR" smtClean="0"/>
              <a:t>03.11.2018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E7C8-ED9D-4733-AE7A-D26D62C5977F}" type="datetime1">
              <a:rPr lang="tr-TR" smtClean="0"/>
              <a:t>03.11.2018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256B2-AAAF-4ACC-8725-F361F719AEAE}" type="datetime1">
              <a:rPr lang="tr-TR" smtClean="0"/>
              <a:t>03.11.2018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6ABE-C472-4B30-AEE4-F60A52850637}" type="datetime1">
              <a:rPr lang="tr-TR" smtClean="0"/>
              <a:t>03.11.2018</a:t>
            </a:fld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784E-E50D-4FCE-98A9-267F995A398B}" type="datetime1">
              <a:rPr lang="tr-TR" smtClean="0"/>
              <a:t>03.11.2018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FF191-22B5-4872-AE57-ADC5493E3A67}" type="datetime1">
              <a:rPr lang="tr-TR" smtClean="0"/>
              <a:t>03.11.2018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A74E615E-36E1-4294-A833-FBFDBE08EE80}" type="datetime1">
              <a:rPr lang="tr-TR" smtClean="0"/>
              <a:t>03.11.2018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>
                <a:latin typeface="Times New Roman"/>
              </a:rPr>
              <a:t>Özel Gereksinimli Öğrenciler: Dinlediğini Anlama ve Sosyal Beceri Öğretimi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1">
                <a:latin typeface="Times New Roman"/>
              </a:rPr>
              <a:t>Makale 1: İbrahim COŞKUN, Gül ERDİN</a:t>
            </a:r>
          </a:p>
          <a:p>
            <a:r>
              <a:rPr sz="2000" b="1">
                <a:latin typeface="Times New Roman"/>
              </a:rPr>
              <a:t>Makale 2: Abdullah Bilgin KAYMAZ, Salih Zeki GENÇ</a:t>
            </a:r>
          </a:p>
          <a:p>
            <a:r>
              <a:rPr sz="1400" b="0">
                <a:latin typeface="Times New Roman"/>
              </a:rPr>
              <a:t>Akademik Bakış Dergisi, 2014 (41)  |  Uluslararası Engelsiz Yaşam ve Toplum Dergisi, 2025, 9 (1), 22-41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</a:t>
            </a:fld>
            <a:endParaRPr lang="tr-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Makale 1: Künye ve Öz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Başlık: </a:t>
            </a:r>
            <a:r>
              <a:rPr sz="2000" b="0">
                <a:latin typeface="Times New Roman"/>
              </a:rPr>
              <a:t>Hafif Düzeyde Zihinsel Yetersizliği Olan Kaynaştırma Öğrencilerinin Dinlediğini Anlama Becerilerinin İncelenmesi (Akademik Bakış Dergisi, Sayı 41, 2014).</a:t>
            </a:r>
          </a:p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Amaç: </a:t>
            </a:r>
            <a:r>
              <a:rPr sz="2000" b="0">
                <a:latin typeface="Times New Roman"/>
              </a:rPr>
              <a:t>Hafif düzeyde zihinsel yetersizliği olan kaynaştırma öğrencilerinin hikâye ve bilgilendirici metinleri işitsel ya da görsel-işitsel materyalle dinlediklerinde anlama düzeylerini ölçmek.</a:t>
            </a:r>
          </a:p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Katılımcı ve desen: </a:t>
            </a:r>
            <a:r>
              <a:rPr sz="2000" b="0">
                <a:latin typeface="Times New Roman"/>
              </a:rPr>
              <a:t>Zekâ bölümü 50-70 arası üç öğrenci; nitel araştırma, durum çalışması.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2</a:t>
            </a:fld>
            <a:endParaRPr lang="tr-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Makale 1: Giriş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Zihinsel yetersizlik 18 yaşından önce başlar; hafif düzeydekiler zihinsel engellilerin yaklaşık %85’idir (AAMR, 2002; Salend, 1998).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Soyut kavramları geç kavrarlar; akademik becerileri yaklaşık 6. sınıf düzeyine ulaşır (Eripek, 2005).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Kaynaştırma: engelli öğrencilerin destek özel eğitimle engelsiz akranlarıyla normal sınıflarda eğitim almasıdır; en az kısıtlayıcı ortam ilkesine dayanır (Kırcaali-İftar, 1998).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Dinleme, ilk kazanılan dil becerisidir; ilköğretim öğrencileri genelde zayıf dinleyicidir (Ömür, 2006; Brent ve Anderson, 1993).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3</a:t>
            </a:fld>
            <a:endParaRPr lang="tr-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Makale 1: Metin Türleri ve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Hikâye edici metin: </a:t>
            </a:r>
            <a:r>
              <a:rPr sz="2000" b="0">
                <a:latin typeface="Times New Roman"/>
              </a:rPr>
              <a:t>sahne, karakter, olay, sonuç, ana fikir aşamalı; anlamak ve hatırlamak daha kolaydır (Graesser vd., 1991).</a:t>
            </a:r>
          </a:p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Bilgi verici metin: </a:t>
            </a:r>
            <a:r>
              <a:rPr sz="2000" b="0">
                <a:latin typeface="Times New Roman"/>
              </a:rPr>
              <a:t>amacı bilgi aktarmaktır; düz anlatım, 5N1K ve ana fikir bulma gerektirir.</a:t>
            </a:r>
          </a:p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Ana problem: </a:t>
            </a:r>
            <a:r>
              <a:rPr sz="2000" b="0">
                <a:latin typeface="Times New Roman"/>
              </a:rPr>
              <a:t>Öğrencilerin dinlediğini anlama becerileri nasıldır? Alt problemler: işitsel ve görsel-işitsel materyal ile hikâye edici ve bilgi verici metinlerde anlama düzeyleri ve bunların etkisi.</a:t>
            </a:r>
          </a:p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Sınırlılık: </a:t>
            </a:r>
            <a:r>
              <a:rPr sz="2000" b="0">
                <a:latin typeface="Times New Roman"/>
              </a:rPr>
              <a:t>İstanbul’da 11-12 yaşlarında üç öğrenci.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4</a:t>
            </a:fld>
            <a:endParaRPr lang="tr-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Makale 1: Yöntem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Katılımcılar: </a:t>
            </a:r>
            <a:r>
              <a:rPr sz="2000" b="0">
                <a:latin typeface="Times New Roman"/>
              </a:rPr>
              <a:t>G (10 yaş, 4. sınıf), B (12 yaş, 7. sınıf), F (11 yaş, 6. sınıf, Asperger sendromu); farklı devlet okullarında, özel eğitim ve rehabilitasyon merkezinde bireysel çalışılmıştır.</a:t>
            </a:r>
          </a:p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İşitsel materyal: </a:t>
            </a:r>
            <a:r>
              <a:rPr sz="2000" b="0">
                <a:latin typeface="Times New Roman"/>
              </a:rPr>
              <a:t>MEB onaylı Türkçe kitaplarından 1., 2., 3. sınıfa uygun 6 hikâye edici ve 6 bilgi verici metin.</a:t>
            </a:r>
          </a:p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Görsel-işitsel materyal: </a:t>
            </a:r>
            <a:r>
              <a:rPr sz="2000" b="0">
                <a:latin typeface="Times New Roman"/>
              </a:rPr>
              <a:t>Çizgi filmler (hikâye edici) ve bilgi verici videolar.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5</a:t>
            </a:fld>
            <a:endParaRPr lang="tr-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Makale 1: Ölçme ve Uygulama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12 ayrı dinlediğini anlama testi geliştirilmiştir; bilgi verici metinde 5N1K (8 soru), hikâye edici metinde hikâye haritası (8 soru).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Sorular basit (60 puan) ve derin (40 puan) anlama olarak ayrılmış; toplam 100 puandır.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Aralık 2013’te her öğrenciyle toplam 6 ders saati çalışılmış; önce işitsel, sonra görsel-işitsel materyal sunulmuştur.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Cevaplar araştırmacı ve iki uzmanca puanlanmış, bulgular betimsel yorumlanmıştır.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6</a:t>
            </a:fld>
            <a:endParaRPr lang="tr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Makale 1 Bulgular: Ortalama Puanlar (100)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00200"/>
          <a:ext cx="7619996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2602"/>
                <a:gridCol w="1461369"/>
                <a:gridCol w="1461369"/>
                <a:gridCol w="1774520"/>
                <a:gridCol w="1670136"/>
              </a:tblGrid>
              <a:tr h="347472">
                <a:tc>
                  <a:txBody>
                    <a:bodyPr/>
                    <a:lstStyle/>
                    <a:p>
                      <a:r>
                        <a:rPr sz="1800" b="1">
                          <a:latin typeface="Times New Roman"/>
                        </a:rPr>
                        <a:t>Öğrenci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Times New Roman"/>
                        </a:rPr>
                        <a:t>İşitsel – Hikâye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Times New Roman"/>
                        </a:rPr>
                        <a:t>İşitsel – Bilgi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Times New Roman"/>
                        </a:rPr>
                        <a:t>Görsel-işitsel – Hikâye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Times New Roman"/>
                        </a:rPr>
                        <a:t>Görsel-işitsel – Bilgi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800" b="0">
                          <a:latin typeface="Times New Roman"/>
                        </a:rPr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/>
                        </a:rPr>
                        <a:t>41,3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/>
                        </a:rPr>
                        <a:t>7,7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/>
                        </a:rPr>
                        <a:t>65,7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/>
                        </a:rPr>
                        <a:t>41,0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800" b="0">
                          <a:latin typeface="Times New Roman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/>
                        </a:rPr>
                        <a:t>46,3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/>
                        </a:rPr>
                        <a:t>19,3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/>
                        </a:rPr>
                        <a:t>60,7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/>
                        </a:rPr>
                        <a:t>50,3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800" b="0">
                          <a:latin typeface="Times New Roman"/>
                        </a:rPr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/>
                        </a:rPr>
                        <a:t>5,3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/>
                        </a:rPr>
                        <a:t>0,0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/>
                        </a:rPr>
                        <a:t>19,7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/>
                        </a:rPr>
                        <a:t>10,0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800" b="1">
                          <a:latin typeface="Times New Roman"/>
                        </a:rPr>
                        <a:t>Ortalama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/>
                        </a:rPr>
                        <a:t>31,0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/>
                        </a:rPr>
                        <a:t>9,0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/>
                        </a:rPr>
                        <a:t>48,7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/>
                        </a:rPr>
                        <a:t>33,8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50000"/>
            <a:ext cx="76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latin typeface="Times New Roman"/>
              </a:rPr>
              <a:t>Puanlar 1., 2. ve 3. sınıf düzeylerinin ortalamasıdır.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7</a:t>
            </a:fld>
            <a:endParaRPr lang="tr-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Makale 1 Bulgular: Yorum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Görsel ve işitsel materyal birlikte kullanıldığında anlama, yalnız işitsel kullanıma göre daha yüksektir.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Hikâye edici metinde anlama başarısı bilgi verici metne göre daha yüksektir.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Sınıf düzeyi yükseldikçe başarı düşmüştür (işitsel hikâye: 38,3 → 31,0 → 23,7).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F’nin çok düşük puanları Asperger sendromunun sosyal etkileşim ve iletişim güçlüğüyle ilişkilendirilmiştir.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Derin anlama sorularında başarı genelde düşük kalmıştır.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8</a:t>
            </a:fld>
            <a:endParaRPr lang="tr-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Makale 1: Sonuç ve Öneriler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Bulgular, görsel-işitsel materyalin öğrenmeyi kolaylaştırdığını söyleyen alan yazınla (Ergin, 1998; Sönmez, 2005; Türkyılmaz, 2010) ve hikâye türünün daha kolay anlaşıldığı görüşüyle (Graesser vd., 1991) uyumludur.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Öneri: Ortam dikkat dağıtmayacak biçimde düzenlenmeli; hikâye ve bilgi verici metin öğretiminde görsel-işitsel materyal kullanılmalı; ölçme öğrencinin düzeyine uygun yapılmalı; farklı yaş gruplarında benzer çalışmalar yapılmalıdır.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9</a:t>
            </a:fld>
            <a:endParaRPr lang="tr-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Makale 2: Künye ve Öz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Başlık: </a:t>
            </a:r>
            <a:r>
              <a:rPr sz="2000" b="0">
                <a:latin typeface="Times New Roman"/>
              </a:rPr>
              <a:t>Özel Eğitim Öğretmenlerinin Uygulamalı Davranış Analizi Kapsamında Sosyal Becerilere Yönelik Görüşlerinin İncelenmesi (2025, 9 (1), 22-41).</a:t>
            </a:r>
          </a:p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Amaç: </a:t>
            </a:r>
            <a:r>
              <a:rPr sz="2000" b="0">
                <a:latin typeface="Times New Roman"/>
              </a:rPr>
              <a:t>Öğretmenlerin uygulamalı davranış analizi (UDA) kapsamında sosyal beceri öğretimine ilişkin görüşlerini ortaya koymak.</a:t>
            </a:r>
          </a:p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Desen: </a:t>
            </a:r>
            <a:r>
              <a:rPr sz="2000" b="0">
                <a:latin typeface="Times New Roman"/>
              </a:rPr>
              <a:t>Durum çalışması; İstanbul Beylikdüzü’nde 27 özel eğitim öğretmeni; 10 soruluk yarı yapılandırılmış görüşme, içerik analizi.</a:t>
            </a:r>
          </a:p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Ana bulgu: </a:t>
            </a:r>
            <a:r>
              <a:rPr sz="2000" b="0">
                <a:latin typeface="Times New Roman"/>
              </a:rPr>
              <a:t>Öğretmenlerin büyük çoğunluğu UDA’yı sosyal beceri öğretiminde etkili bulmuştur.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10</a:t>
            </a:fld>
            <a:endParaRPr lang="tr-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Makale 2: Giriş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Özel eğitim, bireylerin gelişim özellikleri ve ihtiyaçlarına göre hazırlanan programlarla sunulur (MEB, 2018); engel oranı dünya nüfusunun yaklaşık %15’idir (WHO, 2020).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Sosyal beceriler bireyi topluma bütünleştiren, öğrenilmiş davranışlardır (Yüksel, 1999); yetersizlik toplumla kaynaşmada sorun yaratır.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UDA, gözlemlenebilir davranışları bilimsel yöntemlerle ele alan ve istenen davranışın sıklığını artırıp genellenmesini amaçlayan uygulamadır (Tekin-İftar, 2014).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11</a:t>
            </a:fld>
            <a:endParaRPr lang="tr-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Makale 2: Amaç ve Alt Amaçlar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UDA yöntem ve tekniklerinin sosyal beceri öğretimindeki yerini, öğretmenlerin karşılaştığı zorlukları ve önerilerini belirlemek.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1. Öğretmenlerin UDA bilgi düzeyleri.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2. Sık tercih edilen UDA teknikleri (ayrık denemeli öğretim, ipucu verme, pekiştirme vb.).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3. UDA’ya alternatif olarak kullanılan uygulamalar.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4. UDA tekniklerinin etkililiğine ilişkin öğretmen görüşleri.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12</a:t>
            </a:fld>
            <a:endParaRPr lang="tr-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Makale 2: Yöntem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Çalışma grubu: </a:t>
            </a:r>
            <a:r>
              <a:rPr sz="2000" b="0">
                <a:latin typeface="Times New Roman"/>
              </a:rPr>
              <a:t>27 öğretmen (8 kadın, 19 erkek); 5’i ilkokul, 18’i ortaokul, 4’ü lise; kıdem 2-20 yıl; ölçüt örnekleme.</a:t>
            </a:r>
          </a:p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Araç: </a:t>
            </a:r>
            <a:r>
              <a:rPr sz="2000" b="0">
                <a:latin typeface="Times New Roman"/>
              </a:rPr>
              <a:t>Yarı yapılandırılmış görüşme formu; 2 doçent ve 2 profesör görüşüyle kapsam geçerliği sağlanmıştır.</a:t>
            </a:r>
          </a:p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Analiz: </a:t>
            </a:r>
            <a:r>
              <a:rPr sz="2000" b="0">
                <a:latin typeface="Times New Roman"/>
              </a:rPr>
              <a:t>İçerik analizi; kodlama güvenirliği %82 (Miles ve Huberman, 1994).</a:t>
            </a:r>
          </a:p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Etik: </a:t>
            </a:r>
            <a:r>
              <a:rPr sz="2000" b="0">
                <a:latin typeface="Times New Roman"/>
              </a:rPr>
              <a:t>Kurum izni, gönüllü katılım ve yazılı onam; kimlikler gizli tutulmuştur.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13</a:t>
            </a:fld>
            <a:endParaRPr lang="tr-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Makale 2 Bulgular: Sosyal Becerinin Önemi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En sık dile getirilen kategori sosyal hayata adaptasyon ve entegrasyondur (f=15).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Sonra bağımsız yaşam ve temel becerilerin gelişimi (f=8) ile sosyal ve iletişim becerilerinin gelişimi (f=7) gelir.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Akademik-bilişsel gelişim ve genel yaşam kalitesi (f=5’er), özgüven ve akran ilişkileri ile öğrenci ihtiyaçları (f=3’er) izler.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Toplam 48 kodlama yapılmıştır; öğretmenlere göre sosyal beceri, akademik becerilerden bile önce çalışılmalıdır.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14</a:t>
            </a:fld>
            <a:endParaRPr lang="tr-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Makale 2 Bulgular: UDA Yöntemleri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00200"/>
          <a:ext cx="76200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00"/>
                <a:gridCol w="952500"/>
              </a:tblGrid>
              <a:tr h="347472">
                <a:tc>
                  <a:txBody>
                    <a:bodyPr/>
                    <a:lstStyle/>
                    <a:p>
                      <a:r>
                        <a:rPr sz="1700" b="1">
                          <a:latin typeface="Times New Roman"/>
                        </a:rPr>
                        <a:t>Kategori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1">
                          <a:latin typeface="Times New Roman"/>
                        </a:rPr>
                        <a:t>f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700" b="0">
                          <a:latin typeface="Times New Roman"/>
                        </a:rPr>
                        <a:t>Davranışsal öğretim yöntemleri (ayrık denemeli öğretim, pekiştirme vb.)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Times New Roman"/>
                        </a:rPr>
                        <a:t>20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700" b="0">
                          <a:latin typeface="Times New Roman"/>
                        </a:rPr>
                        <a:t>Model olma ve drama teknikleri (videoyla model olma 8, rol yapma 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Times New Roman"/>
                        </a:rPr>
                        <a:t>11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700" b="0">
                          <a:latin typeface="Times New Roman"/>
                        </a:rPr>
                        <a:t>Sosyal temelli öğrenme (sosyal öyküler 7…)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Times New Roman"/>
                        </a:rPr>
                        <a:t>10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700" b="0">
                          <a:latin typeface="Times New Roman"/>
                        </a:rPr>
                        <a:t>Doğrudan öğretim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Times New Roman"/>
                        </a:rPr>
                        <a:t>7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700" b="0">
                          <a:latin typeface="Times New Roman"/>
                        </a:rPr>
                        <a:t>Doğal öğretim yöntemleri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Times New Roman"/>
                        </a:rPr>
                        <a:t>6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700" b="0">
                          <a:latin typeface="Times New Roman"/>
                        </a:rPr>
                        <a:t>Yanlışsız öğretim / etkinlik temelli öğrenme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Times New Roman"/>
                        </a:rPr>
                        <a:t>4 / 4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700" b="0">
                          <a:latin typeface="Times New Roman"/>
                        </a:rPr>
                        <a:t>Beceri ve destekleyici teknikler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Times New Roman"/>
                        </a:rPr>
                        <a:t>2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15</a:t>
            </a:fld>
            <a:endParaRPr lang="tr-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Makale 2 Bulgular: UDA Dışı ve Genel Eğitim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UDA dışı uygulamalar: </a:t>
            </a:r>
            <a:r>
              <a:rPr sz="2000" b="0">
                <a:latin typeface="Times New Roman"/>
              </a:rPr>
              <a:t>etkileşim temelli yöntemler (akran destekli öğretim, Erken Denver Modeli, öykü temelli öğretim, Floortime; f=11), video ve görsel destekli yöntemler (f=4), PECS (f=3).</a:t>
            </a:r>
          </a:p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Genel eğitim sınıfı: </a:t>
            </a:r>
            <a:r>
              <a:rPr sz="2000" b="0">
                <a:latin typeface="Times New Roman"/>
              </a:rPr>
              <a:t>14 öğretmen UDA’yı grup çalışmalarında etkili bulmuş (model alma, gözlem, genelleme imkânı), 4’ü etkili bulmamış, 3’ü yorum yapamamıştır.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16</a:t>
            </a:fld>
            <a:endParaRPr lang="tr-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Makale 2: Sonuç ve Tartışma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Öğretmenler UDA’ya olumlu yaklaşmakta, kendilerini yeterli görmekte ve UDA’ya dayalı uygulamaları aktif kullanmaktadır.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Kalabalık sınıf, zaman sınırlılığı ve uygulayıcı yeterliği nedeniyle bazı öğretmenler grup ortamında uygulamanın güç, bireysel öğretimde daha etkili olduğunu belirtmiştir.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Uygulamalar yapılandırılmış özel eğitim sınıflarında daha sistematik yürütülebilirken genel eğitimde destekleyici düzenlemelere ihtiyaç vardır.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Bulgular alanyazınla tutarlıdır (Cooper vd., 2019; İftar, 2023; Karaaslan ve Kutlu, 2010).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17</a:t>
            </a:fld>
            <a:endParaRPr lang="tr-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İki Makalenin Karşılaştırması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00200"/>
          <a:ext cx="76200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3175000"/>
                <a:gridCol w="3175000"/>
              </a:tblGrid>
              <a:tr h="347472">
                <a:tc>
                  <a:txBody>
                    <a:bodyPr/>
                    <a:lstStyle/>
                    <a:p>
                      <a:r>
                        <a:rPr sz="1600" b="1">
                          <a:latin typeface="Times New Roman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Times New Roman"/>
                        </a:rPr>
                        <a:t>Makale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Times New Roman"/>
                        </a:rPr>
                        <a:t>Makale 2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600" b="0">
                          <a:latin typeface="Times New Roman"/>
                        </a:rPr>
                        <a:t>Konu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Times New Roman"/>
                        </a:rPr>
                        <a:t>Dinlediğini anlama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Times New Roman"/>
                        </a:rPr>
                        <a:t>Sosyal beceri ve UDA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600" b="0">
                          <a:latin typeface="Times New Roman"/>
                        </a:rPr>
                        <a:t>Katılımcı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Times New Roman"/>
                        </a:rPr>
                        <a:t>3 öğrenci (50-70 zekâ bölümü)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Times New Roman"/>
                        </a:rPr>
                        <a:t>27 özel eğitim öğretmeni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600" b="0">
                          <a:latin typeface="Times New Roman"/>
                        </a:rPr>
                        <a:t>Desen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Times New Roman"/>
                        </a:rPr>
                        <a:t>Durum çalışması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Times New Roman"/>
                        </a:rPr>
                        <a:t>Durum çalışması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600" b="0">
                          <a:latin typeface="Times New Roman"/>
                        </a:rPr>
                        <a:t>Veri aracı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Times New Roman"/>
                        </a:rPr>
                        <a:t>Anlama testi (5N1K, hikâye haritası)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Times New Roman"/>
                        </a:rPr>
                        <a:t>Yarı yapılandırılmış görüşme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600" b="0">
                          <a:latin typeface="Times New Roman"/>
                        </a:rPr>
                        <a:t>Ana bulgu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Times New Roman"/>
                        </a:rPr>
                        <a:t>Görsel-işitsel materyal anlamayı artırır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Times New Roman"/>
                        </a:rPr>
                        <a:t>UDA sosyal beceri öğretiminde etkili bulunur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18</a:t>
            </a:fld>
            <a:endParaRPr lang="tr-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Kaynakça (Seçme)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AAMR (2002). Mental Retardation: Definition, Classification, and Systems of Supports (10. Baskı). Washington DC: AAMR.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Eripek, S. (2005). Zekâ Geriliği. Ankara: Kök Yayıncılık.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Graesser, A., Golding, J. M., &amp; Long, D. L. (1991). Narrative Representation and Comprehension. Handbook of Reading Research (Vol. II).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Kırcaali-İftar, G. (1998). Özel Eğitim. Eskişehir: Anadolu Üniversitesi Yayınları.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Creswell, J. W. (2021). Nitel araştırma yöntemleri. Siyasal Kitabevi.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Güleç-Aslan, Y. (2017). Otizm spektrum bozukluğu olan çocuklarla çalışan eğitimcilerin ABA algıları. Hacettepe Üniversitesi Eğitim Fakültesi Dergisi, 32, 1013–1032.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Tekin-İftar, E. (2014). Uygulamalı davranış analizi. Vize Yayıncılık.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19</a:t>
            </a:fld>
            <a:endParaRPr lang="tr-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0">
                <a:latin typeface="Times New Roman"/>
              </a:rPr>
              <a:t>HAZIRLAYAN :</a:t>
            </a:r>
          </a:p>
          <a:p/>
          <a:p>
            <a:r>
              <a:rPr sz="2400" b="0">
                <a:latin typeface="Times New Roman"/>
              </a:rPr>
              <a:t/>
            </a:r>
          </a:p>
          <a:p>
            <a:r>
              <a:rPr sz="2400" b="0">
                <a:latin typeface="Times New Roman"/>
              </a:rPr>
              <a:t/>
            </a:r>
          </a:p>
          <a:p>
            <a:r>
              <a:rPr sz="2400" b="0">
                <a:latin typeface="Times New Roman"/>
              </a:rPr>
              <a:t>ÖZET MAKALE (TÜRKÇE)</a:t>
            </a:r>
          </a:p>
          <a:p/>
          <a:p>
            <a:r>
              <a:rPr sz="2400" b="1">
                <a:latin typeface="Times New Roman"/>
              </a:rPr>
              <a:t>Akademik Bakış Dergisi, Sayı 41, 2014</a:t>
            </a:r>
          </a:p>
          <a:p>
            <a:r>
              <a:rPr sz="2400" b="1">
                <a:latin typeface="Times New Roman"/>
              </a:rPr>
              <a:t>Uluslararası Engelsiz Yaşam ve Toplum Dergisi, 2025, 9 (1)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20</a:t>
            </a:fld>
            <a:endParaRPr lang="tr-TR"/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itişiklik">
  <a:themeElements>
    <a:clrScheme name="Bitişiklik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i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itişiklik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356</TotalTime>
  <Words>6685</Words>
  <Application>Microsoft Office PowerPoint</Application>
  <PresentationFormat>Ekran Gösterisi (4:3)</PresentationFormat>
  <Paragraphs>498</Paragraphs>
  <Slides>104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104</vt:i4>
      </vt:variant>
    </vt:vector>
  </HeadingPairs>
  <TitlesOfParts>
    <vt:vector size="105" baseType="lpstr">
      <vt:lpstr>Bitişiklik</vt:lpstr>
      <vt:lpstr>Zihinsel Yetersizliği Olan Çocuklar ve Oyun Ortamında Akran Etkileşimi</vt:lpstr>
      <vt:lpstr>  Öz </vt:lpstr>
      <vt:lpstr>Öz 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Giriş </vt:lpstr>
      <vt:lpstr>Zihinsel Yetersizliği Olan Çocuklar ve Oyun Ortamında Akran Etkileşimi</vt:lpstr>
      <vt:lpstr>PowerPoint Sunusu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Yöntem  Araştırma Modeli </vt:lpstr>
      <vt:lpstr>Zihinsel Yetersizliği Olan Çocuklar ve Oyun Ortamında Akran Etkileşimi</vt:lpstr>
      <vt:lpstr>Zihinsel Yetersizliği Olan Çocuklar ve Oyun Ortamında Akran Etkileşimi</vt:lpstr>
      <vt:lpstr>Katılımcılar </vt:lpstr>
      <vt:lpstr>PowerPoint Sunusu</vt:lpstr>
      <vt:lpstr>Veri Toplama Araçları 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Verilerin Toplanması </vt:lpstr>
      <vt:lpstr>Verilerin Toplanması </vt:lpstr>
      <vt:lpstr>Verilerin Toplanması </vt:lpstr>
      <vt:lpstr>PowerPoint Sunusu</vt:lpstr>
      <vt:lpstr>PowerPoint Sunusu</vt:lpstr>
      <vt:lpstr>PowerPoint Sunusu</vt:lpstr>
      <vt:lpstr>PowerPoint Sunusu</vt:lpstr>
      <vt:lpstr>Verilerin Analizi </vt:lpstr>
      <vt:lpstr>Verilerin Analizi </vt:lpstr>
      <vt:lpstr>Bulgular </vt:lpstr>
      <vt:lpstr>Tema 1. Tek Başına Oyun Davranışları </vt:lpstr>
      <vt:lpstr>Tema 1. Tek Başına Oyun Davranışları </vt:lpstr>
      <vt:lpstr>Tema 2. Akranlarla Birlikte Oyun Davranışları </vt:lpstr>
      <vt:lpstr>Tema 2. Akranlarla Birlikte Oyun Davranışları </vt:lpstr>
      <vt:lpstr>PowerPoint Sunusu</vt:lpstr>
      <vt:lpstr>Tablo 1. Ali’nin Zihinsel Yetersizliğe Sâhip Akranları ile Oyun Davranışları </vt:lpstr>
      <vt:lpstr>Ali’nin Zihinsel Yetersizliğe Sâhip Akranları ile Oyun Davranışları</vt:lpstr>
      <vt:lpstr>Ali’nin Zihinsel Yetersizliğe Sâhip Akranları ile Oyun Davranışları</vt:lpstr>
      <vt:lpstr>Ali’nin Zihinsel Yetersizliğe Sâhip Akranları ile Oyun Davranışları</vt:lpstr>
      <vt:lpstr>Ali’nin Zihinsel Yetersizliğe Sâhip Akranları ile Oyun Davranışları</vt:lpstr>
      <vt:lpstr>Ali’nin Zihinsel Yetersizliğe Sâhip Akranları ile Oyun Davranışları</vt:lpstr>
      <vt:lpstr>Ali’nin Zihinsel Yetersizliğe Sâhip Akranları ile Oyun Davranışları</vt:lpstr>
      <vt:lpstr>Tablo 2. Ali’nin Normal Gelişim Gösteren Akranları ile Oyun Davranışları </vt:lpstr>
      <vt:lpstr>Ali’nin Normal Gelişim Gösteren Akranları ile Oyun Davranışları</vt:lpstr>
      <vt:lpstr>Ali’nin Normal Gelişim Gösteren Akranları ile Oyun Davranışları</vt:lpstr>
      <vt:lpstr>Ali’nin Normal Gelişim Gösteren Akranları ile Oyun Davranışları</vt:lpstr>
      <vt:lpstr>Ali’nin Normal Gelişim Gösteren Akranları ile Oyun Davranışları</vt:lpstr>
      <vt:lpstr>Ali’nin Normal Gelişim Gösteren Akranları ile Oyun Davranışları</vt:lpstr>
      <vt:lpstr>Ali’nin Normal Gelişim Gösteren Akranları ile Oyun Davranışları</vt:lpstr>
      <vt:lpstr>Tema 3. Akran Etkileşimi </vt:lpstr>
      <vt:lpstr>Ali’nin Normal Gelişim Gösteren Akranları ile Oyun Davranışları</vt:lpstr>
      <vt:lpstr>Ali’nin Normal Gelişim Gösteren Akranları ile Oyun Davranışları</vt:lpstr>
      <vt:lpstr>Tartışma ve Sonuç 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PowerPoint Sunusu</vt:lpstr>
      <vt:lpstr>KAYNAKÇA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Zihinsel Yetersizliği Olan Çocuklar ve Oyun Ortamında Akran Etkileşimi</dc:title>
  <cp:lastModifiedBy>Hp</cp:lastModifiedBy>
  <cp:revision>40</cp:revision>
  <cp:lastPrinted>2018-11-03T19:18:00Z</cp:lastPrinted>
  <dcterms:modified xsi:type="dcterms:W3CDTF">2018-11-03T19:21:03Z</dcterms:modified>
</cp:coreProperties>
</file>