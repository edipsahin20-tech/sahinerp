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100 üzerinden (1., 2., 3. sınıf ortalaması)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solidFill>
              <a:srgbClr val="F4A25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41.3</c:v>
                </c:pt>
                <c:pt idx="1">
                  <c:v>46.3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solidFill>
              <a:srgbClr val="F9D3A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19.3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solidFill>
              <a:srgbClr val="E36C0A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65.7</c:v>
                </c:pt>
                <c:pt idx="1">
                  <c:v>60.7</c:v>
                </c:pt>
                <c:pt idx="2">
                  <c:v>19.7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solidFill>
              <a:srgbClr val="4A3A28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41.0</c:v>
                </c:pt>
                <c:pt idx="1">
                  <c:v>50.3</c:v>
                </c:pt>
                <c:pt idx="2">
                  <c:v>10.0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Sınıf düzeyine göre ortalama puan (100 üzerinden)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ln w="38100">
              <a:solidFill>
                <a:srgbClr val="E36C0A"/>
              </a:solidFill>
            </a:ln>
          </c:spPr>
          <c:marker>
            <c:spPr>
              <a:solidFill>
                <a:srgbClr val="E36C0A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61.3</c:v>
                </c:pt>
                <c:pt idx="1">
                  <c:v>48.0</c:v>
                </c:pt>
                <c:pt idx="2">
                  <c:v>36.7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ln w="38100">
              <a:solidFill>
                <a:srgbClr val="F4A259"/>
              </a:solidFill>
            </a:ln>
          </c:spPr>
          <c:marker>
            <c:spPr>
              <a:solidFill>
                <a:srgbClr val="F4A259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38.3</c:v>
                </c:pt>
                <c:pt idx="1">
                  <c:v>31.0</c:v>
                </c:pt>
                <c:pt idx="2">
                  <c:v>23.7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ln w="38100">
              <a:solidFill>
                <a:srgbClr val="4A3A28"/>
              </a:solidFill>
            </a:ln>
          </c:spPr>
          <c:marker>
            <c:spPr>
              <a:solidFill>
                <a:srgbClr val="4A3A2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43.3</c:v>
                </c:pt>
                <c:pt idx="1">
                  <c:v>34.7</c:v>
                </c:pt>
                <c:pt idx="2">
                  <c:v>23.3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ln w="38100">
              <a:solidFill>
                <a:srgbClr val="9A8C78"/>
              </a:solidFill>
            </a:ln>
          </c:spPr>
          <c:marker>
            <c:spPr>
              <a:solidFill>
                <a:srgbClr val="9A8C7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11.7</c:v>
                </c:pt>
                <c:pt idx="1">
                  <c:v>6.7</c:v>
                </c:pt>
                <c:pt idx="2">
                  <c:v>8.7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.0"/>
          <c:min val="0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543800" cy="73152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Feyza BÜYÜKBEKTAŞ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11879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Çiğdem TURAN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0020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öğrencilerinin hikâye ve bilgilendirici metni işitsel ya da görsel-işitsel materyalle dinlediğinde anlama düzeyini ölçmek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KATILIMCI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3464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okullara devam eden, zekâ bölümü 50-70 arasında 3 öğrenci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6908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6908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Nitel araştırma, durum çalışması; özel eğitim ve rehabilitasyon merkezinde bireysel uygulama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BULGU: Görsel + işitsel materyal anlamayı artırdı; hikâye edici metin bilgi vericiden daha iyi anlaşıldı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%85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zihinsel engellilerin hafif düzeyde olanlar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50–70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hafif düzey zekâ bölümü aralığı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6. sınıf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ulaşılan yaklaşık akademik düzey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7543800" cy="1920240"/>
          </a:xfrm>
          <a:prstGeom prst="roundRect">
            <a:avLst>
              <a:gd name="adj" fmla="val 7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Zihinsel işlevlerde ve kavramsal, sosyal, pratik uyumsal becerilerde belirgin sınırlılık; 18 yaşından önce başlar (AAMR, 2002)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Soyut kavramları geç kavrar, genelleme yapmakta zorlanır (Eripek, 2005; Sucuoğlu,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Tanım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Engelli öğrenci, özel eğitim desteğiyle engelsiz akranlarıyla normal okul ve sınıfta eğitim alır (Tüfekçioğlu, 1997)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Damgalamayı silmek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Sosyal statüyü yükseltmek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Daha iyi ve ucuz öğrenme çevresi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İlke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 az kısıtlayıcı ortam: eğitim ortamları içinde en üst basamak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Türkiye’de 1985’ten sonra uygulanmaya başladı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Pentagon 2"/>
          <p:cNvSpPr/>
          <p:nvPr/>
        </p:nvSpPr>
        <p:spPr>
          <a:xfrm>
            <a:off x="45720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 kazanılan dil becerisi</a:t>
            </a:r>
          </a:p>
        </p:txBody>
      </p:sp>
      <p:sp>
        <p:nvSpPr>
          <p:cNvPr id="4" name="Pentagon 3"/>
          <p:cNvSpPr/>
          <p:nvPr/>
        </p:nvSpPr>
        <p:spPr>
          <a:xfrm>
            <a:off x="301752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İlköğretimde zayıf dinleyicilik</a:t>
            </a:r>
          </a:p>
        </p:txBody>
      </p:sp>
      <p:sp>
        <p:nvSpPr>
          <p:cNvPr id="5" name="Pentagon 4"/>
          <p:cNvSpPr/>
          <p:nvPr/>
        </p:nvSpPr>
        <p:spPr>
          <a:xfrm>
            <a:off x="5577840" y="1645920"/>
            <a:ext cx="2468880" cy="1371600"/>
          </a:xfrm>
          <a:prstGeom prst="homePlat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Dinleme eğitimi gerekli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Nedenler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Sınıfta dinleme eğitimine yeterince yer verilmemesi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Evde dinleme etkileşiminin azlığı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Yetişkinlerin iyi örnek olmaması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 işe yarar?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Görsel öğeler, hikâye haritası, düşünce şeması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Öğrencinin bilgiyi bütünleştirmesini sağlar (Winn, 1988)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Sahne, karakter, olay, problem çözme, sonuç, ana fikir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Çocuklar okul öncesinden tanır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ve hatırlamak daha kolay (Graesser vd., 1991)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Amaç bilgi aktarmak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Düz anlatım, kurgu yok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için 5N1K, ana ve yardımcı fikirler bulunur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Hikâye edici türe göre daha zor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23444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Hafif düzeyde zihinsel yetersizliği olan kaynaştırma öğrencilerinin dinlediğini anlama becerileri nasıldır?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0740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0740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İşitsel ve görsel-işitsel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materyalin etkisi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0740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ve bilgi verici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metin türünün etkisi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169164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Dinlediğini anlama becerisini ölçmek; görsel ve işitsel materyal arasındaki etkileşimi belirlemek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ÖNEM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320040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Eğitim ortamı, materyaller ve öğretmen yetiştirme programları için fikir verir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0916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SINIRLILIK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70916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İstanbul’da 11-12 yaşlarında, 50-70 zekâ bölümlü 3 öğrenci; yalnızca işitsel ve görsel-işitsel materyal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Katılımcılar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10 yaş · 4.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4903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12 yaş · 7.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5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11 yaş · 6.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+ grup eğitimi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Asperger sendromu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7543800" cy="105156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</a:rPr>
              <a:t>Durum çalışması · Zekâ bölümü 50-70 · Farklı devlet okulları · Uygulama özel eğitim ve rehabilitasyon merkezinde, sınıfta yalnızca araştırmacı ve öğrenci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İŞİTSEL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E36C0A"/>
                </a:solidFill>
                <a:latin typeface="Times New Roman"/>
              </a:rPr>
              <a:t>12 metin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6 hikâye edici + 6 bilgi verici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MEB onaylı Türkçe kitapları (1., 2., 3. sınıf)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Araştırmacı bir kez, prozodik okur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GÖRSEL-İŞİTSEL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4A3A28"/>
                </a:solidFill>
                <a:latin typeface="Times New Roman"/>
              </a:rPr>
              <a:t>Çizgi film +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edici ve bilgi verici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Üçüzler Doktorda, Pak ile Pırpır, Rüya’nın Günlüğü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Bitkilerin Büyümesi, İlkyardım Eğitimi, Kek Nasıl Üretilir?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8760"/>
            <a:ext cx="75438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36C0A"/>
                </a:solidFill>
                <a:latin typeface="Times New Roman"/>
              </a:rPr>
              <a:t>Toplam 100 puan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4526280" cy="86868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Basit anlama: 60 puan (6 soru)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2377440"/>
            <a:ext cx="3017520" cy="868680"/>
          </a:xfrm>
          <a:prstGeom prst="rect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Derin anlama: 40 (2 soru)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5N1K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Konu ve ana fikir 20’şer puan, diğerleri 10’ar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Hikâye haritası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Ana fikir 25, sonuç 15, diğer unsurlar 10’ar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Uygulama Süreci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2852928"/>
            <a:ext cx="6492240" cy="6400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Aralık 2013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öğrenciyle ayrı ayrı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6 ders saati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derste 2 metin ya da video</a:t>
            </a:r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Önce işitsel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Hikâye edici, sonra bilgi verici metin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Sonra görsel-işitsel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Çizgi film ve bilgi verici videolar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7543800" cy="73152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Cevaplar araştırmacı ve iki uzmanca puanlandı; bulgular betimsel yorumlandı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Materyalin Etkisi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31,0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33172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48,7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06324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9,0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20440" y="434340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33,8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07492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715000"/>
            <a:ext cx="7543800" cy="548640"/>
          </a:xfrm>
          <a:prstGeom prst="roundRect">
            <a:avLst>
              <a:gd name="adj" fmla="val 3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Görsel ve işitsel materyal birlikte kullanıldığında anlama arttı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Sınıf Düzeyi ve Başarı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Öne Çıkanlar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Metin türü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metin, bilgi vericiden daha iyi anlaşıldı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Materyal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Görsel-işitsel materyal, yalnız işitselden daha etkili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114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Sınıf düzeyi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Düzey yükseldikçe anlama başarısı düştü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4114800"/>
            <a:ext cx="640080" cy="640080"/>
          </a:xfrm>
          <a:prstGeom prst="ellips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F’nin puanları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Çok düşük; Asperger sendromunun etkileşim ve iletişim güçlüğüyle ilişkilendirildi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İşitsel tek başına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potansiyelin altında kaldı; insanlar anlatılanın yalnızca %5-20’sini hatırlar (Açıkgöz, 2006)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5468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15468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arttı (Ergin, 1998; Sönmez, 2005; Türkyılmaz, 2010)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6344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türü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66344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metinler daha kolay anlaşılır ve hatırlanır (Graesser vd., 1991)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18488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Ortamı dikkat dağıtmayacak şekilde düzenleyin; öğrencinin tam katılımını sağlayın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32888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51176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ve bilgi verici metin öğretiminde görsel-işitsel materyal kullanın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65576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83864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öğrencisini akranlarıyla değil, kendi düzeyine uygun ölçmeyle değerlendirin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98264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16552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Metinleri öğrencinin gelişim düzeyine uygun seçin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30952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349240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yaş gruplarında benzer çalışmalar yapılabilir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257800"/>
            <a:ext cx="7543800" cy="1005840"/>
          </a:xfrm>
          <a:prstGeom prst="roundRect">
            <a:avLst>
              <a:gd name="adj" fmla="val 2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</a:rPr>
              <a:t>Makalenin tamamı bir tık uzağınızda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Okumak için buraya tıklayın  ›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