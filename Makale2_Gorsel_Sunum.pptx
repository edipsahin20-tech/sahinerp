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56" r:id="rId1"/>
  </p:sldMasterIdLst>
  <p:notesMasterIdLst>
    <p:notesMasterId r:id="rId106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</p:sldIdLst>
  <p:sldSz cx="9144000" cy="6858000" type="screen4x3"/>
  <p:notesSz cx="6797675" cy="9872663"/>
  <p:defaultTextStyle>
    <a:defPPr>
      <a:defRPr lang="tr-T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Orta Stil 2 - Vurgu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1E4AEA4-8DFA-4A89-87EB-49C32662AFE0}" styleName="Orta Stil 2 - Vurgu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F5AB1C69-6EDB-4FF4-983F-18BD219EF322}" styleName="Orta Stil 2 - Vurgu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00A15C55-8517-42AA-B614-E9B94910E393}" styleName="Orta Stil 2 - Vurgu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>
      <p:cViewPr varScale="1">
        <p:scale>
          <a:sx n="69" d="100"/>
          <a:sy n="69" d="100"/>
        </p:scale>
        <p:origin x="-1416" y="-9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106" Type="http://schemas.openxmlformats.org/officeDocument/2006/relationships/notesMaster" Target="notesMasters/notesMaster1.xml"/><Relationship Id="rId107" Type="http://schemas.openxmlformats.org/officeDocument/2006/relationships/presProps" Target="presProps.xml"/><Relationship Id="rId108" Type="http://schemas.openxmlformats.org/officeDocument/2006/relationships/viewProps" Target="viewProps.xml"/><Relationship Id="rId109" Type="http://schemas.openxmlformats.org/officeDocument/2006/relationships/theme" Target="theme/theme1.xml"/><Relationship Id="rId110" Type="http://schemas.openxmlformats.org/officeDocument/2006/relationships/tableStyles" Target="tableStyles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600" b="1">
                <a:latin typeface="Times New Roman"/>
              </a:rPr>
              <a:t>Öğretmen görüşlerinin kategorilere göre sıklığı (f)</a:t>
            </a:r>
          </a:p>
        </c:rich>
      </c:tx>
      <c:layout/>
      <c:overlay val="0"/>
    </c:title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f</c:v>
                </c:pt>
              </c:strCache>
            </c:strRef>
          </c:tx>
          <c:spPr>
            <a:solidFill>
              <a:srgbClr val="2E8B3A"/>
            </a:solidFill>
          </c:spPr>
          <c:cat>
            <c:strRef>
              <c:f>Sheet1!$A$2:$A$10</c:f>
              <c:strCache>
                <c:ptCount val="9"/>
                <c:pt idx="0">
                  <c:v>Sosyal hayata uyum ve entegrasyon</c:v>
                </c:pt>
                <c:pt idx="1">
                  <c:v>Bağımsız yaşam, temel beceriler</c:v>
                </c:pt>
                <c:pt idx="2">
                  <c:v>Sosyal ve iletişim becerileri</c:v>
                </c:pt>
                <c:pt idx="3">
                  <c:v>Akademik-bilişsel gelişim</c:v>
                </c:pt>
                <c:pt idx="4">
                  <c:v>Genel yaşam kalitesi</c:v>
                </c:pt>
                <c:pt idx="5">
                  <c:v>Özgüven ve akran ilişkileri</c:v>
                </c:pt>
                <c:pt idx="6">
                  <c:v>Öğrenci ihtiyaçları</c:v>
                </c:pt>
                <c:pt idx="7">
                  <c:v>Problemli davranışların azalması</c:v>
                </c:pt>
                <c:pt idx="8">
                  <c:v>İstihdam ve topluma katılım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15</c:v>
                </c:pt>
                <c:pt idx="1">
                  <c:v>8</c:v>
                </c:pt>
                <c:pt idx="2">
                  <c:v>7</c:v>
                </c:pt>
                <c:pt idx="3">
                  <c:v>5</c:v>
                </c:pt>
                <c:pt idx="4">
                  <c:v>5</c:v>
                </c:pt>
                <c:pt idx="5">
                  <c:v>3</c:v>
                </c:pt>
                <c:pt idx="6">
                  <c:v>3</c:v>
                </c:pt>
                <c:pt idx="7">
                  <c:v>1</c:v>
                </c:pt>
                <c:pt idx="8">
                  <c:v>1</c:v>
                </c:pt>
              </c:numCache>
            </c:numRef>
          </c:val>
        </c:ser>
        <c:dLbls>
          <c:txPr>
            <a:bodyPr/>
            <a:lstStyle/>
            <a:p>
              <a:pPr>
                <a:defRPr sz="1300" b="1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45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300">
          <a:latin typeface="Times New Roman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600" b="1">
                <a:latin typeface="Times New Roman"/>
              </a:rPr>
              <a:t>UDA kapsamında kullanılan yöntemler (f)</a:t>
            </a:r>
          </a:p>
        </c:rich>
      </c:tx>
      <c:layout/>
      <c:overlay val="0"/>
    </c:title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f</c:v>
                </c:pt>
              </c:strCache>
            </c:strRef>
          </c:tx>
          <c:spPr>
            <a:solidFill>
              <a:srgbClr val="2E8B3A"/>
            </a:solidFill>
          </c:spPr>
          <c:cat>
            <c:strRef>
              <c:f>Sheet1!$A$2:$A$9</c:f>
              <c:strCache>
                <c:ptCount val="8"/>
                <c:pt idx="0">
                  <c:v>Davranışsal öğretim</c:v>
                </c:pt>
                <c:pt idx="1">
                  <c:v>Model olma ve drama</c:v>
                </c:pt>
                <c:pt idx="2">
                  <c:v>Sosyal temelli öğrenme</c:v>
                </c:pt>
                <c:pt idx="3">
                  <c:v>Doğrudan öğretim</c:v>
                </c:pt>
                <c:pt idx="4">
                  <c:v>Doğal öğretim</c:v>
                </c:pt>
                <c:pt idx="5">
                  <c:v>Yanlışsız öğretim</c:v>
                </c:pt>
                <c:pt idx="6">
                  <c:v>Etkinlik temelli öğrenme</c:v>
                </c:pt>
                <c:pt idx="7">
                  <c:v>Beceri ve destekleyici teknikler</c:v>
                </c:pt>
              </c:strCache>
            </c: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20</c:v>
                </c:pt>
                <c:pt idx="1">
                  <c:v>11</c:v>
                </c:pt>
                <c:pt idx="2">
                  <c:v>10</c:v>
                </c:pt>
                <c:pt idx="3">
                  <c:v>7</c:v>
                </c:pt>
                <c:pt idx="4">
                  <c:v>6</c:v>
                </c:pt>
                <c:pt idx="5">
                  <c:v>4</c:v>
                </c:pt>
                <c:pt idx="6">
                  <c:v>4</c:v>
                </c:pt>
                <c:pt idx="7">
                  <c:v>2</c:v>
                </c:pt>
              </c:numCache>
            </c:numRef>
          </c:val>
        </c:ser>
        <c:dLbls>
          <c:txPr>
            <a:bodyPr/>
            <a:lstStyle/>
            <a:p>
              <a:pPr>
                <a:defRPr sz="1300" b="1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45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300">
          <a:latin typeface="Times New Roman"/>
        </a:defRPr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f</c:v>
                </c:pt>
              </c:strCache>
            </c:strRef>
          </c:tx>
          <c:dPt>
            <c:idx val="0"/>
            <c:spPr>
              <a:solidFill>
                <a:srgbClr val="2E8B3A"/>
              </a:solidFill>
            </c:spPr>
          </c:dPt>
          <c:dPt>
            <c:idx val="1"/>
            <c:spPr>
              <a:solidFill>
                <a:srgbClr val="1A1A1A"/>
              </a:solidFill>
            </c:spPr>
          </c:dPt>
          <c:dPt>
            <c:idx val="2"/>
            <c:spPr>
              <a:solidFill>
                <a:srgbClr val="6FB97C"/>
              </a:solidFill>
            </c:spPr>
          </c:dPt>
          <c:cat>
            <c:strRef>
              <c:f>Sheet1!$A$2:$A$4</c:f>
              <c:strCache>
                <c:ptCount val="3"/>
                <c:pt idx="0">
                  <c:v>Etkileşim temelli</c:v>
                </c:pt>
                <c:pt idx="1">
                  <c:v>Video ve görsel destekli</c:v>
                </c:pt>
                <c:pt idx="2">
                  <c:v>PECS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11</c:v>
                </c:pt>
                <c:pt idx="1">
                  <c:v>4</c:v>
                </c:pt>
                <c:pt idx="2">
                  <c:v>3</c:v>
                </c:pt>
              </c:numCache>
            </c:numRef>
          </c:val>
        </c:ser>
        <c:dLbls>
          <c:txPr>
            <a:bodyPr/>
            <a:lstStyle/>
            <a:p>
              <a:pPr>
                <a:defRPr sz="1800" b="1">
                  <a:solidFill>
                    <a:srgbClr val="FFFFFF"/>
                  </a:solidFill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firstSliceAng val="0"/>
        <c:holeSize val="50"/>
      </c:doughnutChart>
    </c:plotArea>
    <c:legend>
      <c:legendPos val="b"/>
      <c:layout/>
      <c:overlay val="0"/>
    </c:legend>
    <c:plotVisOnly val="1"/>
    <c:dispBlanksAs val="gap"/>
    <c:showDLblsOverMax val="0"/>
  </c:chart>
  <c:txPr>
    <a:bodyPr/>
    <a:lstStyle/>
    <a:p>
      <a:pPr>
        <a:defRPr sz="1300">
          <a:latin typeface="Times New Roman"/>
        </a:defRPr>
      </a:pPr>
      <a:endParaRPr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Üstbilgi Yer Tutucusu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45659" cy="49363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tr-TR"/>
          </a:p>
        </p:txBody>
      </p:sp>
      <p:sp>
        <p:nvSpPr>
          <p:cNvPr id="3" name="Veri Yer Tutucusu 2"/>
          <p:cNvSpPr>
            <a:spLocks noGrp="1"/>
          </p:cNvSpPr>
          <p:nvPr>
            <p:ph type="dt" idx="1"/>
          </p:nvPr>
        </p:nvSpPr>
        <p:spPr>
          <a:xfrm>
            <a:off x="3850443" y="0"/>
            <a:ext cx="2945659" cy="49363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949D820-8787-4EFC-A334-4F6172B60678}" type="datetimeFigureOut">
              <a:rPr lang="tr-TR" smtClean="0"/>
              <a:t>03.11.2018</a:t>
            </a:fld>
            <a:endParaRPr lang="tr-TR"/>
          </a:p>
        </p:txBody>
      </p:sp>
      <p:sp>
        <p:nvSpPr>
          <p:cNvPr id="4" name="Slayt Görüntüsü Yer Tutucusu 3"/>
          <p:cNvSpPr>
            <a:spLocks noGrp="1" noRot="1" noChangeAspect="1"/>
          </p:cNvSpPr>
          <p:nvPr>
            <p:ph type="sldImg" idx="2"/>
          </p:nvPr>
        </p:nvSpPr>
        <p:spPr>
          <a:xfrm>
            <a:off x="930275" y="739775"/>
            <a:ext cx="4937125" cy="3703638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tr-TR"/>
          </a:p>
        </p:txBody>
      </p:sp>
      <p:sp>
        <p:nvSpPr>
          <p:cNvPr id="5" name="Not Yer Tutucusu 4"/>
          <p:cNvSpPr>
            <a:spLocks noGrp="1"/>
          </p:cNvSpPr>
          <p:nvPr>
            <p:ph type="body" sz="quarter" idx="3"/>
          </p:nvPr>
        </p:nvSpPr>
        <p:spPr>
          <a:xfrm>
            <a:off x="679768" y="4689515"/>
            <a:ext cx="5438140" cy="444269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tr-TR" smtClean="0"/>
              <a:t>Asıl metin stillerini düzenlemek için tıklatın</a:t>
            </a:r>
          </a:p>
          <a:p>
            <a:pPr lvl="1"/>
            <a:r>
              <a:rPr lang="tr-TR" smtClean="0"/>
              <a:t>İkinci düzey</a:t>
            </a:r>
          </a:p>
          <a:p>
            <a:pPr lvl="2"/>
            <a:r>
              <a:rPr lang="tr-TR" smtClean="0"/>
              <a:t>Üçüncü düzey</a:t>
            </a:r>
          </a:p>
          <a:p>
            <a:pPr lvl="3"/>
            <a:r>
              <a:rPr lang="tr-TR" smtClean="0"/>
              <a:t>Dördüncü düzey</a:t>
            </a:r>
          </a:p>
          <a:p>
            <a:pPr lvl="4"/>
            <a:r>
              <a:rPr lang="tr-TR" smtClean="0"/>
              <a:t>Beşinci düzey</a:t>
            </a:r>
            <a:endParaRPr lang="tr-TR"/>
          </a:p>
        </p:txBody>
      </p:sp>
      <p:sp>
        <p:nvSpPr>
          <p:cNvPr id="6" name="Altbilgi Yer Tutucusu 5"/>
          <p:cNvSpPr>
            <a:spLocks noGrp="1"/>
          </p:cNvSpPr>
          <p:nvPr>
            <p:ph type="ftr" sz="quarter" idx="4"/>
          </p:nvPr>
        </p:nvSpPr>
        <p:spPr>
          <a:xfrm>
            <a:off x="0" y="9377316"/>
            <a:ext cx="2945659" cy="49363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tr-TR"/>
          </a:p>
        </p:txBody>
      </p:sp>
      <p:sp>
        <p:nvSpPr>
          <p:cNvPr id="7" name="Slayt Numarası Yer Tutucusu 6"/>
          <p:cNvSpPr>
            <a:spLocks noGrp="1"/>
          </p:cNvSpPr>
          <p:nvPr>
            <p:ph type="sldNum" sz="quarter" idx="5"/>
          </p:nvPr>
        </p:nvSpPr>
        <p:spPr>
          <a:xfrm>
            <a:off x="3850443" y="9377316"/>
            <a:ext cx="2945659" cy="49363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B7162E2-2D59-4448-8347-DF58660EEE41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296771280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Başlık Slaydı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905000"/>
            <a:ext cx="7543800" cy="2593975"/>
          </a:xfrm>
        </p:spPr>
        <p:txBody>
          <a:bodyPr anchor="b"/>
          <a:lstStyle>
            <a:lvl1pPr>
              <a:defRPr sz="6600">
                <a:ln>
                  <a:noFill/>
                </a:ln>
                <a:solidFill>
                  <a:schemeClr val="tx2"/>
                </a:solidFill>
              </a:defRPr>
            </a:lvl1pPr>
          </a:lstStyle>
          <a:p>
            <a:r>
              <a:rPr lang="tr-TR" smtClean="0"/>
              <a:t>Asıl başlık stili için tıklatın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685800" y="4572000"/>
            <a:ext cx="6461760" cy="1066800"/>
          </a:xfrm>
        </p:spPr>
        <p:txBody>
          <a:bodyPr anchor="t">
            <a:normAutofit/>
          </a:bodyPr>
          <a:lstStyle>
            <a:lvl1pPr marL="0" indent="0" algn="l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tr-TR" smtClean="0"/>
              <a:t>Asıl alt başlık stilini düzenlemek için tıklatın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A169B0-F384-4AD7-AD8D-4096480A9A4A}" type="datetime1">
              <a:rPr lang="tr-TR" smtClean="0"/>
              <a:t>03.11.2018</a:t>
            </a:fld>
            <a:endParaRPr lang="tr-T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02176B-0E47-46AC-8F43-DAB4B8A37D06}" type="slidenum">
              <a:rPr lang="tr-TR" smtClean="0"/>
              <a:t>‹#›</a:t>
            </a:fld>
            <a:endParaRPr lang="tr-TR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Başlık ve İçeri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tr-TR" smtClean="0"/>
              <a:t>Asıl başlık stili için tıklatın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tr-TR" smtClean="0"/>
              <a:t>Asıl metin stillerini düzenlemek için tıklatın</a:t>
            </a:r>
          </a:p>
          <a:p>
            <a:pPr lvl="1"/>
            <a:r>
              <a:rPr lang="tr-TR" smtClean="0"/>
              <a:t>İkinci düzey</a:t>
            </a:r>
          </a:p>
          <a:p>
            <a:pPr lvl="2"/>
            <a:r>
              <a:rPr lang="tr-TR" smtClean="0"/>
              <a:t>Üçüncü düzey</a:t>
            </a:r>
          </a:p>
          <a:p>
            <a:pPr lvl="3"/>
            <a:r>
              <a:rPr lang="tr-TR" smtClean="0"/>
              <a:t>Dördüncü düzey</a:t>
            </a:r>
          </a:p>
          <a:p>
            <a:pPr lvl="4"/>
            <a:r>
              <a:rPr lang="tr-TR" smtClean="0"/>
              <a:t>Beşinci düzey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56E379-24A1-460A-9149-676909C681DD}" type="datetime1">
              <a:rPr lang="tr-TR" smtClean="0"/>
              <a:t>03.11.2018</a:t>
            </a:fld>
            <a:endParaRPr lang="tr-T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02176B-0E47-46AC-8F43-DAB4B8A37D06}" type="slidenum">
              <a:rPr lang="tr-TR" smtClean="0"/>
              <a:t>‹#›</a:t>
            </a:fld>
            <a:endParaRPr lang="tr-TR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Bölüm Üstbilgis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5486400"/>
            <a:ext cx="7659687" cy="1168400"/>
          </a:xfrm>
        </p:spPr>
        <p:txBody>
          <a:bodyPr anchor="t"/>
          <a:lstStyle>
            <a:lvl1pPr algn="l">
              <a:defRPr sz="3600" b="0" cap="all"/>
            </a:lvl1pPr>
          </a:lstStyle>
          <a:p>
            <a:r>
              <a:rPr lang="tr-TR" smtClean="0"/>
              <a:t>Asıl başlık stili için tıklatın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3852863"/>
            <a:ext cx="6135687" cy="1633538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tr-TR" smtClean="0"/>
              <a:t>Asıl metin stillerini düzenlemek için tıklatın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33AAD7F-6F3F-4DFF-B7AD-B125074C601A}" type="datetime1">
              <a:rPr lang="tr-TR" smtClean="0"/>
              <a:t>03.11.2018</a:t>
            </a:fld>
            <a:endParaRPr lang="tr-T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02176B-0E47-46AC-8F43-DAB4B8A37D06}" type="slidenum">
              <a:rPr lang="tr-TR" smtClean="0"/>
              <a:t>‹#›</a:t>
            </a:fld>
            <a:endParaRPr lang="tr-TR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İki İçeri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tr-TR" smtClean="0"/>
              <a:t>Asıl başlık stili için tıklatın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536192"/>
            <a:ext cx="3657600" cy="4590288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tr-TR" smtClean="0"/>
              <a:t>Asıl metin stillerini düzenlemek için tıklatın</a:t>
            </a:r>
          </a:p>
          <a:p>
            <a:pPr lvl="1"/>
            <a:r>
              <a:rPr lang="tr-TR" smtClean="0"/>
              <a:t>İkinci düzey</a:t>
            </a:r>
          </a:p>
          <a:p>
            <a:pPr lvl="2"/>
            <a:r>
              <a:rPr lang="tr-TR" smtClean="0"/>
              <a:t>Üçüncü düzey</a:t>
            </a:r>
          </a:p>
          <a:p>
            <a:pPr lvl="3"/>
            <a:r>
              <a:rPr lang="tr-TR" smtClean="0"/>
              <a:t>Dördüncü düzey</a:t>
            </a:r>
          </a:p>
          <a:p>
            <a:pPr lvl="4"/>
            <a:r>
              <a:rPr lang="tr-TR" smtClean="0"/>
              <a:t>Beşinci düzey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419600" y="1536192"/>
            <a:ext cx="3657600" cy="4590288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tr-TR" smtClean="0"/>
              <a:t>Asıl metin stillerini düzenlemek için tıklatın</a:t>
            </a:r>
          </a:p>
          <a:p>
            <a:pPr lvl="1"/>
            <a:r>
              <a:rPr lang="tr-TR" smtClean="0"/>
              <a:t>İkinci düzey</a:t>
            </a:r>
          </a:p>
          <a:p>
            <a:pPr lvl="2"/>
            <a:r>
              <a:rPr lang="tr-TR" smtClean="0"/>
              <a:t>Üçüncü düzey</a:t>
            </a:r>
          </a:p>
          <a:p>
            <a:pPr lvl="3"/>
            <a:r>
              <a:rPr lang="tr-TR" smtClean="0"/>
              <a:t>Dördüncü düzey</a:t>
            </a:r>
          </a:p>
          <a:p>
            <a:pPr lvl="4"/>
            <a:r>
              <a:rPr lang="tr-TR" smtClean="0"/>
              <a:t>Beşinci düzey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0F9635F-7193-4694-BC28-2F8F93A66EBD}" type="datetime1">
              <a:rPr lang="tr-TR" smtClean="0"/>
              <a:t>03.11.2018</a:t>
            </a:fld>
            <a:endParaRPr lang="tr-T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02176B-0E47-46AC-8F43-DAB4B8A37D06}" type="slidenum">
              <a:rPr lang="tr-TR" smtClean="0"/>
              <a:t>‹#›</a:t>
            </a:fld>
            <a:endParaRPr lang="tr-TR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Karşılaştırm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tr-TR" smtClean="0"/>
              <a:t>Asıl başlık stili için tıklatın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3657600" cy="639762"/>
          </a:xfrm>
        </p:spPr>
        <p:txBody>
          <a:bodyPr anchor="b">
            <a:noAutofit/>
          </a:bodyPr>
          <a:lstStyle>
            <a:lvl1pPr marL="0" indent="0" algn="ctr">
              <a:buNone/>
              <a:defRPr sz="2000" b="1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tr-TR" smtClean="0"/>
              <a:t>Asıl metin stillerini düzenlemek için tıklatın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3657600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tr-TR" smtClean="0"/>
              <a:t>Asıl metin stillerini düzenlemek için tıklatın</a:t>
            </a:r>
          </a:p>
          <a:p>
            <a:pPr lvl="1"/>
            <a:r>
              <a:rPr lang="tr-TR" smtClean="0"/>
              <a:t>İkinci düzey</a:t>
            </a:r>
          </a:p>
          <a:p>
            <a:pPr lvl="2"/>
            <a:r>
              <a:rPr lang="tr-TR" smtClean="0"/>
              <a:t>Üçüncü düzey</a:t>
            </a:r>
          </a:p>
          <a:p>
            <a:pPr lvl="3"/>
            <a:r>
              <a:rPr lang="tr-TR" smtClean="0"/>
              <a:t>Dördüncü düzey</a:t>
            </a:r>
          </a:p>
          <a:p>
            <a:pPr lvl="4"/>
            <a:r>
              <a:rPr lang="tr-TR" smtClean="0"/>
              <a:t>Beşinci düzey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19600" y="1535113"/>
            <a:ext cx="3657600" cy="639762"/>
          </a:xfrm>
        </p:spPr>
        <p:txBody>
          <a:bodyPr anchor="b">
            <a:noAutofit/>
          </a:bodyPr>
          <a:lstStyle>
            <a:lvl1pPr marL="0" indent="0" algn="ctr">
              <a:buNone/>
              <a:defRPr sz="2000" b="1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tr-TR" smtClean="0"/>
              <a:t>Asıl metin stillerini düzenlemek için tıklatın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419600" y="2174875"/>
            <a:ext cx="3657600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tr-TR" smtClean="0"/>
              <a:t>Asıl metin stillerini düzenlemek için tıklatın</a:t>
            </a:r>
          </a:p>
          <a:p>
            <a:pPr lvl="1"/>
            <a:r>
              <a:rPr lang="tr-TR" smtClean="0"/>
              <a:t>İkinci düzey</a:t>
            </a:r>
          </a:p>
          <a:p>
            <a:pPr lvl="2"/>
            <a:r>
              <a:rPr lang="tr-TR" smtClean="0"/>
              <a:t>Üçüncü düzey</a:t>
            </a:r>
          </a:p>
          <a:p>
            <a:pPr lvl="3"/>
            <a:r>
              <a:rPr lang="tr-TR" smtClean="0"/>
              <a:t>Dördüncü düzey</a:t>
            </a:r>
          </a:p>
          <a:p>
            <a:pPr lvl="4"/>
            <a:r>
              <a:rPr lang="tr-TR" smtClean="0"/>
              <a:t>Beşinci düzey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418252-8E12-4243-A9B5-112538D552CA}" type="datetime1">
              <a:rPr lang="tr-TR" smtClean="0"/>
              <a:t>03.11.2018</a:t>
            </a:fld>
            <a:endParaRPr lang="tr-TR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02176B-0E47-46AC-8F43-DAB4B8A37D06}" type="slidenum">
              <a:rPr lang="tr-TR" smtClean="0"/>
              <a:t>‹#›</a:t>
            </a:fld>
            <a:endParaRPr lang="tr-TR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Yalnızca Başlı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tr-TR" smtClean="0"/>
              <a:t>Asıl başlık stili için tıklatın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40BD8F-24F3-4D49-A602-4010108E9C2F}" type="datetime1">
              <a:rPr lang="tr-TR" smtClean="0"/>
              <a:t>03.11.2018</a:t>
            </a:fld>
            <a:endParaRPr lang="tr-TR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02176B-0E47-46AC-8F43-DAB4B8A37D06}" type="slidenum">
              <a:rPr lang="tr-TR" smtClean="0"/>
              <a:t>‹#›</a:t>
            </a:fld>
            <a:endParaRPr lang="tr-TR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oş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78E7C8-ED9D-4733-AE7A-D26D62C5977F}" type="datetime1">
              <a:rPr lang="tr-TR" smtClean="0"/>
              <a:t>03.11.2018</a:t>
            </a:fld>
            <a:endParaRPr lang="tr-TR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02176B-0E47-46AC-8F43-DAB4B8A37D06}" type="slidenum">
              <a:rPr lang="tr-TR" smtClean="0"/>
              <a:t>‹#›</a:t>
            </a:fld>
            <a:endParaRPr lang="tr-TR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Başlıklı İçeri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04801" y="5495544"/>
            <a:ext cx="7772400" cy="594360"/>
          </a:xfrm>
        </p:spPr>
        <p:txBody>
          <a:bodyPr anchor="b"/>
          <a:lstStyle>
            <a:lvl1pPr algn="ctr">
              <a:defRPr sz="2200" b="1"/>
            </a:lvl1pPr>
          </a:lstStyle>
          <a:p>
            <a:r>
              <a:rPr lang="tr-TR" smtClean="0"/>
              <a:t>Asıl başlık stili için tıklatın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304799" y="6096000"/>
            <a:ext cx="7772401" cy="609600"/>
          </a:xfrm>
        </p:spPr>
        <p:txBody>
          <a:bodyPr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tr-TR" smtClean="0"/>
              <a:t>Asıl metin stillerini düzenlemek için tıklatın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5256B2-AAAF-4ACC-8725-F361F719AEAE}" type="datetime1">
              <a:rPr lang="tr-TR" smtClean="0"/>
              <a:t>03.11.2018</a:t>
            </a:fld>
            <a:endParaRPr lang="tr-T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02176B-0E47-46AC-8F43-DAB4B8A37D06}" type="slidenum">
              <a:rPr lang="tr-TR" smtClean="0"/>
              <a:t>‹#›</a:t>
            </a:fld>
            <a:endParaRPr lang="tr-TR"/>
          </a:p>
        </p:txBody>
      </p:sp>
      <p:sp>
        <p:nvSpPr>
          <p:cNvPr id="9" name="Content Placeholder 8"/>
          <p:cNvSpPr>
            <a:spLocks noGrp="1"/>
          </p:cNvSpPr>
          <p:nvPr>
            <p:ph sz="quarter" idx="13"/>
          </p:nvPr>
        </p:nvSpPr>
        <p:spPr>
          <a:xfrm>
            <a:off x="304800" y="381000"/>
            <a:ext cx="7772400" cy="4942840"/>
          </a:xfrm>
        </p:spPr>
        <p:txBody>
          <a:bodyPr/>
          <a:lstStyle/>
          <a:p>
            <a:pPr lvl="0"/>
            <a:r>
              <a:rPr lang="tr-TR" smtClean="0"/>
              <a:t>Asıl metin stillerini düzenlemek için tıklatın</a:t>
            </a:r>
          </a:p>
          <a:p>
            <a:pPr lvl="1"/>
            <a:r>
              <a:rPr lang="tr-TR" smtClean="0"/>
              <a:t>İkinci düzey</a:t>
            </a:r>
          </a:p>
          <a:p>
            <a:pPr lvl="2"/>
            <a:r>
              <a:rPr lang="tr-TR" smtClean="0"/>
              <a:t>Üçüncü düzey</a:t>
            </a:r>
          </a:p>
          <a:p>
            <a:pPr lvl="3"/>
            <a:r>
              <a:rPr lang="tr-TR" smtClean="0"/>
              <a:t>Dördüncü düzey</a:t>
            </a:r>
          </a:p>
          <a:p>
            <a:pPr lvl="4"/>
            <a:r>
              <a:rPr lang="tr-TR" smtClean="0"/>
              <a:t>Beşinci düzey</a:t>
            </a:r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aşlıklı Resi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01752" y="5495278"/>
            <a:ext cx="7772400" cy="594626"/>
          </a:xfrm>
        </p:spPr>
        <p:txBody>
          <a:bodyPr anchor="b"/>
          <a:lstStyle>
            <a:lvl1pPr algn="ctr">
              <a:defRPr sz="2200" b="1">
                <a:ln>
                  <a:noFill/>
                </a:ln>
                <a:solidFill>
                  <a:schemeClr val="tx2"/>
                </a:solidFill>
              </a:defRPr>
            </a:lvl1pPr>
          </a:lstStyle>
          <a:p>
            <a:r>
              <a:rPr lang="tr-TR" smtClean="0"/>
              <a:t>Asıl başlık stili için tıklatın</a:t>
            </a:r>
            <a:endParaRPr lang="en-US" dirty="0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0" y="0"/>
            <a:ext cx="8458200" cy="54864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tr-TR" smtClean="0"/>
              <a:t>Resim eklemek için simgeyi tıklatın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301752" y="6096000"/>
            <a:ext cx="7772400" cy="612648"/>
          </a:xfrm>
        </p:spPr>
        <p:txBody>
          <a:bodyPr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tr-TR" smtClean="0"/>
              <a:t>Asıl metin stillerini düzenlemek için tıklatın</a:t>
            </a:r>
          </a:p>
        </p:txBody>
      </p:sp>
      <p:sp>
        <p:nvSpPr>
          <p:cNvPr id="8" name="Date Placeholder 7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686ABE-C472-4B30-AEE4-F60A52850637}" type="datetime1">
              <a:rPr lang="tr-TR" smtClean="0"/>
              <a:t>03.11.2018</a:t>
            </a:fld>
            <a:endParaRPr lang="tr-TR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F302176B-0E47-46AC-8F43-DAB4B8A37D06}" type="slidenum">
              <a:rPr lang="tr-TR" smtClean="0"/>
              <a:t>‹#›</a:t>
            </a:fld>
            <a:endParaRPr lang="tr-TR"/>
          </a:p>
        </p:txBody>
      </p:sp>
      <p:sp>
        <p:nvSpPr>
          <p:cNvPr id="10" name="Footer Placeholder 9"/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endParaRPr lang="tr-TR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Başlık, Dikey Meti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tr-TR" smtClean="0"/>
              <a:t>Asıl başlık stili için tıklatın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tr-TR" smtClean="0"/>
              <a:t>Asıl metin stillerini düzenlemek için tıklatın</a:t>
            </a:r>
          </a:p>
          <a:p>
            <a:pPr lvl="1"/>
            <a:r>
              <a:rPr lang="tr-TR" smtClean="0"/>
              <a:t>İkinci düzey</a:t>
            </a:r>
          </a:p>
          <a:p>
            <a:pPr lvl="2"/>
            <a:r>
              <a:rPr lang="tr-TR" smtClean="0"/>
              <a:t>Üçüncü düzey</a:t>
            </a:r>
          </a:p>
          <a:p>
            <a:pPr lvl="3"/>
            <a:r>
              <a:rPr lang="tr-TR" smtClean="0"/>
              <a:t>Dördüncü düzey</a:t>
            </a:r>
          </a:p>
          <a:p>
            <a:pPr lvl="4"/>
            <a:r>
              <a:rPr lang="tr-TR" smtClean="0"/>
              <a:t>Beşinci düzey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BD784E-E50D-4FCE-98A9-267F995A398B}" type="datetime1">
              <a:rPr lang="tr-TR" smtClean="0"/>
              <a:t>03.11.2018</a:t>
            </a:fld>
            <a:endParaRPr lang="tr-T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02176B-0E47-46AC-8F43-DAB4B8A37D06}" type="slidenum">
              <a:rPr lang="tr-TR" smtClean="0"/>
              <a:t>‹#›</a:t>
            </a:fld>
            <a:endParaRPr lang="tr-TR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Dikey Başlık ve Meti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1752600" cy="5851525"/>
          </a:xfrm>
        </p:spPr>
        <p:txBody>
          <a:bodyPr vert="eaVert" anchor="b" anchorCtr="0"/>
          <a:lstStyle/>
          <a:p>
            <a:r>
              <a:rPr lang="tr-TR" smtClean="0"/>
              <a:t>Asıl başlık stili için tıklatın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tr-TR" smtClean="0"/>
              <a:t>Asıl metin stillerini düzenlemek için tıklatın</a:t>
            </a:r>
          </a:p>
          <a:p>
            <a:pPr lvl="1"/>
            <a:r>
              <a:rPr lang="tr-TR" smtClean="0"/>
              <a:t>İkinci düzey</a:t>
            </a:r>
          </a:p>
          <a:p>
            <a:pPr lvl="2"/>
            <a:r>
              <a:rPr lang="tr-TR" smtClean="0"/>
              <a:t>Üçüncü düzey</a:t>
            </a:r>
          </a:p>
          <a:p>
            <a:pPr lvl="3"/>
            <a:r>
              <a:rPr lang="tr-TR" smtClean="0"/>
              <a:t>Dördüncü düzey</a:t>
            </a:r>
          </a:p>
          <a:p>
            <a:pPr lvl="4"/>
            <a:r>
              <a:rPr lang="tr-TR" smtClean="0"/>
              <a:t>Beşinci düzey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6FF191-22B5-4872-AE57-ADC5493E3A67}" type="datetime1">
              <a:rPr lang="tr-TR" smtClean="0"/>
              <a:t>03.11.2018</a:t>
            </a:fld>
            <a:endParaRPr lang="tr-T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02176B-0E47-46AC-8F43-DAB4B8A37D06}" type="slidenum">
              <a:rPr lang="tr-TR" smtClean="0"/>
              <a:t>‹#›</a:t>
            </a:fld>
            <a:endParaRPr lang="tr-TR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2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76200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tr-TR" smtClean="0"/>
              <a:t>Asıl başlık stili için tıklatın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7620000" cy="48006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tr-TR" smtClean="0"/>
              <a:t>Asıl metin stillerini düzenlemek için tıklatın</a:t>
            </a:r>
          </a:p>
          <a:p>
            <a:pPr lvl="1"/>
            <a:r>
              <a:rPr lang="tr-TR" smtClean="0"/>
              <a:t>İkinci düzey</a:t>
            </a:r>
          </a:p>
          <a:p>
            <a:pPr lvl="2"/>
            <a:r>
              <a:rPr lang="tr-TR" smtClean="0"/>
              <a:t>Üçüncü düzey</a:t>
            </a:r>
          </a:p>
          <a:p>
            <a:pPr lvl="3"/>
            <a:r>
              <a:rPr lang="tr-TR" smtClean="0"/>
              <a:t>Dördüncü düzey</a:t>
            </a:r>
          </a:p>
          <a:p>
            <a:pPr lvl="4"/>
            <a:r>
              <a:rPr lang="tr-TR" smtClean="0"/>
              <a:t>Beşinci düzey</a:t>
            </a:r>
            <a:endParaRPr lang="en-US" dirty="0"/>
          </a:p>
        </p:txBody>
      </p:sp>
      <p:sp>
        <p:nvSpPr>
          <p:cNvPr id="7" name="Rectangle 6"/>
          <p:cNvSpPr/>
          <p:nvPr/>
        </p:nvSpPr>
        <p:spPr>
          <a:xfrm>
            <a:off x="8458200" y="0"/>
            <a:ext cx="685800" cy="6858000"/>
          </a:xfrm>
          <a:prstGeom prst="rect">
            <a:avLst/>
          </a:prstGeom>
          <a:solidFill>
            <a:srgbClr val="2E8B3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/>
          <p:cNvSpPr/>
          <p:nvPr/>
        </p:nvSpPr>
        <p:spPr>
          <a:xfrm>
            <a:off x="8458200" y="5486400"/>
            <a:ext cx="685800" cy="6858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531788" y="5648960"/>
            <a:ext cx="548640" cy="396240"/>
          </a:xfrm>
          <a:prstGeom prst="bracketPair">
            <a:avLst>
              <a:gd name="adj" fmla="val 17949"/>
            </a:avLst>
          </a:prstGeom>
          <a:ln w="19050">
            <a:solidFill>
              <a:srgbClr val="FFFFFF"/>
            </a:solidFill>
          </a:ln>
        </p:spPr>
        <p:txBody>
          <a:bodyPr vert="horz" lIns="0" tIns="0" rIns="0" bIns="0" rtlCol="0" anchor="ctr"/>
          <a:lstStyle>
            <a:lvl1pPr algn="ctr">
              <a:defRPr sz="1800">
                <a:solidFill>
                  <a:srgbClr val="FFFFFF"/>
                </a:solidFill>
              </a:defRPr>
            </a:lvl1pPr>
          </a:lstStyle>
          <a:p>
            <a:fld id="{F302176B-0E47-46AC-8F43-DAB4B8A37D06}" type="slidenum">
              <a:rPr lang="tr-TR" smtClean="0"/>
              <a:t>‹#›</a:t>
            </a:fld>
            <a:endParaRPr lang="tr-T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 rot="16200000">
            <a:off x="7586910" y="4048760"/>
            <a:ext cx="2367281" cy="36576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bg2"/>
                </a:solidFill>
              </a:defRPr>
            </a:lvl1pPr>
          </a:lstStyle>
          <a:p>
            <a:endParaRPr lang="tr-TR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 rot="16200000">
            <a:off x="7551351" y="1645920"/>
            <a:ext cx="2438399" cy="36576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bg2"/>
                </a:solidFill>
              </a:defRPr>
            </a:lvl1pPr>
          </a:lstStyle>
          <a:p>
            <a:fld id="{A74E615E-36E1-4294-A833-FBFDBE08EE80}" type="datetime1">
              <a:rPr lang="tr-TR" smtClean="0"/>
              <a:t>03.11.2018</a:t>
            </a:fld>
            <a:endParaRPr lang="tr-TR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57" r:id="rId1"/>
    <p:sldLayoutId id="2147483758" r:id="rId2"/>
    <p:sldLayoutId id="2147483759" r:id="rId3"/>
    <p:sldLayoutId id="2147483760" r:id="rId4"/>
    <p:sldLayoutId id="2147483761" r:id="rId5"/>
    <p:sldLayoutId id="2147483762" r:id="rId6"/>
    <p:sldLayoutId id="2147483763" r:id="rId7"/>
    <p:sldLayoutId id="2147483764" r:id="rId8"/>
    <p:sldLayoutId id="2147483765" r:id="rId9"/>
    <p:sldLayoutId id="2147483766" r:id="rId10"/>
    <p:sldLayoutId id="2147483767" r:id="rId11"/>
  </p:sldLayoutIdLst>
  <p:hf hdr="0" ftr="0" dt="0"/>
  <p:txStyles>
    <p:titleStyle>
      <a:lvl1pPr algn="l" defTabSz="914400" rtl="0" eaLnBrk="1" latinLnBrk="0" hangingPunct="1">
        <a:spcBef>
          <a:spcPct val="0"/>
        </a:spcBef>
        <a:buNone/>
        <a:defRPr sz="4600" kern="1200" cap="none" spc="-100" baseline="0">
          <a:ln>
            <a:noFill/>
          </a:ln>
          <a:solidFill>
            <a:schemeClr val="tx2"/>
          </a:solidFill>
          <a:effectLst/>
          <a:latin typeface="+mj-lt"/>
          <a:ea typeface="+mj-ea"/>
          <a:cs typeface="+mj-cs"/>
        </a:defRPr>
      </a:lvl1pPr>
    </p:titleStyle>
    <p:bodyStyle>
      <a:lvl1pPr marL="342900" indent="-228600" algn="l" defTabSz="914400" rtl="0" eaLnBrk="1" latinLnBrk="0" hangingPunct="1">
        <a:spcBef>
          <a:spcPct val="20000"/>
        </a:spcBef>
        <a:buClr>
          <a:schemeClr val="accent1"/>
        </a:buClr>
        <a:buFont typeface="Arial" pitchFamily="34" charset="0"/>
        <a:buChar char="•"/>
        <a:defRPr sz="2200" kern="1200">
          <a:solidFill>
            <a:schemeClr val="tx1"/>
          </a:solidFill>
          <a:latin typeface="+mn-lt"/>
          <a:ea typeface="+mn-ea"/>
          <a:cs typeface="+mn-cs"/>
        </a:defRPr>
      </a:lvl1pPr>
      <a:lvl2pPr marL="640080" indent="-228600" algn="l" defTabSz="914400" rtl="0" eaLnBrk="1" latinLnBrk="0" hangingPunct="1">
        <a:spcBef>
          <a:spcPct val="20000"/>
        </a:spcBef>
        <a:buClr>
          <a:schemeClr val="accent2"/>
        </a:buClr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005840" indent="-228600" algn="l" defTabSz="914400" rtl="0" eaLnBrk="1" latinLnBrk="0" hangingPunct="1">
        <a:spcBef>
          <a:spcPct val="20000"/>
        </a:spcBef>
        <a:buClr>
          <a:schemeClr val="accent3"/>
        </a:buClr>
        <a:buFont typeface="Arial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280160" indent="-228600" algn="l" defTabSz="914400" rtl="0" eaLnBrk="1" latinLnBrk="0" hangingPunct="1">
        <a:spcBef>
          <a:spcPct val="20000"/>
        </a:spcBef>
        <a:buClr>
          <a:schemeClr val="accent4"/>
        </a:buClr>
        <a:buFont typeface="Arial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1554480" indent="-228600" algn="l" defTabSz="914400" rtl="0" eaLnBrk="1" latinLnBrk="0" hangingPunct="1">
        <a:spcBef>
          <a:spcPct val="20000"/>
        </a:spcBef>
        <a:buClr>
          <a:schemeClr val="accent5"/>
        </a:buClr>
        <a:buFont typeface="Arial" pitchFamily="34" charset="0"/>
        <a:buChar char="•"/>
        <a:defRPr sz="1400" kern="1200" baseline="0">
          <a:solidFill>
            <a:schemeClr val="tx1"/>
          </a:solidFill>
          <a:latin typeface="+mn-lt"/>
          <a:ea typeface="+mn-ea"/>
          <a:cs typeface="+mn-cs"/>
        </a:defRPr>
      </a:lvl5pPr>
      <a:lvl6pPr marL="1737360" indent="-182880" algn="l" defTabSz="914400" rtl="0" eaLnBrk="1" latinLnBrk="0" hangingPunct="1">
        <a:spcBef>
          <a:spcPct val="20000"/>
        </a:spcBef>
        <a:buClr>
          <a:schemeClr val="accent1"/>
        </a:buClr>
        <a:buFont typeface="Arial" pitchFamily="34" charset="0"/>
        <a:buChar char="•"/>
        <a:defRPr sz="1400" kern="1200" baseline="0">
          <a:solidFill>
            <a:schemeClr val="tx1"/>
          </a:solidFill>
          <a:latin typeface="+mn-lt"/>
          <a:ea typeface="+mn-ea"/>
          <a:cs typeface="+mn-cs"/>
        </a:defRPr>
      </a:lvl6pPr>
      <a:lvl7pPr marL="1920240" indent="-182880" algn="l" defTabSz="914400" rtl="0" eaLnBrk="1" latinLnBrk="0" hangingPunct="1">
        <a:spcBef>
          <a:spcPct val="20000"/>
        </a:spcBef>
        <a:buClr>
          <a:schemeClr val="accent2"/>
        </a:buClr>
        <a:buFont typeface="Arial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7pPr>
      <a:lvl8pPr marL="2103120" indent="-182880" algn="l" defTabSz="914400" rtl="0" eaLnBrk="1" latinLnBrk="0" hangingPunct="1">
        <a:spcBef>
          <a:spcPct val="20000"/>
        </a:spcBef>
        <a:buClr>
          <a:schemeClr val="accent3"/>
        </a:buClr>
        <a:buFont typeface="Arial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8pPr>
      <a:lvl9pPr marL="2286000" indent="-182880" algn="l" defTabSz="914400" rtl="0" eaLnBrk="1" latinLnBrk="0" hangingPunct="1">
        <a:spcBef>
          <a:spcPct val="20000"/>
        </a:spcBef>
        <a:buClr>
          <a:schemeClr val="accent4"/>
        </a:buClr>
        <a:buFont typeface="Arial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chart" Target="../charts/chart1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chart" Target="../charts/chart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chart" Target="../charts/chart3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hyperlink" Target="https://baflas.penpublishing.net/makale/8774" TargetMode="Externa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sz="3000" b="1">
                <a:solidFill>
                  <a:srgbClr val="2E8B3A"/>
                </a:solidFill>
                <a:latin typeface="Times New Roman"/>
              </a:rPr>
              <a:t>Özel Eğitim Öğretmenlerinin Uygulamalı Davranış Analizi Kapsamında Sosyal Becerilere Yönelik Görüşlerinin İncelenmesi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sz="2000" b="1">
                <a:solidFill>
                  <a:srgbClr val="2E8B3A"/>
                </a:solidFill>
                <a:latin typeface="Times New Roman"/>
              </a:rPr>
              <a:t>Abdullah Bilgin KAYMAZ</a:t>
            </a:r>
          </a:p>
          <a:p>
            <a:r>
              <a:rPr sz="2000" b="1">
                <a:solidFill>
                  <a:srgbClr val="2E8B3A"/>
                </a:solidFill>
                <a:latin typeface="Times New Roman"/>
              </a:rPr>
              <a:t>Salih Zeki GENÇ</a:t>
            </a:r>
          </a:p>
          <a:p>
            <a:r>
              <a:rPr sz="1400" b="0">
                <a:latin typeface="Times New Roman"/>
              </a:rPr>
              <a:t>Uluslararası Engelsiz Yaşam ve Toplum Dergisi, 2025, 9 (1), 22-41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02176B-0E47-46AC-8F43-DAB4B8A37D06}" type="slidenum">
              <a:rPr lang="tr-TR" smtClean="0"/>
              <a:t>1</a:t>
            </a:fld>
            <a:endParaRPr lang="tr-TR"/>
          </a:p>
        </p:txBody>
      </p:sp>
      <p:sp>
        <p:nvSpPr>
          <p:cNvPr id="7" name="Rectangle 6"/>
          <p:cNvSpPr/>
          <p:nvPr/>
        </p:nvSpPr>
        <p:spPr>
          <a:xfrm>
            <a:off x="685800" y="1737360"/>
            <a:ext cx="7543800" cy="73152"/>
          </a:xfrm>
          <a:prstGeom prst="rect">
            <a:avLst/>
          </a:prstGeom>
          <a:solidFill>
            <a:srgbClr val="2E8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Times New Roman"/>
              </a:rPr>
              <a:t>Sunanlar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57200" y="2103120"/>
            <a:ext cx="2331720" cy="2926080"/>
          </a:xfrm>
          <a:prstGeom prst="roundRect">
            <a:avLst>
              <a:gd name="adj" fmla="val 6000"/>
            </a:avLst>
          </a:prstGeom>
          <a:solidFill>
            <a:srgbClr val="E6F4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051560" y="2423160"/>
            <a:ext cx="1143000" cy="1143000"/>
          </a:xfrm>
          <a:prstGeom prst="ellipse">
            <a:avLst/>
          </a:prstGeom>
          <a:solidFill>
            <a:srgbClr val="2E8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54864" bIns="54864">
            <a:noAutofit/>
          </a:bodyPr>
          <a:lstStyle/>
          <a:p>
            <a:pPr algn="ctr">
              <a:spcAft>
                <a:spcPts val="400"/>
              </a:spcAft>
            </a:pPr>
            <a:r>
              <a:rPr sz="4400" b="1">
                <a:solidFill>
                  <a:srgbClr val="FFFFFF"/>
                </a:solidFill>
                <a:latin typeface="Times New Roman"/>
              </a:rPr>
              <a:t>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749039"/>
            <a:ext cx="2148840" cy="1097280"/>
          </a:xfrm>
          <a:prstGeom prst="rect">
            <a:avLst/>
          </a:prstGeom>
          <a:noFill/>
        </p:spPr>
        <p:txBody>
          <a:bodyPr wrap="square" lIns="45720" rIns="45720" tIns="54864" bIns="54864" anchor="t">
            <a:noAutofit/>
          </a:bodyPr>
          <a:lstStyle/>
          <a:p>
            <a:pPr algn="ctr">
              <a:spcAft>
                <a:spcPts val="400"/>
              </a:spcAft>
            </a:pPr>
            <a:r>
              <a:rPr sz="1700" b="1">
                <a:solidFill>
                  <a:srgbClr val="1A1A1A"/>
                </a:solidFill>
                <a:latin typeface="Times New Roman"/>
              </a:rPr>
              <a:t>Feyza BÜYÜKBEKTAŞ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017520" y="2103120"/>
            <a:ext cx="2331720" cy="2926080"/>
          </a:xfrm>
          <a:prstGeom prst="roundRect">
            <a:avLst>
              <a:gd name="adj" fmla="val 6000"/>
            </a:avLst>
          </a:prstGeom>
          <a:solidFill>
            <a:srgbClr val="E6F4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3611879" y="2423160"/>
            <a:ext cx="1143000" cy="1143000"/>
          </a:xfrm>
          <a:prstGeom prst="ellipse">
            <a:avLst/>
          </a:prstGeom>
          <a:solidFill>
            <a:srgbClr val="2E8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54864" bIns="54864">
            <a:noAutofit/>
          </a:bodyPr>
          <a:lstStyle/>
          <a:p>
            <a:pPr algn="ctr">
              <a:spcAft>
                <a:spcPts val="400"/>
              </a:spcAft>
            </a:pPr>
            <a:r>
              <a:rPr sz="4400" b="1">
                <a:solidFill>
                  <a:srgbClr val="FFFFFF"/>
                </a:solidFill>
                <a:latin typeface="Times New Roman"/>
              </a:rPr>
              <a:t>Ç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108960" y="3749039"/>
            <a:ext cx="2148840" cy="1097280"/>
          </a:xfrm>
          <a:prstGeom prst="rect">
            <a:avLst/>
          </a:prstGeom>
          <a:noFill/>
        </p:spPr>
        <p:txBody>
          <a:bodyPr wrap="square" lIns="45720" rIns="45720" tIns="54864" bIns="54864" anchor="t">
            <a:noAutofit/>
          </a:bodyPr>
          <a:lstStyle/>
          <a:p>
            <a:pPr algn="ctr">
              <a:spcAft>
                <a:spcPts val="400"/>
              </a:spcAft>
            </a:pPr>
            <a:r>
              <a:rPr sz="1700" b="1">
                <a:solidFill>
                  <a:srgbClr val="1A1A1A"/>
                </a:solidFill>
                <a:latin typeface="Times New Roman"/>
              </a:rPr>
              <a:t>Çiğdem TURAN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577840" y="2103120"/>
            <a:ext cx="2331720" cy="2926080"/>
          </a:xfrm>
          <a:prstGeom prst="roundRect">
            <a:avLst>
              <a:gd name="adj" fmla="val 6000"/>
            </a:avLst>
          </a:prstGeom>
          <a:solidFill>
            <a:srgbClr val="E6F4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6172200" y="2423160"/>
            <a:ext cx="1143000" cy="1143000"/>
          </a:xfrm>
          <a:prstGeom prst="ellipse">
            <a:avLst/>
          </a:prstGeom>
          <a:solidFill>
            <a:srgbClr val="2E8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54864" bIns="54864">
            <a:noAutofit/>
          </a:bodyPr>
          <a:lstStyle/>
          <a:p>
            <a:pPr algn="ctr">
              <a:spcAft>
                <a:spcPts val="400"/>
              </a:spcAft>
            </a:pPr>
            <a:r>
              <a:rPr sz="4400" b="1">
                <a:solidFill>
                  <a:srgbClr val="FFFFFF"/>
                </a:solidFill>
                <a:latin typeface="Times New Roman"/>
              </a:rPr>
              <a:t>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79" y="3749039"/>
            <a:ext cx="2148840" cy="1097280"/>
          </a:xfrm>
          <a:prstGeom prst="rect">
            <a:avLst/>
          </a:prstGeom>
          <a:noFill/>
        </p:spPr>
        <p:txBody>
          <a:bodyPr wrap="square" lIns="45720" rIns="45720" tIns="54864" bIns="54864" anchor="t">
            <a:noAutofit/>
          </a:bodyPr>
          <a:lstStyle/>
          <a:p>
            <a:pPr algn="ctr">
              <a:spcAft>
                <a:spcPts val="400"/>
              </a:spcAft>
            </a:pPr>
            <a:r>
              <a:rPr sz="1700" b="1">
                <a:solidFill>
                  <a:srgbClr val="1A1A1A"/>
                </a:solidFill>
                <a:latin typeface="Times New Roman"/>
              </a:rPr>
              <a:t>Derya YILMAZ YILDIZ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02176B-0E47-46AC-8F43-DAB4B8A37D06}" type="slidenum">
              <a:rPr lang="tr-TR" smtClean="0"/>
              <a:t>2</a:t>
            </a:fld>
            <a:endParaRPr lang="tr-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Times New Roman"/>
              </a:rPr>
              <a:t>Öz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57200" y="1600200"/>
            <a:ext cx="1737360" cy="1097280"/>
          </a:xfrm>
          <a:prstGeom prst="roundRect">
            <a:avLst>
              <a:gd name="adj" fmla="val 12000"/>
            </a:avLst>
          </a:prstGeom>
          <a:solidFill>
            <a:srgbClr val="2E8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>
            <a:noAutofit/>
          </a:bodyPr>
          <a:lstStyle/>
          <a:p>
            <a:pPr algn="ctr">
              <a:spcAft>
                <a:spcPts val="400"/>
              </a:spcAft>
            </a:pPr>
            <a:r>
              <a:rPr sz="1700" b="1">
                <a:solidFill>
                  <a:srgbClr val="FFFFFF"/>
                </a:solidFill>
                <a:latin typeface="Times New Roman"/>
              </a:rPr>
              <a:t>AMAÇ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2286000" y="1600200"/>
            <a:ext cx="5715000" cy="1097280"/>
          </a:xfrm>
          <a:prstGeom prst="roundRect">
            <a:avLst>
              <a:gd name="adj" fmla="val 8000"/>
            </a:avLst>
          </a:prstGeom>
          <a:solidFill>
            <a:srgbClr val="E6F4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>
            <a:noAutofit/>
          </a:bodyPr>
          <a:lstStyle/>
          <a:p>
            <a:pPr algn="l">
              <a:spcAft>
                <a:spcPts val="400"/>
              </a:spcAft>
            </a:pPr>
            <a:r>
              <a:rPr sz="1800" b="0">
                <a:solidFill>
                  <a:srgbClr val="1A1A1A"/>
                </a:solidFill>
                <a:latin typeface="Times New Roman"/>
              </a:rPr>
              <a:t>Özel eğitim öğretmenlerinin uygulamalı davranış analizi (UDA) kapsamında sosyal beceri öğretimine ilişkin görüşlerini ortaya koymak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2834640"/>
            <a:ext cx="1737360" cy="1097280"/>
          </a:xfrm>
          <a:prstGeom prst="roundRect">
            <a:avLst>
              <a:gd name="adj" fmla="val 12000"/>
            </a:avLst>
          </a:prstGeom>
          <a:solidFill>
            <a:srgbClr val="2E8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>
            <a:noAutofit/>
          </a:bodyPr>
          <a:lstStyle/>
          <a:p>
            <a:pPr algn="ctr">
              <a:spcAft>
                <a:spcPts val="400"/>
              </a:spcAft>
            </a:pPr>
            <a:r>
              <a:rPr sz="1700" b="1">
                <a:solidFill>
                  <a:srgbClr val="FFFFFF"/>
                </a:solidFill>
                <a:latin typeface="Times New Roman"/>
              </a:rPr>
              <a:t>KATILIMCI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286000" y="2834640"/>
            <a:ext cx="5715000" cy="1097280"/>
          </a:xfrm>
          <a:prstGeom prst="roundRect">
            <a:avLst>
              <a:gd name="adj" fmla="val 8000"/>
            </a:avLst>
          </a:prstGeom>
          <a:solidFill>
            <a:srgbClr val="E6F4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>
            <a:noAutofit/>
          </a:bodyPr>
          <a:lstStyle/>
          <a:p>
            <a:pPr algn="l">
              <a:spcAft>
                <a:spcPts val="400"/>
              </a:spcAft>
            </a:pPr>
            <a:r>
              <a:rPr sz="1800" b="0">
                <a:solidFill>
                  <a:srgbClr val="1A1A1A"/>
                </a:solidFill>
                <a:latin typeface="Times New Roman"/>
              </a:rPr>
              <a:t>İstanbul Beylikdüzü’nde görevli 27 özel eğitim öğretmeni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4069080"/>
            <a:ext cx="1737360" cy="1097280"/>
          </a:xfrm>
          <a:prstGeom prst="roundRect">
            <a:avLst>
              <a:gd name="adj" fmla="val 12000"/>
            </a:avLst>
          </a:prstGeom>
          <a:solidFill>
            <a:srgbClr val="2E8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>
            <a:noAutofit/>
          </a:bodyPr>
          <a:lstStyle/>
          <a:p>
            <a:pPr algn="ctr">
              <a:spcAft>
                <a:spcPts val="400"/>
              </a:spcAft>
            </a:pPr>
            <a:r>
              <a:rPr sz="1700" b="1">
                <a:solidFill>
                  <a:srgbClr val="FFFFFF"/>
                </a:solidFill>
                <a:latin typeface="Times New Roman"/>
              </a:rPr>
              <a:t>DESEN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286000" y="4069080"/>
            <a:ext cx="5715000" cy="1097280"/>
          </a:xfrm>
          <a:prstGeom prst="roundRect">
            <a:avLst>
              <a:gd name="adj" fmla="val 8000"/>
            </a:avLst>
          </a:prstGeom>
          <a:solidFill>
            <a:srgbClr val="E6F4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>
            <a:noAutofit/>
          </a:bodyPr>
          <a:lstStyle/>
          <a:p>
            <a:pPr algn="l">
              <a:spcAft>
                <a:spcPts val="400"/>
              </a:spcAft>
            </a:pPr>
            <a:r>
              <a:rPr sz="1800" b="0">
                <a:solidFill>
                  <a:srgbClr val="1A1A1A"/>
                </a:solidFill>
                <a:latin typeface="Times New Roman"/>
              </a:rPr>
              <a:t>Nitel araştırma, durum çalışması; yarı yapılandırılmış görüşme formu ve içerik analizi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5349240"/>
            <a:ext cx="7543800" cy="914400"/>
          </a:xfrm>
          <a:prstGeom prst="roundRect">
            <a:avLst>
              <a:gd name="adj" fmla="val 15000"/>
            </a:avLst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>
            <a:noAutofit/>
          </a:bodyPr>
          <a:lstStyle/>
          <a:p>
            <a:pPr algn="ctr">
              <a:spcAft>
                <a:spcPts val="400"/>
              </a:spcAft>
            </a:pPr>
            <a:r>
              <a:rPr sz="2000" b="1">
                <a:solidFill>
                  <a:srgbClr val="FFFFFF"/>
                </a:solidFill>
                <a:latin typeface="Times New Roman"/>
              </a:rPr>
              <a:t>BULGU: Öğretmenlerin büyük çoğunluğu UDA’nın sosyal beceri öğretiminde etkili bir yaklaşım olduğunu belirtti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02176B-0E47-46AC-8F43-DAB4B8A37D06}" type="slidenum">
              <a:rPr lang="tr-TR" smtClean="0"/>
              <a:t>3</a:t>
            </a:fld>
            <a:endParaRPr lang="tr-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Times New Roman"/>
              </a:rPr>
              <a:t>Giriş: Özel Eğitim ve Sosyal Beceri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57200" y="1645920"/>
            <a:ext cx="2331720" cy="2286000"/>
          </a:xfrm>
          <a:prstGeom prst="roundRect">
            <a:avLst>
              <a:gd name="adj" fmla="val 6000"/>
            </a:avLst>
          </a:prstGeom>
          <a:solidFill>
            <a:srgbClr val="E6F4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828800"/>
            <a:ext cx="2331720" cy="914400"/>
          </a:xfrm>
          <a:prstGeom prst="rect">
            <a:avLst/>
          </a:prstGeom>
          <a:noFill/>
        </p:spPr>
        <p:txBody>
          <a:bodyPr wrap="square" lIns="45720" rIns="45720" tIns="54864" bIns="54864" anchor="t">
            <a:noAutofit/>
          </a:bodyPr>
          <a:lstStyle/>
          <a:p>
            <a:pPr algn="ctr">
              <a:spcAft>
                <a:spcPts val="400"/>
              </a:spcAft>
            </a:pPr>
            <a:r>
              <a:rPr sz="4400" b="1">
                <a:solidFill>
                  <a:srgbClr val="2E8B3A"/>
                </a:solidFill>
                <a:latin typeface="Times New Roman"/>
              </a:rPr>
              <a:t>%15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834640"/>
            <a:ext cx="2148840" cy="1005840"/>
          </a:xfrm>
          <a:prstGeom prst="rect">
            <a:avLst/>
          </a:prstGeom>
          <a:noFill/>
        </p:spPr>
        <p:txBody>
          <a:bodyPr wrap="square" lIns="45720" rIns="45720" tIns="54864" bIns="54864" anchor="t">
            <a:noAutofit/>
          </a:bodyPr>
          <a:lstStyle/>
          <a:p>
            <a:pPr algn="ctr">
              <a:spcAft>
                <a:spcPts val="400"/>
              </a:spcAft>
            </a:pPr>
            <a:r>
              <a:rPr sz="1800" b="0">
                <a:solidFill>
                  <a:srgbClr val="1A1A1A"/>
                </a:solidFill>
                <a:latin typeface="Times New Roman"/>
              </a:rPr>
              <a:t>dünya nüfusunda engel oranı (WHO, 2020)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017520" y="1645920"/>
            <a:ext cx="2331720" cy="2286000"/>
          </a:xfrm>
          <a:prstGeom prst="roundRect">
            <a:avLst>
              <a:gd name="adj" fmla="val 6000"/>
            </a:avLst>
          </a:prstGeom>
          <a:solidFill>
            <a:srgbClr val="E6F4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017520" y="1828800"/>
            <a:ext cx="2331720" cy="914400"/>
          </a:xfrm>
          <a:prstGeom prst="rect">
            <a:avLst/>
          </a:prstGeom>
          <a:noFill/>
        </p:spPr>
        <p:txBody>
          <a:bodyPr wrap="square" lIns="45720" rIns="45720" tIns="54864" bIns="54864" anchor="t">
            <a:noAutofit/>
          </a:bodyPr>
          <a:lstStyle/>
          <a:p>
            <a:pPr algn="ctr">
              <a:spcAft>
                <a:spcPts val="400"/>
              </a:spcAft>
            </a:pPr>
            <a:r>
              <a:rPr sz="3600" b="1">
                <a:solidFill>
                  <a:srgbClr val="2E8B3A"/>
                </a:solidFill>
                <a:latin typeface="Times New Roman"/>
              </a:rPr>
              <a:t>Öğrenilmiş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108960" y="2834640"/>
            <a:ext cx="2148840" cy="1005840"/>
          </a:xfrm>
          <a:prstGeom prst="rect">
            <a:avLst/>
          </a:prstGeom>
          <a:noFill/>
        </p:spPr>
        <p:txBody>
          <a:bodyPr wrap="square" lIns="45720" rIns="45720" tIns="54864" bIns="54864" anchor="t">
            <a:noAutofit/>
          </a:bodyPr>
          <a:lstStyle/>
          <a:p>
            <a:pPr algn="ctr">
              <a:spcAft>
                <a:spcPts val="400"/>
              </a:spcAft>
            </a:pPr>
            <a:r>
              <a:rPr sz="1800" b="0">
                <a:solidFill>
                  <a:srgbClr val="1A1A1A"/>
                </a:solidFill>
                <a:latin typeface="Times New Roman"/>
              </a:rPr>
              <a:t>sosyal beceriler öğretilebilen davranışlardır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577840" y="1645920"/>
            <a:ext cx="2331720" cy="2286000"/>
          </a:xfrm>
          <a:prstGeom prst="roundRect">
            <a:avLst>
              <a:gd name="adj" fmla="val 6000"/>
            </a:avLst>
          </a:prstGeom>
          <a:solidFill>
            <a:srgbClr val="E6F4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577840" y="1828800"/>
            <a:ext cx="2331720" cy="914400"/>
          </a:xfrm>
          <a:prstGeom prst="rect">
            <a:avLst/>
          </a:prstGeom>
          <a:noFill/>
        </p:spPr>
        <p:txBody>
          <a:bodyPr wrap="square" lIns="45720" rIns="45720" tIns="54864" bIns="54864" anchor="t">
            <a:noAutofit/>
          </a:bodyPr>
          <a:lstStyle/>
          <a:p>
            <a:pPr algn="ctr">
              <a:spcAft>
                <a:spcPts val="400"/>
              </a:spcAft>
            </a:pPr>
            <a:r>
              <a:rPr sz="3600" b="1">
                <a:solidFill>
                  <a:srgbClr val="2E8B3A"/>
                </a:solidFill>
                <a:latin typeface="Times New Roman"/>
              </a:rPr>
              <a:t>Kaynaşma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79" y="2834640"/>
            <a:ext cx="2148840" cy="1005840"/>
          </a:xfrm>
          <a:prstGeom prst="rect">
            <a:avLst/>
          </a:prstGeom>
          <a:noFill/>
        </p:spPr>
        <p:txBody>
          <a:bodyPr wrap="square" lIns="45720" rIns="45720" tIns="54864" bIns="54864" anchor="t">
            <a:noAutofit/>
          </a:bodyPr>
          <a:lstStyle/>
          <a:p>
            <a:pPr algn="ctr">
              <a:spcAft>
                <a:spcPts val="400"/>
              </a:spcAft>
            </a:pPr>
            <a:r>
              <a:rPr sz="1800" b="0">
                <a:solidFill>
                  <a:srgbClr val="1A1A1A"/>
                </a:solidFill>
                <a:latin typeface="Times New Roman"/>
              </a:rPr>
              <a:t>yetersizlik topluma uyumda güçlük yaratır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4206240"/>
            <a:ext cx="7543800" cy="1920240"/>
          </a:xfrm>
          <a:prstGeom prst="roundRect">
            <a:avLst>
              <a:gd name="adj" fmla="val 7000"/>
            </a:avLst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>
            <a:noAutofit/>
          </a:bodyPr>
          <a:lstStyle/>
          <a:p>
            <a:pPr algn="l">
              <a:spcAft>
                <a:spcPts val="400"/>
              </a:spcAft>
            </a:pPr>
            <a:r>
              <a:rPr sz="2000" b="0">
                <a:solidFill>
                  <a:srgbClr val="FFFFFF"/>
                </a:solidFill>
                <a:latin typeface="Times New Roman"/>
              </a:rPr>
              <a:t>Özel eğitim; bireyin gelişim özellikleri, yetenekleri ve ihtiyaçları dikkate alınarak hazırlanan eğitim hizmetidir (MEB, 2018)</a:t>
            </a:r>
          </a:p>
          <a:p>
            <a:pPr algn="l">
              <a:spcAft>
                <a:spcPts val="400"/>
              </a:spcAft>
            </a:pPr>
            <a:r>
              <a:rPr sz="2000" b="0">
                <a:solidFill>
                  <a:srgbClr val="FFFFFF"/>
                </a:solidFill>
                <a:latin typeface="Times New Roman"/>
              </a:rPr>
              <a:t>Sosyal beceri yetersizliği yaşayan bireyler toplumla kaynaşmada güçlük çeker (Samancı ve Uçan, 2017)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02176B-0E47-46AC-8F43-DAB4B8A37D06}" type="slidenum">
              <a:rPr lang="tr-TR" smtClean="0"/>
              <a:t>4</a:t>
            </a:fld>
            <a:endParaRPr lang="tr-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Times New Roman"/>
              </a:rPr>
              <a:t>Giriş: Uygulamalı Davranış Analizi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57200" y="1645920"/>
            <a:ext cx="2423160" cy="4389120"/>
          </a:xfrm>
          <a:prstGeom prst="roundRect">
            <a:avLst>
              <a:gd name="adj" fmla="val 5000"/>
            </a:avLst>
          </a:prstGeom>
          <a:solidFill>
            <a:srgbClr val="E6F4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457200" y="1645920"/>
            <a:ext cx="2423160" cy="566928"/>
          </a:xfrm>
          <a:prstGeom prst="roundRect">
            <a:avLst>
              <a:gd name="adj" fmla="val 25000"/>
            </a:avLst>
          </a:prstGeom>
          <a:solidFill>
            <a:srgbClr val="2E8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>
            <a:noAutofit/>
          </a:bodyPr>
          <a:lstStyle/>
          <a:p>
            <a:pPr algn="ctr"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Times New Roman"/>
              </a:rPr>
              <a:t>Tanım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2304288"/>
            <a:ext cx="2276856" cy="3657600"/>
          </a:xfrm>
          <a:prstGeom prst="rect">
            <a:avLst/>
          </a:prstGeom>
          <a:noFill/>
        </p:spPr>
        <p:txBody>
          <a:bodyPr wrap="square" lIns="54864" rIns="54864" tIns="54864" bIns="54864" anchor="t">
            <a:noAutofit/>
          </a:bodyPr>
          <a:lstStyle/>
          <a:p>
            <a:pPr algn="l">
              <a:spcAft>
                <a:spcPts val="400"/>
              </a:spcAft>
            </a:pPr>
            <a:r>
              <a:rPr sz="2200" b="0">
                <a:solidFill>
                  <a:srgbClr val="1A1A1A"/>
                </a:solidFill>
                <a:latin typeface="Times New Roman"/>
              </a:rPr>
              <a:t>•  Gözlemlenebilir davranışları bilimsel yöntemlerle ele alan, bilimsel dayanaklı bir uygulama (Birkan, 2013)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017520" y="1645920"/>
            <a:ext cx="2423160" cy="4389120"/>
          </a:xfrm>
          <a:prstGeom prst="roundRect">
            <a:avLst>
              <a:gd name="adj" fmla="val 5000"/>
            </a:avLst>
          </a:prstGeom>
          <a:solidFill>
            <a:srgbClr val="E6F4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3017520" y="1645920"/>
            <a:ext cx="2423160" cy="566928"/>
          </a:xfrm>
          <a:prstGeom prst="roundRect">
            <a:avLst>
              <a:gd name="adj" fmla="val 25000"/>
            </a:avLst>
          </a:prstGeom>
          <a:solidFill>
            <a:srgbClr val="2E8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>
            <a:noAutofit/>
          </a:bodyPr>
          <a:lstStyle/>
          <a:p>
            <a:pPr algn="ctr"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Times New Roman"/>
              </a:rPr>
              <a:t>Amaç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090672" y="2304288"/>
            <a:ext cx="2276856" cy="3657600"/>
          </a:xfrm>
          <a:prstGeom prst="rect">
            <a:avLst/>
          </a:prstGeom>
          <a:noFill/>
        </p:spPr>
        <p:txBody>
          <a:bodyPr wrap="square" lIns="54864" rIns="54864" tIns="54864" bIns="54864" anchor="t">
            <a:noAutofit/>
          </a:bodyPr>
          <a:lstStyle/>
          <a:p>
            <a:pPr algn="l">
              <a:spcAft>
                <a:spcPts val="400"/>
              </a:spcAft>
            </a:pPr>
            <a:r>
              <a:rPr sz="2200" b="0">
                <a:solidFill>
                  <a:srgbClr val="1A1A1A"/>
                </a:solidFill>
                <a:latin typeface="Times New Roman"/>
              </a:rPr>
              <a:t>•  İstenen davranış sıklığını artırmak</a:t>
            </a:r>
          </a:p>
          <a:p>
            <a:pPr algn="l">
              <a:spcAft>
                <a:spcPts val="400"/>
              </a:spcAft>
            </a:pPr>
            <a:r>
              <a:rPr sz="2200" b="0">
                <a:solidFill>
                  <a:srgbClr val="1A1A1A"/>
                </a:solidFill>
                <a:latin typeface="Times New Roman"/>
              </a:rPr>
              <a:t>•  Davranışı genellemek</a:t>
            </a:r>
          </a:p>
          <a:p>
            <a:pPr algn="l">
              <a:spcAft>
                <a:spcPts val="400"/>
              </a:spcAft>
            </a:pPr>
            <a:r>
              <a:rPr sz="2200" b="0">
                <a:solidFill>
                  <a:srgbClr val="1A1A1A"/>
                </a:solidFill>
                <a:latin typeface="Times New Roman"/>
              </a:rPr>
              <a:t>•  Davranış değişimini sağlamak (Tekin-İftar, 2014)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577840" y="1645920"/>
            <a:ext cx="2423160" cy="4389120"/>
          </a:xfrm>
          <a:prstGeom prst="roundRect">
            <a:avLst>
              <a:gd name="adj" fmla="val 5000"/>
            </a:avLst>
          </a:prstGeom>
          <a:solidFill>
            <a:srgbClr val="E6F4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577840" y="1645920"/>
            <a:ext cx="2423160" cy="566928"/>
          </a:xfrm>
          <a:prstGeom prst="roundRect">
            <a:avLst>
              <a:gd name="adj" fmla="val 25000"/>
            </a:avLst>
          </a:prstGeom>
          <a:solidFill>
            <a:srgbClr val="2E8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>
            <a:noAutofit/>
          </a:bodyPr>
          <a:lstStyle/>
          <a:p>
            <a:pPr algn="ctr"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Times New Roman"/>
              </a:rPr>
              <a:t>Etkenler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50992" y="2304288"/>
            <a:ext cx="2276856" cy="3657600"/>
          </a:xfrm>
          <a:prstGeom prst="rect">
            <a:avLst/>
          </a:prstGeom>
          <a:noFill/>
        </p:spPr>
        <p:txBody>
          <a:bodyPr wrap="square" lIns="54864" rIns="54864" tIns="54864" bIns="54864" anchor="t">
            <a:noAutofit/>
          </a:bodyPr>
          <a:lstStyle/>
          <a:p>
            <a:pPr algn="l">
              <a:spcAft>
                <a:spcPts val="400"/>
              </a:spcAft>
            </a:pPr>
            <a:r>
              <a:rPr sz="2200" b="0">
                <a:solidFill>
                  <a:srgbClr val="1A1A1A"/>
                </a:solidFill>
                <a:latin typeface="Times New Roman"/>
              </a:rPr>
              <a:t>•  Bilimsel uygulamaların yanında öğretmen tutumu ve alan bilgisi de sosyal beceri gelişimini etkiler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02176B-0E47-46AC-8F43-DAB4B8A37D06}" type="slidenum">
              <a:rPr lang="tr-TR" smtClean="0"/>
              <a:t>5</a:t>
            </a:fld>
            <a:endParaRPr lang="tr-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Times New Roman"/>
              </a:rPr>
              <a:t>Amaç ve Alt Amaçlar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57200" y="1645920"/>
            <a:ext cx="7543800" cy="1234440"/>
          </a:xfrm>
          <a:prstGeom prst="roundRect">
            <a:avLst>
              <a:gd name="adj" fmla="val 10000"/>
            </a:avLst>
          </a:prstGeom>
          <a:solidFill>
            <a:srgbClr val="2E8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>
            <a:noAutofit/>
          </a:bodyPr>
          <a:lstStyle/>
          <a:p>
            <a:pPr algn="ctr"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Times New Roman"/>
              </a:rPr>
              <a:t>UDA yöntemlerinin sosyal beceri öğretimindeki yerine ilişkin öğretmen görüşleri nelerdir?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3200400"/>
            <a:ext cx="3703320" cy="1280160"/>
          </a:xfrm>
          <a:prstGeom prst="roundRect">
            <a:avLst>
              <a:gd name="adj" fmla="val 10000"/>
            </a:avLst>
          </a:prstGeom>
          <a:solidFill>
            <a:srgbClr val="E6F4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594360" y="3474720"/>
            <a:ext cx="731520" cy="731520"/>
          </a:xfrm>
          <a:prstGeom prst="ellipse">
            <a:avLst/>
          </a:prstGeom>
          <a:solidFill>
            <a:srgbClr val="2E8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54864" bIns="54864">
            <a:no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Times New Roman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63040" y="3291840"/>
            <a:ext cx="2651760" cy="1097280"/>
          </a:xfrm>
          <a:prstGeom prst="rect">
            <a:avLst/>
          </a:prstGeom>
          <a:noFill/>
        </p:spPr>
        <p:txBody>
          <a:bodyPr wrap="square" lIns="45720" rIns="45720" tIns="54864" bIns="54864" anchor="ctr">
            <a:noAutofit/>
          </a:bodyPr>
          <a:lstStyle/>
          <a:p>
            <a:pPr algn="l">
              <a:spcAft>
                <a:spcPts val="400"/>
              </a:spcAft>
            </a:pPr>
            <a:r>
              <a:rPr sz="2000" b="1">
                <a:solidFill>
                  <a:srgbClr val="1A1A1A"/>
                </a:solidFill>
                <a:latin typeface="Times New Roman"/>
              </a:rPr>
              <a:t>Bilgi düzeyi</a:t>
            </a:r>
          </a:p>
          <a:p>
            <a:pPr algn="l">
              <a:spcAft>
                <a:spcPts val="400"/>
              </a:spcAft>
            </a:pPr>
            <a:r>
              <a:rPr sz="1700" b="0">
                <a:solidFill>
                  <a:srgbClr val="1A1A1A"/>
                </a:solidFill>
                <a:latin typeface="Times New Roman"/>
              </a:rPr>
              <a:t>UDA hakkındaki bilgi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297680" y="3200400"/>
            <a:ext cx="3703320" cy="1280160"/>
          </a:xfrm>
          <a:prstGeom prst="roundRect">
            <a:avLst>
              <a:gd name="adj" fmla="val 10000"/>
            </a:avLst>
          </a:prstGeom>
          <a:solidFill>
            <a:srgbClr val="E6F4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4434840" y="3474720"/>
            <a:ext cx="731520" cy="731520"/>
          </a:xfrm>
          <a:prstGeom prst="ellipse">
            <a:avLst/>
          </a:prstGeom>
          <a:solidFill>
            <a:srgbClr val="2E8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54864" bIns="54864">
            <a:no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Times New Roman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03520" y="3291840"/>
            <a:ext cx="2651760" cy="1097280"/>
          </a:xfrm>
          <a:prstGeom prst="rect">
            <a:avLst/>
          </a:prstGeom>
          <a:noFill/>
        </p:spPr>
        <p:txBody>
          <a:bodyPr wrap="square" lIns="45720" rIns="45720" tIns="54864" bIns="54864" anchor="ctr">
            <a:noAutofit/>
          </a:bodyPr>
          <a:lstStyle/>
          <a:p>
            <a:pPr algn="l">
              <a:spcAft>
                <a:spcPts val="400"/>
              </a:spcAft>
            </a:pPr>
            <a:r>
              <a:rPr sz="2000" b="1">
                <a:solidFill>
                  <a:srgbClr val="1A1A1A"/>
                </a:solidFill>
                <a:latin typeface="Times New Roman"/>
              </a:rPr>
              <a:t>Teknikler</a:t>
            </a:r>
          </a:p>
          <a:p>
            <a:pPr algn="l">
              <a:spcAft>
                <a:spcPts val="400"/>
              </a:spcAft>
            </a:pPr>
            <a:r>
              <a:rPr sz="1700" b="0">
                <a:solidFill>
                  <a:srgbClr val="1A1A1A"/>
                </a:solidFill>
                <a:latin typeface="Times New Roman"/>
              </a:rPr>
              <a:t>Sık tercih edilen UDA teknikleri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4663440"/>
            <a:ext cx="3703320" cy="1280160"/>
          </a:xfrm>
          <a:prstGeom prst="roundRect">
            <a:avLst>
              <a:gd name="adj" fmla="val 10000"/>
            </a:avLst>
          </a:prstGeom>
          <a:solidFill>
            <a:srgbClr val="E6F4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94360" y="4937759"/>
            <a:ext cx="731520" cy="731520"/>
          </a:xfrm>
          <a:prstGeom prst="ellipse">
            <a:avLst/>
          </a:prstGeom>
          <a:solidFill>
            <a:srgbClr val="2E8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54864" bIns="54864">
            <a:no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Times New Roman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63040" y="4754879"/>
            <a:ext cx="2651760" cy="1097280"/>
          </a:xfrm>
          <a:prstGeom prst="rect">
            <a:avLst/>
          </a:prstGeom>
          <a:noFill/>
        </p:spPr>
        <p:txBody>
          <a:bodyPr wrap="square" lIns="45720" rIns="45720" tIns="54864" bIns="54864" anchor="ctr">
            <a:noAutofit/>
          </a:bodyPr>
          <a:lstStyle/>
          <a:p>
            <a:pPr algn="l">
              <a:spcAft>
                <a:spcPts val="400"/>
              </a:spcAft>
            </a:pPr>
            <a:r>
              <a:rPr sz="2000" b="1">
                <a:solidFill>
                  <a:srgbClr val="1A1A1A"/>
                </a:solidFill>
                <a:latin typeface="Times New Roman"/>
              </a:rPr>
              <a:t>Alternatifler</a:t>
            </a:r>
          </a:p>
          <a:p>
            <a:pPr algn="l">
              <a:spcAft>
                <a:spcPts val="400"/>
              </a:spcAft>
            </a:pPr>
            <a:r>
              <a:rPr sz="1700" b="0">
                <a:solidFill>
                  <a:srgbClr val="1A1A1A"/>
                </a:solidFill>
                <a:latin typeface="Times New Roman"/>
              </a:rPr>
              <a:t>UDA dışı kullanılan uygulamalar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97680" y="4663440"/>
            <a:ext cx="3703320" cy="1280160"/>
          </a:xfrm>
          <a:prstGeom prst="roundRect">
            <a:avLst>
              <a:gd name="adj" fmla="val 10000"/>
            </a:avLst>
          </a:prstGeom>
          <a:solidFill>
            <a:srgbClr val="E6F4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4434840" y="4937759"/>
            <a:ext cx="731520" cy="731520"/>
          </a:xfrm>
          <a:prstGeom prst="ellipse">
            <a:avLst/>
          </a:prstGeom>
          <a:solidFill>
            <a:srgbClr val="2E8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54864" bIns="54864">
            <a:no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Times New Roman"/>
              </a:rPr>
              <a:t>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03520" y="4754879"/>
            <a:ext cx="2651760" cy="1097280"/>
          </a:xfrm>
          <a:prstGeom prst="rect">
            <a:avLst/>
          </a:prstGeom>
          <a:noFill/>
        </p:spPr>
        <p:txBody>
          <a:bodyPr wrap="square" lIns="45720" rIns="45720" tIns="54864" bIns="54864" anchor="ctr">
            <a:noAutofit/>
          </a:bodyPr>
          <a:lstStyle/>
          <a:p>
            <a:pPr algn="l">
              <a:spcAft>
                <a:spcPts val="400"/>
              </a:spcAft>
            </a:pPr>
            <a:r>
              <a:rPr sz="2000" b="1">
                <a:solidFill>
                  <a:srgbClr val="1A1A1A"/>
                </a:solidFill>
                <a:latin typeface="Times New Roman"/>
              </a:rPr>
              <a:t>Etkililik</a:t>
            </a:r>
          </a:p>
          <a:p>
            <a:pPr algn="l">
              <a:spcAft>
                <a:spcPts val="400"/>
              </a:spcAft>
            </a:pPr>
            <a:r>
              <a:rPr sz="1700" b="0">
                <a:solidFill>
                  <a:srgbClr val="1A1A1A"/>
                </a:solidFill>
                <a:latin typeface="Times New Roman"/>
              </a:rPr>
              <a:t>UDA’nın etkililiğine ilişkin görüşler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02176B-0E47-46AC-8F43-DAB4B8A37D06}" type="slidenum">
              <a:rPr lang="tr-TR" smtClean="0"/>
              <a:t>6</a:t>
            </a:fld>
            <a:endParaRPr lang="tr-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Times New Roman"/>
              </a:rPr>
              <a:t>Yöntem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57200" y="1645920"/>
            <a:ext cx="2423160" cy="4389120"/>
          </a:xfrm>
          <a:prstGeom prst="roundRect">
            <a:avLst>
              <a:gd name="adj" fmla="val 5000"/>
            </a:avLst>
          </a:prstGeom>
          <a:solidFill>
            <a:srgbClr val="E6F4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457200" y="1645920"/>
            <a:ext cx="2423160" cy="566928"/>
          </a:xfrm>
          <a:prstGeom prst="roundRect">
            <a:avLst>
              <a:gd name="adj" fmla="val 25000"/>
            </a:avLst>
          </a:prstGeom>
          <a:solidFill>
            <a:srgbClr val="2E8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>
            <a:noAutofit/>
          </a:bodyPr>
          <a:lstStyle/>
          <a:p>
            <a:pPr algn="ctr"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Times New Roman"/>
              </a:rPr>
              <a:t>Desen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2304288"/>
            <a:ext cx="2276856" cy="3657600"/>
          </a:xfrm>
          <a:prstGeom prst="rect">
            <a:avLst/>
          </a:prstGeom>
          <a:noFill/>
        </p:spPr>
        <p:txBody>
          <a:bodyPr wrap="square" lIns="54864" rIns="54864" tIns="54864" bIns="54864" anchor="t">
            <a:noAutofit/>
          </a:bodyPr>
          <a:lstStyle/>
          <a:p>
            <a:pPr algn="l">
              <a:spcAft>
                <a:spcPts val="400"/>
              </a:spcAft>
            </a:pPr>
            <a:r>
              <a:rPr sz="2200" b="0">
                <a:solidFill>
                  <a:srgbClr val="1A1A1A"/>
                </a:solidFill>
                <a:latin typeface="Times New Roman"/>
              </a:rPr>
              <a:t>•  Nitel araştırma</a:t>
            </a:r>
          </a:p>
          <a:p>
            <a:pPr algn="l">
              <a:spcAft>
                <a:spcPts val="400"/>
              </a:spcAft>
            </a:pPr>
            <a:r>
              <a:rPr sz="2200" b="0">
                <a:solidFill>
                  <a:srgbClr val="1A1A1A"/>
                </a:solidFill>
                <a:latin typeface="Times New Roman"/>
              </a:rPr>
              <a:t>•  Tek durumlu durum çalışması (Gustafsson, 2024; Creswell, 2021)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017520" y="1645920"/>
            <a:ext cx="2423160" cy="4389120"/>
          </a:xfrm>
          <a:prstGeom prst="roundRect">
            <a:avLst>
              <a:gd name="adj" fmla="val 5000"/>
            </a:avLst>
          </a:prstGeom>
          <a:solidFill>
            <a:srgbClr val="E6F4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3017520" y="1645920"/>
            <a:ext cx="2423160" cy="566928"/>
          </a:xfrm>
          <a:prstGeom prst="roundRect">
            <a:avLst>
              <a:gd name="adj" fmla="val 25000"/>
            </a:avLst>
          </a:prstGeom>
          <a:solidFill>
            <a:srgbClr val="2E8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>
            <a:noAutofit/>
          </a:bodyPr>
          <a:lstStyle/>
          <a:p>
            <a:pPr algn="ctr"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Times New Roman"/>
              </a:rPr>
              <a:t>Bağlam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090672" y="2304288"/>
            <a:ext cx="2276856" cy="3657600"/>
          </a:xfrm>
          <a:prstGeom prst="rect">
            <a:avLst/>
          </a:prstGeom>
          <a:noFill/>
        </p:spPr>
        <p:txBody>
          <a:bodyPr wrap="square" lIns="54864" rIns="54864" tIns="54864" bIns="54864" anchor="t">
            <a:noAutofit/>
          </a:bodyPr>
          <a:lstStyle/>
          <a:p>
            <a:pPr algn="l">
              <a:spcAft>
                <a:spcPts val="400"/>
              </a:spcAft>
            </a:pPr>
            <a:r>
              <a:rPr sz="2200" b="0">
                <a:solidFill>
                  <a:srgbClr val="1A1A1A"/>
                </a:solidFill>
                <a:latin typeface="Times New Roman"/>
              </a:rPr>
              <a:t>•  İstanbul, Beylikdüzü</a:t>
            </a:r>
          </a:p>
          <a:p>
            <a:pPr algn="l">
              <a:spcAft>
                <a:spcPts val="400"/>
              </a:spcAft>
            </a:pPr>
            <a:r>
              <a:rPr sz="2200" b="0">
                <a:solidFill>
                  <a:srgbClr val="1A1A1A"/>
                </a:solidFill>
                <a:latin typeface="Times New Roman"/>
              </a:rPr>
              <a:t>•  Devlet okullarındaki ilkokul, ortaokul ve lise özel eğitim sınıfları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577840" y="1645920"/>
            <a:ext cx="2423160" cy="4389120"/>
          </a:xfrm>
          <a:prstGeom prst="roundRect">
            <a:avLst>
              <a:gd name="adj" fmla="val 5000"/>
            </a:avLst>
          </a:prstGeom>
          <a:solidFill>
            <a:srgbClr val="E6F4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577840" y="1645920"/>
            <a:ext cx="2423160" cy="566928"/>
          </a:xfrm>
          <a:prstGeom prst="roundRect">
            <a:avLst>
              <a:gd name="adj" fmla="val 25000"/>
            </a:avLst>
          </a:prstGeom>
          <a:solidFill>
            <a:srgbClr val="2E8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>
            <a:noAutofit/>
          </a:bodyPr>
          <a:lstStyle/>
          <a:p>
            <a:pPr algn="ctr"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Times New Roman"/>
              </a:rPr>
              <a:t>Veri aracı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50992" y="2304288"/>
            <a:ext cx="2276856" cy="3657600"/>
          </a:xfrm>
          <a:prstGeom prst="rect">
            <a:avLst/>
          </a:prstGeom>
          <a:noFill/>
        </p:spPr>
        <p:txBody>
          <a:bodyPr wrap="square" lIns="54864" rIns="54864" tIns="54864" bIns="54864" anchor="t">
            <a:noAutofit/>
          </a:bodyPr>
          <a:lstStyle/>
          <a:p>
            <a:pPr algn="l">
              <a:spcAft>
                <a:spcPts val="400"/>
              </a:spcAft>
            </a:pPr>
            <a:r>
              <a:rPr sz="2200" b="0">
                <a:solidFill>
                  <a:srgbClr val="1A1A1A"/>
                </a:solidFill>
                <a:latin typeface="Times New Roman"/>
              </a:rPr>
              <a:t>•  Demografik bilgi formu</a:t>
            </a:r>
          </a:p>
          <a:p>
            <a:pPr algn="l">
              <a:spcAft>
                <a:spcPts val="400"/>
              </a:spcAft>
            </a:pPr>
            <a:r>
              <a:rPr sz="2200" b="0">
                <a:solidFill>
                  <a:srgbClr val="1A1A1A"/>
                </a:solidFill>
                <a:latin typeface="Times New Roman"/>
              </a:rPr>
              <a:t>•  10 soruluk yarı yapılandırılmış görüşme formu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02176B-0E47-46AC-8F43-DAB4B8A37D06}" type="slidenum">
              <a:rPr lang="tr-TR" smtClean="0"/>
              <a:t>7</a:t>
            </a:fld>
            <a:endParaRPr lang="tr-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Times New Roman"/>
              </a:rPr>
              <a:t>Yöntem: Çalışma Grubu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57200" y="1600200"/>
            <a:ext cx="2331720" cy="1737360"/>
          </a:xfrm>
          <a:prstGeom prst="roundRect">
            <a:avLst>
              <a:gd name="adj" fmla="val 6000"/>
            </a:avLst>
          </a:prstGeom>
          <a:solidFill>
            <a:srgbClr val="E6F4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91640"/>
            <a:ext cx="2331720" cy="822960"/>
          </a:xfrm>
          <a:prstGeom prst="rect">
            <a:avLst/>
          </a:prstGeom>
          <a:noFill/>
        </p:spPr>
        <p:txBody>
          <a:bodyPr wrap="square" lIns="45720" rIns="45720" tIns="54864" bIns="54864" anchor="t">
            <a:noAutofit/>
          </a:bodyPr>
          <a:lstStyle/>
          <a:p>
            <a:pPr algn="ctr">
              <a:spcAft>
                <a:spcPts val="400"/>
              </a:spcAft>
            </a:pPr>
            <a:r>
              <a:rPr sz="3600" b="1">
                <a:solidFill>
                  <a:srgbClr val="2E8B3A"/>
                </a:solidFill>
                <a:latin typeface="Times New Roman"/>
              </a:rPr>
              <a:t>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560320"/>
            <a:ext cx="2148840" cy="731520"/>
          </a:xfrm>
          <a:prstGeom prst="rect">
            <a:avLst/>
          </a:prstGeom>
          <a:noFill/>
        </p:spPr>
        <p:txBody>
          <a:bodyPr wrap="square" lIns="45720" rIns="45720" tIns="54864" bIns="54864" anchor="t">
            <a:noAutofit/>
          </a:bodyPr>
          <a:lstStyle/>
          <a:p>
            <a:pPr algn="ctr">
              <a:spcAft>
                <a:spcPts val="400"/>
              </a:spcAft>
            </a:pPr>
            <a:r>
              <a:rPr sz="1800" b="0">
                <a:solidFill>
                  <a:srgbClr val="1A1A1A"/>
                </a:solidFill>
                <a:latin typeface="Times New Roman"/>
              </a:rPr>
              <a:t>özel eğitim öğretmeni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017520" y="1600200"/>
            <a:ext cx="2331720" cy="1737360"/>
          </a:xfrm>
          <a:prstGeom prst="roundRect">
            <a:avLst>
              <a:gd name="adj" fmla="val 6000"/>
            </a:avLst>
          </a:prstGeom>
          <a:solidFill>
            <a:srgbClr val="E6F4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017520" y="1691640"/>
            <a:ext cx="2331720" cy="822960"/>
          </a:xfrm>
          <a:prstGeom prst="rect">
            <a:avLst/>
          </a:prstGeom>
          <a:noFill/>
        </p:spPr>
        <p:txBody>
          <a:bodyPr wrap="square" lIns="45720" rIns="45720" tIns="54864" bIns="54864" anchor="t">
            <a:noAutofit/>
          </a:bodyPr>
          <a:lstStyle/>
          <a:p>
            <a:pPr algn="ctr">
              <a:spcAft>
                <a:spcPts val="400"/>
              </a:spcAft>
            </a:pPr>
            <a:r>
              <a:rPr sz="3600" b="1">
                <a:solidFill>
                  <a:srgbClr val="2E8B3A"/>
                </a:solidFill>
                <a:latin typeface="Times New Roman"/>
              </a:rPr>
              <a:t>19 E · 8 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108960" y="2560320"/>
            <a:ext cx="2148840" cy="731520"/>
          </a:xfrm>
          <a:prstGeom prst="rect">
            <a:avLst/>
          </a:prstGeom>
          <a:noFill/>
        </p:spPr>
        <p:txBody>
          <a:bodyPr wrap="square" lIns="45720" rIns="45720" tIns="54864" bIns="54864" anchor="t">
            <a:noAutofit/>
          </a:bodyPr>
          <a:lstStyle/>
          <a:p>
            <a:pPr algn="ctr">
              <a:spcAft>
                <a:spcPts val="400"/>
              </a:spcAft>
            </a:pPr>
            <a:r>
              <a:rPr sz="1800" b="0">
                <a:solidFill>
                  <a:srgbClr val="1A1A1A"/>
                </a:solidFill>
                <a:latin typeface="Times New Roman"/>
              </a:rPr>
              <a:t>erkek ve kadın öğretmen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577840" y="1600200"/>
            <a:ext cx="2331720" cy="1737360"/>
          </a:xfrm>
          <a:prstGeom prst="roundRect">
            <a:avLst>
              <a:gd name="adj" fmla="val 6000"/>
            </a:avLst>
          </a:prstGeom>
          <a:solidFill>
            <a:srgbClr val="E6F4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577840" y="1691640"/>
            <a:ext cx="2331720" cy="822960"/>
          </a:xfrm>
          <a:prstGeom prst="rect">
            <a:avLst/>
          </a:prstGeom>
          <a:noFill/>
        </p:spPr>
        <p:txBody>
          <a:bodyPr wrap="square" lIns="45720" rIns="45720" tIns="54864" bIns="54864" anchor="t">
            <a:noAutofit/>
          </a:bodyPr>
          <a:lstStyle/>
          <a:p>
            <a:pPr algn="ctr">
              <a:spcAft>
                <a:spcPts val="400"/>
              </a:spcAft>
            </a:pPr>
            <a:r>
              <a:rPr sz="3600" b="1">
                <a:solidFill>
                  <a:srgbClr val="2E8B3A"/>
                </a:solidFill>
                <a:latin typeface="Times New Roman"/>
              </a:rPr>
              <a:t>2–20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79" y="2560320"/>
            <a:ext cx="2148840" cy="731520"/>
          </a:xfrm>
          <a:prstGeom prst="rect">
            <a:avLst/>
          </a:prstGeom>
          <a:noFill/>
        </p:spPr>
        <p:txBody>
          <a:bodyPr wrap="square" lIns="45720" rIns="45720" tIns="54864" bIns="54864" anchor="t">
            <a:noAutofit/>
          </a:bodyPr>
          <a:lstStyle/>
          <a:p>
            <a:pPr algn="ctr">
              <a:spcAft>
                <a:spcPts val="400"/>
              </a:spcAft>
            </a:pPr>
            <a:r>
              <a:rPr sz="1800" b="0">
                <a:solidFill>
                  <a:srgbClr val="1A1A1A"/>
                </a:solidFill>
                <a:latin typeface="Times New Roman"/>
              </a:rPr>
              <a:t>yıl mesleki kıdem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3566160"/>
            <a:ext cx="2423160" cy="2606040"/>
          </a:xfrm>
          <a:prstGeom prst="roundRect">
            <a:avLst>
              <a:gd name="adj" fmla="val 5000"/>
            </a:avLst>
          </a:prstGeom>
          <a:solidFill>
            <a:srgbClr val="E6F4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57200" y="3566160"/>
            <a:ext cx="2423160" cy="566928"/>
          </a:xfrm>
          <a:prstGeom prst="roundRect">
            <a:avLst>
              <a:gd name="adj" fmla="val 25000"/>
            </a:avLst>
          </a:prstGeom>
          <a:solidFill>
            <a:srgbClr val="2E8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>
            <a:noAutofit/>
          </a:bodyPr>
          <a:lstStyle/>
          <a:p>
            <a:pPr algn="ctr"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Times New Roman"/>
              </a:rPr>
              <a:t>Görev yeri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30352" y="4224528"/>
            <a:ext cx="2276856" cy="1874519"/>
          </a:xfrm>
          <a:prstGeom prst="rect">
            <a:avLst/>
          </a:prstGeom>
          <a:noFill/>
        </p:spPr>
        <p:txBody>
          <a:bodyPr wrap="square" lIns="54864" rIns="54864" tIns="54864" bIns="54864" anchor="t">
            <a:noAutofit/>
          </a:bodyPr>
          <a:lstStyle/>
          <a:p>
            <a:pPr algn="l">
              <a:spcAft>
                <a:spcPts val="400"/>
              </a:spcAft>
            </a:pPr>
            <a:r>
              <a:rPr sz="2000" b="0">
                <a:solidFill>
                  <a:srgbClr val="1A1A1A"/>
                </a:solidFill>
                <a:latin typeface="Times New Roman"/>
              </a:rPr>
              <a:t>•  5 ilkokul</a:t>
            </a:r>
          </a:p>
          <a:p>
            <a:pPr algn="l">
              <a:spcAft>
                <a:spcPts val="400"/>
              </a:spcAft>
            </a:pPr>
            <a:r>
              <a:rPr sz="2000" b="0">
                <a:solidFill>
                  <a:srgbClr val="1A1A1A"/>
                </a:solidFill>
                <a:latin typeface="Times New Roman"/>
              </a:rPr>
              <a:t>•  18 ortaokul</a:t>
            </a:r>
          </a:p>
          <a:p>
            <a:pPr algn="l">
              <a:spcAft>
                <a:spcPts val="400"/>
              </a:spcAft>
            </a:pPr>
            <a:r>
              <a:rPr sz="2000" b="0">
                <a:solidFill>
                  <a:srgbClr val="1A1A1A"/>
                </a:solidFill>
                <a:latin typeface="Times New Roman"/>
              </a:rPr>
              <a:t>•  4 lise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017520" y="3566160"/>
            <a:ext cx="2423160" cy="2606040"/>
          </a:xfrm>
          <a:prstGeom prst="roundRect">
            <a:avLst>
              <a:gd name="adj" fmla="val 5000"/>
            </a:avLst>
          </a:prstGeom>
          <a:solidFill>
            <a:srgbClr val="E6F4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3017520" y="3566160"/>
            <a:ext cx="2423160" cy="566928"/>
          </a:xfrm>
          <a:prstGeom prst="roundRect">
            <a:avLst>
              <a:gd name="adj" fmla="val 25000"/>
            </a:avLst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>
            <a:noAutofit/>
          </a:bodyPr>
          <a:lstStyle/>
          <a:p>
            <a:pPr algn="ctr"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Times New Roman"/>
              </a:rPr>
              <a:t>Mezuniyet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090672" y="4224528"/>
            <a:ext cx="2276856" cy="1874519"/>
          </a:xfrm>
          <a:prstGeom prst="rect">
            <a:avLst/>
          </a:prstGeom>
          <a:noFill/>
        </p:spPr>
        <p:txBody>
          <a:bodyPr wrap="square" lIns="54864" rIns="54864" tIns="54864" bIns="54864" anchor="t">
            <a:noAutofit/>
          </a:bodyPr>
          <a:lstStyle/>
          <a:p>
            <a:pPr algn="l">
              <a:spcAft>
                <a:spcPts val="400"/>
              </a:spcAft>
            </a:pPr>
            <a:r>
              <a:rPr sz="2000" b="0">
                <a:solidFill>
                  <a:srgbClr val="1A1A1A"/>
                </a:solidFill>
                <a:latin typeface="Times New Roman"/>
              </a:rPr>
              <a:t>•  7 zihinsel engelliler öğretmenliği</a:t>
            </a:r>
          </a:p>
          <a:p>
            <a:pPr algn="l">
              <a:spcAft>
                <a:spcPts val="400"/>
              </a:spcAft>
            </a:pPr>
            <a:r>
              <a:rPr sz="2000" b="0">
                <a:solidFill>
                  <a:srgbClr val="1A1A1A"/>
                </a:solidFill>
                <a:latin typeface="Times New Roman"/>
              </a:rPr>
              <a:t>•  20 özel eğitim öğretmenliği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577840" y="3566160"/>
            <a:ext cx="2423160" cy="2606040"/>
          </a:xfrm>
          <a:prstGeom prst="roundRect">
            <a:avLst>
              <a:gd name="adj" fmla="val 5000"/>
            </a:avLst>
          </a:prstGeom>
          <a:solidFill>
            <a:srgbClr val="E6F4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5577840" y="3566160"/>
            <a:ext cx="2423160" cy="566928"/>
          </a:xfrm>
          <a:prstGeom prst="roundRect">
            <a:avLst>
              <a:gd name="adj" fmla="val 25000"/>
            </a:avLst>
          </a:prstGeom>
          <a:solidFill>
            <a:srgbClr val="2E8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>
            <a:noAutofit/>
          </a:bodyPr>
          <a:lstStyle/>
          <a:p>
            <a:pPr algn="ctr"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Times New Roman"/>
              </a:rPr>
              <a:t>Öğrenim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650992" y="4224528"/>
            <a:ext cx="2276856" cy="1874519"/>
          </a:xfrm>
          <a:prstGeom prst="rect">
            <a:avLst/>
          </a:prstGeom>
          <a:noFill/>
        </p:spPr>
        <p:txBody>
          <a:bodyPr wrap="square" lIns="54864" rIns="54864" tIns="54864" bIns="54864" anchor="t">
            <a:noAutofit/>
          </a:bodyPr>
          <a:lstStyle/>
          <a:p>
            <a:pPr algn="l">
              <a:spcAft>
                <a:spcPts val="400"/>
              </a:spcAft>
            </a:pPr>
            <a:r>
              <a:rPr sz="2000" b="0">
                <a:solidFill>
                  <a:srgbClr val="1A1A1A"/>
                </a:solidFill>
                <a:latin typeface="Times New Roman"/>
              </a:rPr>
              <a:t>•  19 lisans</a:t>
            </a:r>
          </a:p>
          <a:p>
            <a:pPr algn="l">
              <a:spcAft>
                <a:spcPts val="400"/>
              </a:spcAft>
            </a:pPr>
            <a:r>
              <a:rPr sz="2000" b="0">
                <a:solidFill>
                  <a:srgbClr val="1A1A1A"/>
                </a:solidFill>
                <a:latin typeface="Times New Roman"/>
              </a:rPr>
              <a:t>•  5 tezli yüksek lisans</a:t>
            </a:r>
          </a:p>
          <a:p>
            <a:pPr algn="l">
              <a:spcAft>
                <a:spcPts val="400"/>
              </a:spcAft>
            </a:pPr>
            <a:r>
              <a:rPr sz="2000" b="0">
                <a:solidFill>
                  <a:srgbClr val="1A1A1A"/>
                </a:solidFill>
                <a:latin typeface="Times New Roman"/>
              </a:rPr>
              <a:t>•  3 tezsiz yüksek lisans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02176B-0E47-46AC-8F43-DAB4B8A37D06}" type="slidenum">
              <a:rPr lang="tr-TR" smtClean="0"/>
              <a:t>8</a:t>
            </a:fld>
            <a:endParaRPr lang="tr-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Times New Roman"/>
              </a:rPr>
              <a:t>Veri Toplama ve Güvenirlik</a:t>
            </a:r>
          </a:p>
        </p:txBody>
      </p:sp>
      <p:sp>
        <p:nvSpPr>
          <p:cNvPr id="3" name="Rectangle 2"/>
          <p:cNvSpPr/>
          <p:nvPr/>
        </p:nvSpPr>
        <p:spPr>
          <a:xfrm>
            <a:off x="960120" y="2852928"/>
            <a:ext cx="6492240" cy="64008"/>
          </a:xfrm>
          <a:prstGeom prst="rect">
            <a:avLst/>
          </a:prstGeom>
          <a:solidFill>
            <a:srgbClr val="8FD1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868680" y="2468880"/>
            <a:ext cx="822960" cy="822960"/>
          </a:xfrm>
          <a:prstGeom prst="ellipse">
            <a:avLst/>
          </a:prstGeom>
          <a:solidFill>
            <a:srgbClr val="2E8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54864" bIns="54864">
            <a:no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Times New Roman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3520440"/>
            <a:ext cx="1783080" cy="822960"/>
          </a:xfrm>
          <a:prstGeom prst="rect">
            <a:avLst/>
          </a:prstGeom>
          <a:noFill/>
        </p:spPr>
        <p:txBody>
          <a:bodyPr wrap="square" lIns="45720" rIns="45720" tIns="54864" bIns="54864" anchor="t">
            <a:noAutofit/>
          </a:bodyPr>
          <a:lstStyle/>
          <a:p>
            <a:pPr algn="ctr">
              <a:spcAft>
                <a:spcPts val="400"/>
              </a:spcAft>
            </a:pPr>
            <a:r>
              <a:rPr sz="2000" b="1">
                <a:solidFill>
                  <a:srgbClr val="2E8B3A"/>
                </a:solidFill>
                <a:latin typeface="Times New Roman"/>
              </a:rPr>
              <a:t>Form geliştirme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4251960"/>
            <a:ext cx="1783080" cy="1097280"/>
          </a:xfrm>
          <a:prstGeom prst="rect">
            <a:avLst/>
          </a:prstGeom>
          <a:noFill/>
        </p:spPr>
        <p:txBody>
          <a:bodyPr wrap="square" lIns="45720" rIns="45720" tIns="54864" bIns="54864" anchor="t">
            <a:noAutofit/>
          </a:bodyPr>
          <a:lstStyle/>
          <a:p>
            <a:pPr algn="ctr">
              <a:spcAft>
                <a:spcPts val="400"/>
              </a:spcAft>
            </a:pPr>
            <a:r>
              <a:rPr sz="1800" b="0">
                <a:solidFill>
                  <a:srgbClr val="1A1A1A"/>
                </a:solidFill>
                <a:latin typeface="Times New Roman"/>
              </a:rPr>
              <a:t>Alanyazın taraması</a:t>
            </a:r>
          </a:p>
        </p:txBody>
      </p:sp>
      <p:sp>
        <p:nvSpPr>
          <p:cNvPr id="7" name="Oval 6"/>
          <p:cNvSpPr/>
          <p:nvPr/>
        </p:nvSpPr>
        <p:spPr>
          <a:xfrm>
            <a:off x="2788920" y="2468880"/>
            <a:ext cx="822960" cy="822960"/>
          </a:xfrm>
          <a:prstGeom prst="ellipse">
            <a:avLst/>
          </a:prstGeom>
          <a:solidFill>
            <a:srgbClr val="2E8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54864" bIns="54864">
            <a:no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Times New Roman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331720" y="3520440"/>
            <a:ext cx="1783080" cy="822960"/>
          </a:xfrm>
          <a:prstGeom prst="rect">
            <a:avLst/>
          </a:prstGeom>
          <a:noFill/>
        </p:spPr>
        <p:txBody>
          <a:bodyPr wrap="square" lIns="45720" rIns="45720" tIns="54864" bIns="54864" anchor="t">
            <a:noAutofit/>
          </a:bodyPr>
          <a:lstStyle/>
          <a:p>
            <a:pPr algn="ctr">
              <a:spcAft>
                <a:spcPts val="400"/>
              </a:spcAft>
            </a:pPr>
            <a:r>
              <a:rPr sz="2000" b="1">
                <a:solidFill>
                  <a:srgbClr val="2E8B3A"/>
                </a:solidFill>
                <a:latin typeface="Times New Roman"/>
              </a:rPr>
              <a:t>Uzman görüşü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31720" y="4251960"/>
            <a:ext cx="1783080" cy="1097280"/>
          </a:xfrm>
          <a:prstGeom prst="rect">
            <a:avLst/>
          </a:prstGeom>
          <a:noFill/>
        </p:spPr>
        <p:txBody>
          <a:bodyPr wrap="square" lIns="45720" rIns="45720" tIns="54864" bIns="54864" anchor="t">
            <a:noAutofit/>
          </a:bodyPr>
          <a:lstStyle/>
          <a:p>
            <a:pPr algn="ctr">
              <a:spcAft>
                <a:spcPts val="400"/>
              </a:spcAft>
            </a:pPr>
            <a:r>
              <a:rPr sz="1800" b="0">
                <a:solidFill>
                  <a:srgbClr val="1A1A1A"/>
                </a:solidFill>
                <a:latin typeface="Times New Roman"/>
              </a:rPr>
              <a:t>2 doçent ve 2 profesör</a:t>
            </a:r>
          </a:p>
        </p:txBody>
      </p:sp>
      <p:sp>
        <p:nvSpPr>
          <p:cNvPr id="10" name="Oval 9"/>
          <p:cNvSpPr/>
          <p:nvPr/>
        </p:nvSpPr>
        <p:spPr>
          <a:xfrm>
            <a:off x="4709160" y="2468880"/>
            <a:ext cx="822960" cy="822960"/>
          </a:xfrm>
          <a:prstGeom prst="ellipse">
            <a:avLst/>
          </a:prstGeom>
          <a:solidFill>
            <a:srgbClr val="2E8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54864" bIns="54864">
            <a:no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Times New Roman"/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51960" y="3520440"/>
            <a:ext cx="1783080" cy="822960"/>
          </a:xfrm>
          <a:prstGeom prst="rect">
            <a:avLst/>
          </a:prstGeom>
          <a:noFill/>
        </p:spPr>
        <p:txBody>
          <a:bodyPr wrap="square" lIns="45720" rIns="45720" tIns="54864" bIns="54864" anchor="t">
            <a:noAutofit/>
          </a:bodyPr>
          <a:lstStyle/>
          <a:p>
            <a:pPr algn="ctr">
              <a:spcAft>
                <a:spcPts val="400"/>
              </a:spcAft>
            </a:pPr>
            <a:r>
              <a:rPr sz="2000" b="1">
                <a:solidFill>
                  <a:srgbClr val="2E8B3A"/>
                </a:solidFill>
                <a:latin typeface="Times New Roman"/>
              </a:rPr>
              <a:t>İçerik analizi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51960" y="4251960"/>
            <a:ext cx="1783080" cy="1097280"/>
          </a:xfrm>
          <a:prstGeom prst="rect">
            <a:avLst/>
          </a:prstGeom>
          <a:noFill/>
        </p:spPr>
        <p:txBody>
          <a:bodyPr wrap="square" lIns="45720" rIns="45720" tIns="54864" bIns="54864" anchor="t">
            <a:noAutofit/>
          </a:bodyPr>
          <a:lstStyle/>
          <a:p>
            <a:pPr algn="ctr">
              <a:spcAft>
                <a:spcPts val="400"/>
              </a:spcAft>
            </a:pPr>
            <a:r>
              <a:rPr sz="1800" b="0">
                <a:solidFill>
                  <a:srgbClr val="1A1A1A"/>
                </a:solidFill>
                <a:latin typeface="Times New Roman"/>
              </a:rPr>
              <a:t>Kodlama ve kategoriler</a:t>
            </a:r>
          </a:p>
        </p:txBody>
      </p:sp>
      <p:sp>
        <p:nvSpPr>
          <p:cNvPr id="13" name="Oval 12"/>
          <p:cNvSpPr/>
          <p:nvPr/>
        </p:nvSpPr>
        <p:spPr>
          <a:xfrm>
            <a:off x="6629400" y="2468880"/>
            <a:ext cx="822960" cy="822960"/>
          </a:xfrm>
          <a:prstGeom prst="ellipse">
            <a:avLst/>
          </a:prstGeom>
          <a:solidFill>
            <a:srgbClr val="2E8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54864" bIns="54864">
            <a:no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Times New Roman"/>
              </a:rPr>
              <a:t>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72200" y="3520440"/>
            <a:ext cx="1783080" cy="822960"/>
          </a:xfrm>
          <a:prstGeom prst="rect">
            <a:avLst/>
          </a:prstGeom>
          <a:noFill/>
        </p:spPr>
        <p:txBody>
          <a:bodyPr wrap="square" lIns="45720" rIns="45720" tIns="54864" bIns="54864" anchor="t">
            <a:noAutofit/>
          </a:bodyPr>
          <a:lstStyle/>
          <a:p>
            <a:pPr algn="ctr">
              <a:spcAft>
                <a:spcPts val="400"/>
              </a:spcAft>
            </a:pPr>
            <a:r>
              <a:rPr sz="2000" b="1">
                <a:solidFill>
                  <a:srgbClr val="2E8B3A"/>
                </a:solidFill>
                <a:latin typeface="Times New Roman"/>
              </a:rPr>
              <a:t>Güvenirlik %82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172200" y="4251960"/>
            <a:ext cx="1783080" cy="1097280"/>
          </a:xfrm>
          <a:prstGeom prst="rect">
            <a:avLst/>
          </a:prstGeom>
          <a:noFill/>
        </p:spPr>
        <p:txBody>
          <a:bodyPr wrap="square" lIns="45720" rIns="45720" tIns="54864" bIns="54864" anchor="t">
            <a:noAutofit/>
          </a:bodyPr>
          <a:lstStyle/>
          <a:p>
            <a:pPr algn="ctr">
              <a:spcAft>
                <a:spcPts val="400"/>
              </a:spcAft>
            </a:pPr>
            <a:r>
              <a:rPr sz="1800" b="0">
                <a:solidFill>
                  <a:srgbClr val="1A1A1A"/>
                </a:solidFill>
                <a:latin typeface="Times New Roman"/>
              </a:rPr>
              <a:t>Miles ve Huberman (1994)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5349240"/>
            <a:ext cx="7543800" cy="914400"/>
          </a:xfrm>
          <a:prstGeom prst="roundRect">
            <a:avLst>
              <a:gd name="adj" fmla="val 15000"/>
            </a:avLst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>
            <a:no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Times New Roman"/>
              </a:rPr>
              <a:t>Etik: kurum izni, gönüllü katılım, yazılı onam; kimlikler gizli tutuldu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02176B-0E47-46AC-8F43-DAB4B8A37D06}" type="slidenum">
              <a:rPr lang="tr-TR" smtClean="0"/>
              <a:t>9</a:t>
            </a:fld>
            <a:endParaRPr lang="tr-TR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Times New Roman"/>
              </a:rPr>
              <a:t>Bulgular: Sosyal Becerinin Önemi</a:t>
            </a:r>
          </a:p>
        </p:txBody>
      </p:sp>
      <p:graphicFrame>
        <p:nvGraphicFramePr>
          <p:cNvPr id="3" name="Chart 2"/>
          <p:cNvGraphicFramePr>
            <a:graphicFrameLocks noGrp="1"/>
          </p:cNvGraphicFramePr>
          <p:nvPr/>
        </p:nvGraphicFramePr>
        <p:xfrm>
          <a:off x="457200" y="1554480"/>
          <a:ext cx="7543800" cy="46634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02176B-0E47-46AC-8F43-DAB4B8A37D06}" type="slidenum">
              <a:rPr lang="tr-TR" smtClean="0"/>
              <a:t>10</a:t>
            </a:fld>
            <a:endParaRPr lang="tr-TR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Times New Roman"/>
              </a:rPr>
              <a:t>Bulgular: Öğretmenler Ne Dedi?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57200" y="1645920"/>
            <a:ext cx="2331720" cy="1920240"/>
          </a:xfrm>
          <a:prstGeom prst="roundRect">
            <a:avLst>
              <a:gd name="adj" fmla="val 6000"/>
            </a:avLst>
          </a:prstGeom>
          <a:solidFill>
            <a:srgbClr val="E6F4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737360"/>
            <a:ext cx="2331720" cy="822960"/>
          </a:xfrm>
          <a:prstGeom prst="rect">
            <a:avLst/>
          </a:prstGeom>
          <a:noFill/>
        </p:spPr>
        <p:txBody>
          <a:bodyPr wrap="square" lIns="45720" rIns="45720" tIns="54864" bIns="54864" anchor="t">
            <a:noAutofit/>
          </a:bodyPr>
          <a:lstStyle/>
          <a:p>
            <a:pPr algn="ctr">
              <a:spcAft>
                <a:spcPts val="400"/>
              </a:spcAft>
            </a:pPr>
            <a:r>
              <a:rPr sz="4400" b="1">
                <a:solidFill>
                  <a:srgbClr val="2E8B3A"/>
                </a:solidFill>
                <a:latin typeface="Times New Roman"/>
              </a:rPr>
              <a:t>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606040"/>
            <a:ext cx="2148840" cy="914400"/>
          </a:xfrm>
          <a:prstGeom prst="rect">
            <a:avLst/>
          </a:prstGeom>
          <a:noFill/>
        </p:spPr>
        <p:txBody>
          <a:bodyPr wrap="square" lIns="45720" rIns="45720" tIns="54864" bIns="54864" anchor="t">
            <a:noAutofit/>
          </a:bodyPr>
          <a:lstStyle/>
          <a:p>
            <a:pPr algn="ctr">
              <a:spcAft>
                <a:spcPts val="400"/>
              </a:spcAft>
            </a:pPr>
            <a:r>
              <a:rPr sz="1800" b="0">
                <a:solidFill>
                  <a:srgbClr val="1A1A1A"/>
                </a:solidFill>
                <a:latin typeface="Times New Roman"/>
              </a:rPr>
              <a:t>sosyal hayata uyum ve entegrasyon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017520" y="1645920"/>
            <a:ext cx="2331720" cy="1920240"/>
          </a:xfrm>
          <a:prstGeom prst="roundRect">
            <a:avLst>
              <a:gd name="adj" fmla="val 6000"/>
            </a:avLst>
          </a:prstGeom>
          <a:solidFill>
            <a:srgbClr val="E6F4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017520" y="1737360"/>
            <a:ext cx="2331720" cy="822960"/>
          </a:xfrm>
          <a:prstGeom prst="rect">
            <a:avLst/>
          </a:prstGeom>
          <a:noFill/>
        </p:spPr>
        <p:txBody>
          <a:bodyPr wrap="square" lIns="45720" rIns="45720" tIns="54864" bIns="54864" anchor="t">
            <a:noAutofit/>
          </a:bodyPr>
          <a:lstStyle/>
          <a:p>
            <a:pPr algn="ctr">
              <a:spcAft>
                <a:spcPts val="400"/>
              </a:spcAft>
            </a:pPr>
            <a:r>
              <a:rPr sz="4400" b="1">
                <a:solidFill>
                  <a:srgbClr val="2E8B3A"/>
                </a:solidFill>
                <a:latin typeface="Times New Roman"/>
              </a:rPr>
              <a:t>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108960" y="2606040"/>
            <a:ext cx="2148840" cy="914400"/>
          </a:xfrm>
          <a:prstGeom prst="rect">
            <a:avLst/>
          </a:prstGeom>
          <a:noFill/>
        </p:spPr>
        <p:txBody>
          <a:bodyPr wrap="square" lIns="45720" rIns="45720" tIns="54864" bIns="54864" anchor="t">
            <a:noAutofit/>
          </a:bodyPr>
          <a:lstStyle/>
          <a:p>
            <a:pPr algn="ctr">
              <a:spcAft>
                <a:spcPts val="400"/>
              </a:spcAft>
            </a:pPr>
            <a:r>
              <a:rPr sz="1800" b="0">
                <a:solidFill>
                  <a:srgbClr val="1A1A1A"/>
                </a:solidFill>
                <a:latin typeface="Times New Roman"/>
              </a:rPr>
              <a:t>bağımsız yaşam ve temel beceriler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577840" y="1645920"/>
            <a:ext cx="2331720" cy="1920240"/>
          </a:xfrm>
          <a:prstGeom prst="roundRect">
            <a:avLst>
              <a:gd name="adj" fmla="val 6000"/>
            </a:avLst>
          </a:prstGeom>
          <a:solidFill>
            <a:srgbClr val="E6F4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577840" y="1737360"/>
            <a:ext cx="2331720" cy="822960"/>
          </a:xfrm>
          <a:prstGeom prst="rect">
            <a:avLst/>
          </a:prstGeom>
          <a:noFill/>
        </p:spPr>
        <p:txBody>
          <a:bodyPr wrap="square" lIns="45720" rIns="45720" tIns="54864" bIns="54864" anchor="t">
            <a:noAutofit/>
          </a:bodyPr>
          <a:lstStyle/>
          <a:p>
            <a:pPr algn="ctr">
              <a:spcAft>
                <a:spcPts val="400"/>
              </a:spcAft>
            </a:pPr>
            <a:r>
              <a:rPr sz="4400" b="1">
                <a:solidFill>
                  <a:srgbClr val="2E8B3A"/>
                </a:solidFill>
                <a:latin typeface="Times New Roman"/>
              </a:rPr>
              <a:t>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79" y="2606040"/>
            <a:ext cx="2148840" cy="914400"/>
          </a:xfrm>
          <a:prstGeom prst="rect">
            <a:avLst/>
          </a:prstGeom>
          <a:noFill/>
        </p:spPr>
        <p:txBody>
          <a:bodyPr wrap="square" lIns="45720" rIns="45720" tIns="54864" bIns="54864" anchor="t">
            <a:noAutofit/>
          </a:bodyPr>
          <a:lstStyle/>
          <a:p>
            <a:pPr algn="ctr">
              <a:spcAft>
                <a:spcPts val="400"/>
              </a:spcAft>
            </a:pPr>
            <a:r>
              <a:rPr sz="1800" b="0">
                <a:solidFill>
                  <a:srgbClr val="1A1A1A"/>
                </a:solidFill>
                <a:latin typeface="Times New Roman"/>
              </a:rPr>
              <a:t>sosyal ve iletişim becerileri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3840480"/>
            <a:ext cx="7543800" cy="2286000"/>
          </a:xfrm>
          <a:prstGeom prst="roundRect">
            <a:avLst>
              <a:gd name="adj" fmla="val 7000"/>
            </a:avLst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>
            <a:noAutofit/>
          </a:bodyPr>
          <a:lstStyle/>
          <a:p>
            <a:pPr algn="ctr">
              <a:spcAft>
                <a:spcPts val="400"/>
              </a:spcAft>
            </a:pPr>
            <a:r>
              <a:rPr sz="2300" b="1">
                <a:solidFill>
                  <a:srgbClr val="FFFFFF"/>
                </a:solidFill>
                <a:latin typeface="Times New Roman"/>
              </a:rPr>
              <a:t>“Çok önemli olduğunu hatta akademik becerilerden önce sosyal beceri çalışılması gerekmektedir.”</a:t>
            </a:r>
          </a:p>
          <a:p>
            <a:pPr algn="ctr">
              <a:spcAft>
                <a:spcPts val="400"/>
              </a:spcAft>
            </a:pPr>
            <a:r>
              <a:rPr sz="1800" b="0">
                <a:solidFill>
                  <a:srgbClr val="FFFFFF"/>
                </a:solidFill>
                <a:latin typeface="Times New Roman"/>
              </a:rPr>
              <a:t>Öğretmenler sosyal beceri çalışmalarının akademik, bilişsel gelişimi ve yaşam kalitesini de desteklediğini belirtti.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02176B-0E47-46AC-8F43-DAB4B8A37D06}" type="slidenum">
              <a:rPr lang="tr-TR" smtClean="0"/>
              <a:t>11</a:t>
            </a:fld>
            <a:endParaRPr lang="tr-TR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Times New Roman"/>
              </a:rPr>
              <a:t>Bulgular: Kullanılan Yöntemler</a:t>
            </a:r>
          </a:p>
        </p:txBody>
      </p:sp>
      <p:graphicFrame>
        <p:nvGraphicFramePr>
          <p:cNvPr id="3" name="Chart 2"/>
          <p:cNvGraphicFramePr>
            <a:graphicFrameLocks noGrp="1"/>
          </p:cNvGraphicFramePr>
          <p:nvPr/>
        </p:nvGraphicFramePr>
        <p:xfrm>
          <a:off x="457200" y="1554480"/>
          <a:ext cx="7543800" cy="46634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02176B-0E47-46AC-8F43-DAB4B8A37D06}" type="slidenum">
              <a:rPr lang="tr-TR" smtClean="0"/>
              <a:t>12</a:t>
            </a:fld>
            <a:endParaRPr lang="tr-TR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Times New Roman"/>
              </a:rPr>
              <a:t>Bulgular: Öne Çıkan Teknikler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57200" y="1645920"/>
            <a:ext cx="2423160" cy="4389120"/>
          </a:xfrm>
          <a:prstGeom prst="roundRect">
            <a:avLst>
              <a:gd name="adj" fmla="val 5000"/>
            </a:avLst>
          </a:prstGeom>
          <a:solidFill>
            <a:srgbClr val="E6F4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457200" y="1645920"/>
            <a:ext cx="2423160" cy="566928"/>
          </a:xfrm>
          <a:prstGeom prst="roundRect">
            <a:avLst>
              <a:gd name="adj" fmla="val 25000"/>
            </a:avLst>
          </a:prstGeom>
          <a:solidFill>
            <a:srgbClr val="2E8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>
            <a:noAutofit/>
          </a:bodyPr>
          <a:lstStyle/>
          <a:p>
            <a:pPr algn="ctr"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Times New Roman"/>
              </a:rPr>
              <a:t>Davranışsal 20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2304288"/>
            <a:ext cx="2276856" cy="3657600"/>
          </a:xfrm>
          <a:prstGeom prst="rect">
            <a:avLst/>
          </a:prstGeom>
          <a:noFill/>
        </p:spPr>
        <p:txBody>
          <a:bodyPr wrap="square" lIns="54864" rIns="54864" tIns="54864" bIns="54864" anchor="t">
            <a:noAutofit/>
          </a:bodyPr>
          <a:lstStyle/>
          <a:p>
            <a:pPr algn="l">
              <a:spcAft>
                <a:spcPts val="400"/>
              </a:spcAft>
            </a:pPr>
            <a:r>
              <a:rPr sz="2000" b="0">
                <a:solidFill>
                  <a:srgbClr val="1A1A1A"/>
                </a:solidFill>
                <a:latin typeface="Times New Roman"/>
              </a:rPr>
              <a:t>•  Ayrık denemelerle öğretim (7)</a:t>
            </a:r>
          </a:p>
          <a:p>
            <a:pPr algn="l">
              <a:spcAft>
                <a:spcPts val="400"/>
              </a:spcAft>
            </a:pPr>
            <a:r>
              <a:rPr sz="2000" b="0">
                <a:solidFill>
                  <a:srgbClr val="1A1A1A"/>
                </a:solidFill>
                <a:latin typeface="Times New Roman"/>
              </a:rPr>
              <a:t>•  Uygun olmayan davranışı önleme (5)</a:t>
            </a:r>
          </a:p>
          <a:p>
            <a:pPr algn="l">
              <a:spcAft>
                <a:spcPts val="400"/>
              </a:spcAft>
            </a:pPr>
            <a:r>
              <a:rPr sz="2000" b="0">
                <a:solidFill>
                  <a:srgbClr val="1A1A1A"/>
                </a:solidFill>
                <a:latin typeface="Times New Roman"/>
              </a:rPr>
              <a:t>•  Pekiştirme tarifeleri (4)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017520" y="1645920"/>
            <a:ext cx="2423160" cy="4389120"/>
          </a:xfrm>
          <a:prstGeom prst="roundRect">
            <a:avLst>
              <a:gd name="adj" fmla="val 5000"/>
            </a:avLst>
          </a:prstGeom>
          <a:solidFill>
            <a:srgbClr val="E6F4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3017520" y="1645920"/>
            <a:ext cx="2423160" cy="566928"/>
          </a:xfrm>
          <a:prstGeom prst="roundRect">
            <a:avLst>
              <a:gd name="adj" fmla="val 25000"/>
            </a:avLst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>
            <a:noAutofit/>
          </a:bodyPr>
          <a:lstStyle/>
          <a:p>
            <a:pPr algn="ctr"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Times New Roman"/>
              </a:rPr>
              <a:t>Model-drama 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090672" y="2304288"/>
            <a:ext cx="2276856" cy="3657600"/>
          </a:xfrm>
          <a:prstGeom prst="rect">
            <a:avLst/>
          </a:prstGeom>
          <a:noFill/>
        </p:spPr>
        <p:txBody>
          <a:bodyPr wrap="square" lIns="54864" rIns="54864" tIns="54864" bIns="54864" anchor="t">
            <a:noAutofit/>
          </a:bodyPr>
          <a:lstStyle/>
          <a:p>
            <a:pPr algn="l">
              <a:spcAft>
                <a:spcPts val="400"/>
              </a:spcAft>
            </a:pPr>
            <a:r>
              <a:rPr sz="2000" b="0">
                <a:solidFill>
                  <a:srgbClr val="1A1A1A"/>
                </a:solidFill>
                <a:latin typeface="Times New Roman"/>
              </a:rPr>
              <a:t>•  Videoyla model olma (8)</a:t>
            </a:r>
          </a:p>
          <a:p>
            <a:pPr algn="l">
              <a:spcAft>
                <a:spcPts val="400"/>
              </a:spcAft>
            </a:pPr>
            <a:r>
              <a:rPr sz="2000" b="0">
                <a:solidFill>
                  <a:srgbClr val="1A1A1A"/>
                </a:solidFill>
                <a:latin typeface="Times New Roman"/>
              </a:rPr>
              <a:t>•  Rol yapma, drama (3)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577840" y="1645920"/>
            <a:ext cx="2423160" cy="4389120"/>
          </a:xfrm>
          <a:prstGeom prst="roundRect">
            <a:avLst>
              <a:gd name="adj" fmla="val 5000"/>
            </a:avLst>
          </a:prstGeom>
          <a:solidFill>
            <a:srgbClr val="E6F4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577840" y="1645920"/>
            <a:ext cx="2423160" cy="566928"/>
          </a:xfrm>
          <a:prstGeom prst="roundRect">
            <a:avLst>
              <a:gd name="adj" fmla="val 25000"/>
            </a:avLst>
          </a:prstGeom>
          <a:solidFill>
            <a:srgbClr val="2E8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>
            <a:noAutofit/>
          </a:bodyPr>
          <a:lstStyle/>
          <a:p>
            <a:pPr algn="ctr"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Times New Roman"/>
              </a:rPr>
              <a:t>Öyküler 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50992" y="2304288"/>
            <a:ext cx="2276856" cy="3657600"/>
          </a:xfrm>
          <a:prstGeom prst="rect">
            <a:avLst/>
          </a:prstGeom>
          <a:noFill/>
        </p:spPr>
        <p:txBody>
          <a:bodyPr wrap="square" lIns="54864" rIns="54864" tIns="54864" bIns="54864" anchor="t">
            <a:noAutofit/>
          </a:bodyPr>
          <a:lstStyle/>
          <a:p>
            <a:pPr algn="l">
              <a:spcAft>
                <a:spcPts val="400"/>
              </a:spcAft>
            </a:pPr>
            <a:r>
              <a:rPr sz="2000" b="0">
                <a:solidFill>
                  <a:srgbClr val="1A1A1A"/>
                </a:solidFill>
                <a:latin typeface="Times New Roman"/>
              </a:rPr>
              <a:t>•  Sosyal öykülerle öğretim en sık sosyal temelli teknik</a:t>
            </a:r>
          </a:p>
          <a:p>
            <a:pPr algn="l">
              <a:spcAft>
                <a:spcPts val="400"/>
              </a:spcAft>
            </a:pPr>
            <a:r>
              <a:rPr sz="2000" b="0">
                <a:solidFill>
                  <a:srgbClr val="1A1A1A"/>
                </a:solidFill>
                <a:latin typeface="Times New Roman"/>
              </a:rPr>
              <a:t>•  Doğrudan öğretim (7)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02176B-0E47-46AC-8F43-DAB4B8A37D06}" type="slidenum">
              <a:rPr lang="tr-TR" smtClean="0"/>
              <a:t>13</a:t>
            </a:fld>
            <a:endParaRPr lang="tr-TR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Times New Roman"/>
              </a:rPr>
              <a:t>Bulgular: UDA Dışı Uygulamalar</a:t>
            </a:r>
          </a:p>
        </p:txBody>
      </p:sp>
      <p:graphicFrame>
        <p:nvGraphicFramePr>
          <p:cNvPr id="3" name="Chart 2"/>
          <p:cNvGraphicFramePr>
            <a:graphicFrameLocks noGrp="1"/>
          </p:cNvGraphicFramePr>
          <p:nvPr/>
        </p:nvGraphicFramePr>
        <p:xfrm>
          <a:off x="365760" y="1645920"/>
          <a:ext cx="3840480" cy="448056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4" name="Rounded Rectangle 3"/>
          <p:cNvSpPr/>
          <p:nvPr/>
        </p:nvSpPr>
        <p:spPr>
          <a:xfrm>
            <a:off x="4389120" y="1645920"/>
            <a:ext cx="3611880" cy="1783080"/>
          </a:xfrm>
          <a:prstGeom prst="roundRect">
            <a:avLst>
              <a:gd name="adj" fmla="val 5000"/>
            </a:avLst>
          </a:prstGeom>
          <a:solidFill>
            <a:srgbClr val="E6F4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4389120" y="1645920"/>
            <a:ext cx="3611880" cy="566928"/>
          </a:xfrm>
          <a:prstGeom prst="roundRect">
            <a:avLst>
              <a:gd name="adj" fmla="val 25000"/>
            </a:avLst>
          </a:prstGeom>
          <a:solidFill>
            <a:srgbClr val="2E8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>
            <a:noAutofit/>
          </a:bodyPr>
          <a:lstStyle/>
          <a:p>
            <a:pPr algn="ctr"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Times New Roman"/>
              </a:rPr>
              <a:t>Etkileşim temelli (11)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462272" y="2304288"/>
            <a:ext cx="3465576" cy="1051560"/>
          </a:xfrm>
          <a:prstGeom prst="rect">
            <a:avLst/>
          </a:prstGeom>
          <a:noFill/>
        </p:spPr>
        <p:txBody>
          <a:bodyPr wrap="square" lIns="54864" rIns="54864" tIns="54864" bIns="54864" anchor="t">
            <a:noAutofit/>
          </a:bodyPr>
          <a:lstStyle/>
          <a:p>
            <a:pPr algn="l">
              <a:spcAft>
                <a:spcPts val="400"/>
              </a:spcAft>
            </a:pPr>
            <a:r>
              <a:rPr sz="1700" b="0">
                <a:solidFill>
                  <a:srgbClr val="1A1A1A"/>
                </a:solidFill>
                <a:latin typeface="Times New Roman"/>
              </a:rPr>
              <a:t>•  Akran destekli öğretim, Erken Denver Modeli, öykü temelli öğretim, Floortime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89120" y="3566160"/>
            <a:ext cx="3611880" cy="1280160"/>
          </a:xfrm>
          <a:prstGeom prst="roundRect">
            <a:avLst>
              <a:gd name="adj" fmla="val 5000"/>
            </a:avLst>
          </a:prstGeom>
          <a:solidFill>
            <a:srgbClr val="E6F4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4389120" y="3566160"/>
            <a:ext cx="3611880" cy="566928"/>
          </a:xfrm>
          <a:prstGeom prst="roundRect">
            <a:avLst>
              <a:gd name="adj" fmla="val 25000"/>
            </a:avLst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>
            <a:noAutofit/>
          </a:bodyPr>
          <a:lstStyle/>
          <a:p>
            <a:pPr algn="ctr"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Times New Roman"/>
              </a:rPr>
              <a:t>Video ve görsel (4)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62272" y="4224528"/>
            <a:ext cx="3465576" cy="548639"/>
          </a:xfrm>
          <a:prstGeom prst="rect">
            <a:avLst/>
          </a:prstGeom>
          <a:noFill/>
        </p:spPr>
        <p:txBody>
          <a:bodyPr wrap="square" lIns="54864" rIns="54864" tIns="54864" bIns="54864" anchor="t">
            <a:noAutofit/>
          </a:bodyPr>
          <a:lstStyle/>
          <a:p>
            <a:pPr algn="l">
              <a:spcAft>
                <a:spcPts val="400"/>
              </a:spcAft>
            </a:pPr>
            <a:r>
              <a:rPr sz="1700" b="0">
                <a:solidFill>
                  <a:srgbClr val="1A1A1A"/>
                </a:solidFill>
                <a:latin typeface="Times New Roman"/>
              </a:rPr>
              <a:t>•  Video modelle öğretim, gösteri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89120" y="4983480"/>
            <a:ext cx="3611880" cy="1188720"/>
          </a:xfrm>
          <a:prstGeom prst="roundRect">
            <a:avLst>
              <a:gd name="adj" fmla="val 5000"/>
            </a:avLst>
          </a:prstGeom>
          <a:solidFill>
            <a:srgbClr val="E6F4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4389120" y="4983480"/>
            <a:ext cx="3611880" cy="566928"/>
          </a:xfrm>
          <a:prstGeom prst="roundRect">
            <a:avLst>
              <a:gd name="adj" fmla="val 25000"/>
            </a:avLst>
          </a:prstGeom>
          <a:solidFill>
            <a:srgbClr val="2E8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>
            <a:noAutofit/>
          </a:bodyPr>
          <a:lstStyle/>
          <a:p>
            <a:pPr algn="ctr"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Times New Roman"/>
              </a:rPr>
              <a:t>PECS (3)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62272" y="5641848"/>
            <a:ext cx="3465576" cy="457200"/>
          </a:xfrm>
          <a:prstGeom prst="rect">
            <a:avLst/>
          </a:prstGeom>
          <a:noFill/>
        </p:spPr>
        <p:txBody>
          <a:bodyPr wrap="square" lIns="54864" rIns="54864" tIns="54864" bIns="54864" anchor="t">
            <a:noAutofit/>
          </a:bodyPr>
          <a:lstStyle/>
          <a:p>
            <a:pPr algn="l">
              <a:spcAft>
                <a:spcPts val="400"/>
              </a:spcAft>
            </a:pPr>
            <a:r>
              <a:rPr sz="1700" b="0">
                <a:solidFill>
                  <a:srgbClr val="1A1A1A"/>
                </a:solidFill>
                <a:latin typeface="Times New Roman"/>
              </a:rPr>
              <a:t>•  Alternatif iletişim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02176B-0E47-46AC-8F43-DAB4B8A37D06}" type="slidenum">
              <a:rPr lang="tr-TR" smtClean="0"/>
              <a:t>14</a:t>
            </a:fld>
            <a:endParaRPr lang="tr-TR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Times New Roman"/>
              </a:rPr>
              <a:t>Bulgular: Genel Eğitim Sınıfında UDA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57200" y="1645920"/>
            <a:ext cx="2331720" cy="2103120"/>
          </a:xfrm>
          <a:prstGeom prst="roundRect">
            <a:avLst>
              <a:gd name="adj" fmla="val 6000"/>
            </a:avLst>
          </a:prstGeom>
          <a:solidFill>
            <a:srgbClr val="E6F4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783080"/>
            <a:ext cx="2331720" cy="914400"/>
          </a:xfrm>
          <a:prstGeom prst="rect">
            <a:avLst/>
          </a:prstGeom>
          <a:noFill/>
        </p:spPr>
        <p:txBody>
          <a:bodyPr wrap="square" lIns="45720" rIns="45720" tIns="54864" bIns="54864" anchor="t">
            <a:noAutofit/>
          </a:bodyPr>
          <a:lstStyle/>
          <a:p>
            <a:pPr algn="ctr">
              <a:spcAft>
                <a:spcPts val="400"/>
              </a:spcAft>
            </a:pPr>
            <a:r>
              <a:rPr sz="4800" b="1">
                <a:solidFill>
                  <a:srgbClr val="2E8B3A"/>
                </a:solidFill>
                <a:latin typeface="Times New Roman"/>
              </a:rPr>
              <a:t>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743200"/>
            <a:ext cx="2148840" cy="914400"/>
          </a:xfrm>
          <a:prstGeom prst="rect">
            <a:avLst/>
          </a:prstGeom>
          <a:noFill/>
        </p:spPr>
        <p:txBody>
          <a:bodyPr wrap="square" lIns="45720" rIns="45720" tIns="54864" bIns="54864" anchor="t">
            <a:noAutofit/>
          </a:bodyPr>
          <a:lstStyle/>
          <a:p>
            <a:pPr algn="ctr">
              <a:spcAft>
                <a:spcPts val="400"/>
              </a:spcAft>
            </a:pPr>
            <a:r>
              <a:rPr sz="1800" b="0">
                <a:solidFill>
                  <a:srgbClr val="1A1A1A"/>
                </a:solidFill>
                <a:latin typeface="Times New Roman"/>
              </a:rPr>
              <a:t>grup çalışmalarında etkili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017520" y="1645920"/>
            <a:ext cx="2331720" cy="2103120"/>
          </a:xfrm>
          <a:prstGeom prst="roundRect">
            <a:avLst>
              <a:gd name="adj" fmla="val 6000"/>
            </a:avLst>
          </a:prstGeom>
          <a:solidFill>
            <a:srgbClr val="E6F4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017520" y="1783080"/>
            <a:ext cx="2331720" cy="914400"/>
          </a:xfrm>
          <a:prstGeom prst="rect">
            <a:avLst/>
          </a:prstGeom>
          <a:noFill/>
        </p:spPr>
        <p:txBody>
          <a:bodyPr wrap="square" lIns="45720" rIns="45720" tIns="54864" bIns="54864" anchor="t">
            <a:noAutofit/>
          </a:bodyPr>
          <a:lstStyle/>
          <a:p>
            <a:pPr algn="ctr">
              <a:spcAft>
                <a:spcPts val="400"/>
              </a:spcAft>
            </a:pPr>
            <a:r>
              <a:rPr sz="4800" b="1">
                <a:solidFill>
                  <a:srgbClr val="1A1A1A"/>
                </a:solidFill>
                <a:latin typeface="Times New Roman"/>
              </a:rPr>
              <a:t>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108960" y="2743200"/>
            <a:ext cx="2148840" cy="914400"/>
          </a:xfrm>
          <a:prstGeom prst="rect">
            <a:avLst/>
          </a:prstGeom>
          <a:noFill/>
        </p:spPr>
        <p:txBody>
          <a:bodyPr wrap="square" lIns="45720" rIns="45720" tIns="54864" bIns="54864" anchor="t">
            <a:noAutofit/>
          </a:bodyPr>
          <a:lstStyle/>
          <a:p>
            <a:pPr algn="ctr">
              <a:spcAft>
                <a:spcPts val="400"/>
              </a:spcAft>
            </a:pPr>
            <a:r>
              <a:rPr sz="1800" b="0">
                <a:solidFill>
                  <a:srgbClr val="1A1A1A"/>
                </a:solidFill>
                <a:latin typeface="Times New Roman"/>
              </a:rPr>
              <a:t>grup çalışmalarında etkili değil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577840" y="1645920"/>
            <a:ext cx="2331720" cy="2103120"/>
          </a:xfrm>
          <a:prstGeom prst="roundRect">
            <a:avLst>
              <a:gd name="adj" fmla="val 6000"/>
            </a:avLst>
          </a:prstGeom>
          <a:solidFill>
            <a:srgbClr val="E6F4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577840" y="1783080"/>
            <a:ext cx="2331720" cy="914400"/>
          </a:xfrm>
          <a:prstGeom prst="rect">
            <a:avLst/>
          </a:prstGeom>
          <a:noFill/>
        </p:spPr>
        <p:txBody>
          <a:bodyPr wrap="square" lIns="45720" rIns="45720" tIns="54864" bIns="54864" anchor="t">
            <a:noAutofit/>
          </a:bodyPr>
          <a:lstStyle/>
          <a:p>
            <a:pPr algn="ctr">
              <a:spcAft>
                <a:spcPts val="400"/>
              </a:spcAft>
            </a:pPr>
            <a:r>
              <a:rPr sz="4800" b="1">
                <a:solidFill>
                  <a:srgbClr val="1E6B2A"/>
                </a:solidFill>
                <a:latin typeface="Times New Roman"/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79" y="2743200"/>
            <a:ext cx="2148840" cy="914400"/>
          </a:xfrm>
          <a:prstGeom prst="rect">
            <a:avLst/>
          </a:prstGeom>
          <a:noFill/>
        </p:spPr>
        <p:txBody>
          <a:bodyPr wrap="square" lIns="45720" rIns="45720" tIns="54864" bIns="54864" anchor="t">
            <a:noAutofit/>
          </a:bodyPr>
          <a:lstStyle/>
          <a:p>
            <a:pPr algn="ctr">
              <a:spcAft>
                <a:spcPts val="400"/>
              </a:spcAft>
            </a:pPr>
            <a:r>
              <a:rPr sz="1800" b="0">
                <a:solidFill>
                  <a:srgbClr val="1A1A1A"/>
                </a:solidFill>
                <a:latin typeface="Times New Roman"/>
              </a:rPr>
              <a:t>yorum yapamadı (deneyim yok)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3977639"/>
            <a:ext cx="3657600" cy="2194560"/>
          </a:xfrm>
          <a:prstGeom prst="roundRect">
            <a:avLst>
              <a:gd name="adj" fmla="val 5000"/>
            </a:avLst>
          </a:prstGeom>
          <a:solidFill>
            <a:srgbClr val="E6F4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57200" y="3977639"/>
            <a:ext cx="3657600" cy="566928"/>
          </a:xfrm>
          <a:prstGeom prst="roundRect">
            <a:avLst>
              <a:gd name="adj" fmla="val 25000"/>
            </a:avLst>
          </a:prstGeom>
          <a:solidFill>
            <a:srgbClr val="2E8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>
            <a:noAutofit/>
          </a:bodyPr>
          <a:lstStyle/>
          <a:p>
            <a:pPr algn="ctr"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Times New Roman"/>
              </a:rPr>
              <a:t>Etkili bulanlar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30352" y="4636007"/>
            <a:ext cx="3511296" cy="1463039"/>
          </a:xfrm>
          <a:prstGeom prst="rect">
            <a:avLst/>
          </a:prstGeom>
          <a:noFill/>
        </p:spPr>
        <p:txBody>
          <a:bodyPr wrap="square" lIns="54864" rIns="54864" tIns="54864" bIns="54864" anchor="t">
            <a:noAutofit/>
          </a:bodyPr>
          <a:lstStyle/>
          <a:p>
            <a:pPr algn="l">
              <a:spcAft>
                <a:spcPts val="400"/>
              </a:spcAft>
            </a:pPr>
            <a:r>
              <a:rPr sz="1800" b="0">
                <a:solidFill>
                  <a:srgbClr val="1A1A1A"/>
                </a:solidFill>
                <a:latin typeface="Times New Roman"/>
              </a:rPr>
              <a:t>•  Model alma ve gözlem</a:t>
            </a:r>
          </a:p>
          <a:p>
            <a:pPr algn="l">
              <a:spcAft>
                <a:spcPts val="400"/>
              </a:spcAft>
            </a:pPr>
            <a:r>
              <a:rPr sz="1800" b="0">
                <a:solidFill>
                  <a:srgbClr val="1A1A1A"/>
                </a:solidFill>
                <a:latin typeface="Times New Roman"/>
              </a:rPr>
              <a:t>•  Akran ortamında hızlı dönüt</a:t>
            </a:r>
          </a:p>
          <a:p>
            <a:pPr algn="l">
              <a:spcAft>
                <a:spcPts val="400"/>
              </a:spcAft>
            </a:pPr>
            <a:r>
              <a:rPr sz="1800" b="0">
                <a:solidFill>
                  <a:srgbClr val="1A1A1A"/>
                </a:solidFill>
                <a:latin typeface="Times New Roman"/>
              </a:rPr>
              <a:t>•  Genelleme imkânı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43400" y="3977639"/>
            <a:ext cx="3657600" cy="2194560"/>
          </a:xfrm>
          <a:prstGeom prst="roundRect">
            <a:avLst>
              <a:gd name="adj" fmla="val 5000"/>
            </a:avLst>
          </a:prstGeom>
          <a:solidFill>
            <a:srgbClr val="E6F4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4343400" y="3977639"/>
            <a:ext cx="3657600" cy="566928"/>
          </a:xfrm>
          <a:prstGeom prst="roundRect">
            <a:avLst>
              <a:gd name="adj" fmla="val 25000"/>
            </a:avLst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>
            <a:noAutofit/>
          </a:bodyPr>
          <a:lstStyle/>
          <a:p>
            <a:pPr algn="ctr"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Times New Roman"/>
              </a:rPr>
              <a:t>Etkili bulmayanlar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16552" y="4636007"/>
            <a:ext cx="3511296" cy="1463039"/>
          </a:xfrm>
          <a:prstGeom prst="rect">
            <a:avLst/>
          </a:prstGeom>
          <a:noFill/>
        </p:spPr>
        <p:txBody>
          <a:bodyPr wrap="square" lIns="54864" rIns="54864" tIns="54864" bIns="54864" anchor="t">
            <a:noAutofit/>
          </a:bodyPr>
          <a:lstStyle/>
          <a:p>
            <a:pPr algn="l">
              <a:spcAft>
                <a:spcPts val="400"/>
              </a:spcAft>
            </a:pPr>
            <a:r>
              <a:rPr sz="1800" b="0">
                <a:solidFill>
                  <a:srgbClr val="1A1A1A"/>
                </a:solidFill>
                <a:latin typeface="Times New Roman"/>
              </a:rPr>
              <a:t>•  Davranış değiştirme bireysel çalışılmalı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02176B-0E47-46AC-8F43-DAB4B8A37D06}" type="slidenum">
              <a:rPr lang="tr-TR" smtClean="0"/>
              <a:t>15</a:t>
            </a:fld>
            <a:endParaRPr lang="tr-TR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Times New Roman"/>
              </a:rPr>
              <a:t>Sonuç ve Tartışma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57200" y="1645920"/>
            <a:ext cx="2194560" cy="1325880"/>
          </a:xfrm>
          <a:prstGeom prst="roundRect">
            <a:avLst>
              <a:gd name="adj" fmla="val 10000"/>
            </a:avLst>
          </a:prstGeom>
          <a:solidFill>
            <a:srgbClr val="2E8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>
            <a:noAutofit/>
          </a:bodyPr>
          <a:lstStyle/>
          <a:p>
            <a:pPr algn="ctr"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Times New Roman"/>
              </a:rPr>
              <a:t>Olumlu tutum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2743200" y="1645920"/>
            <a:ext cx="5257800" cy="1325880"/>
          </a:xfrm>
          <a:prstGeom prst="roundRect">
            <a:avLst>
              <a:gd name="adj" fmla="val 7000"/>
            </a:avLst>
          </a:prstGeom>
          <a:solidFill>
            <a:srgbClr val="E6F4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>
            <a:noAutofit/>
          </a:bodyPr>
          <a:lstStyle/>
          <a:p>
            <a:pPr algn="l">
              <a:spcAft>
                <a:spcPts val="400"/>
              </a:spcAft>
            </a:pPr>
            <a:r>
              <a:rPr sz="1800" b="0">
                <a:solidFill>
                  <a:srgbClr val="1A1A1A"/>
                </a:solidFill>
                <a:latin typeface="Times New Roman"/>
              </a:rPr>
              <a:t>Öğretmenler UDA’ya olumlu yaklaşıyor, kendini yeterli görüyor ve UDA’ya dayalı uygulamaları aktif kullanıyor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3154680"/>
            <a:ext cx="2194560" cy="1325880"/>
          </a:xfrm>
          <a:prstGeom prst="roundRect">
            <a:avLst>
              <a:gd name="adj" fmla="val 10000"/>
            </a:avLst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>
            <a:noAutofit/>
          </a:bodyPr>
          <a:lstStyle/>
          <a:p>
            <a:pPr algn="ctr"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Times New Roman"/>
              </a:rPr>
              <a:t>Grup ve bireysel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43200" y="3154680"/>
            <a:ext cx="5257800" cy="1325880"/>
          </a:xfrm>
          <a:prstGeom prst="roundRect">
            <a:avLst>
              <a:gd name="adj" fmla="val 7000"/>
            </a:avLst>
          </a:prstGeom>
          <a:solidFill>
            <a:srgbClr val="E6F4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>
            <a:noAutofit/>
          </a:bodyPr>
          <a:lstStyle/>
          <a:p>
            <a:pPr algn="l">
              <a:spcAft>
                <a:spcPts val="400"/>
              </a:spcAft>
            </a:pPr>
            <a:r>
              <a:rPr sz="1800" b="0">
                <a:solidFill>
                  <a:srgbClr val="1A1A1A"/>
                </a:solidFill>
                <a:latin typeface="Times New Roman"/>
              </a:rPr>
              <a:t>Kalabalık sınıf, zaman sınırı ve uygulayıcı yeterliği nedeniyle grupta güç; bireysel öğretimde daha etkili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4663440"/>
            <a:ext cx="2194560" cy="1325880"/>
          </a:xfrm>
          <a:prstGeom prst="roundRect">
            <a:avLst>
              <a:gd name="adj" fmla="val 10000"/>
            </a:avLst>
          </a:prstGeom>
          <a:solidFill>
            <a:srgbClr val="2E8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>
            <a:noAutofit/>
          </a:bodyPr>
          <a:lstStyle/>
          <a:p>
            <a:pPr algn="ctr"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Times New Roman"/>
              </a:rPr>
              <a:t>Ortam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743200" y="4663440"/>
            <a:ext cx="5257800" cy="1325880"/>
          </a:xfrm>
          <a:prstGeom prst="roundRect">
            <a:avLst>
              <a:gd name="adj" fmla="val 7000"/>
            </a:avLst>
          </a:prstGeom>
          <a:solidFill>
            <a:srgbClr val="E6F4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>
            <a:noAutofit/>
          </a:bodyPr>
          <a:lstStyle/>
          <a:p>
            <a:pPr algn="l">
              <a:spcAft>
                <a:spcPts val="400"/>
              </a:spcAft>
            </a:pPr>
            <a:r>
              <a:rPr sz="1800" b="0">
                <a:solidFill>
                  <a:srgbClr val="1A1A1A"/>
                </a:solidFill>
                <a:latin typeface="Times New Roman"/>
              </a:rPr>
              <a:t>Özel eğitim sınıflarında uygulama daha sistematik; genel eğitimde destekleyici düzenleme gerekli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02176B-0E47-46AC-8F43-DAB4B8A37D06}" type="slidenum">
              <a:rPr lang="tr-TR" smtClean="0"/>
              <a:t>16</a:t>
            </a:fld>
            <a:endParaRPr lang="tr-TR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Times New Roman"/>
              </a:rPr>
              <a:t>Sonuç: Öne Çıkanlar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57200" y="1645920"/>
            <a:ext cx="3703320" cy="2103120"/>
          </a:xfrm>
          <a:prstGeom prst="roundRect">
            <a:avLst>
              <a:gd name="adj" fmla="val 6000"/>
            </a:avLst>
          </a:prstGeom>
          <a:solidFill>
            <a:srgbClr val="E6F4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640080" y="1828800"/>
            <a:ext cx="640080" cy="640080"/>
          </a:xfrm>
          <a:prstGeom prst="ellipse">
            <a:avLst/>
          </a:prstGeom>
          <a:solidFill>
            <a:srgbClr val="2E8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54864" bIns="54864">
            <a:no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Times New Roman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828800"/>
            <a:ext cx="2651760" cy="640080"/>
          </a:xfrm>
          <a:prstGeom prst="rect">
            <a:avLst/>
          </a:prstGeom>
          <a:noFill/>
        </p:spPr>
        <p:txBody>
          <a:bodyPr wrap="square" lIns="45720" rIns="45720" tIns="54864" bIns="54864" anchor="ctr">
            <a:noAutofit/>
          </a:bodyPr>
          <a:lstStyle/>
          <a:p>
            <a:pPr algn="l">
              <a:spcAft>
                <a:spcPts val="400"/>
              </a:spcAft>
            </a:pPr>
            <a:r>
              <a:rPr sz="2100" b="1">
                <a:solidFill>
                  <a:srgbClr val="1A1A1A"/>
                </a:solidFill>
                <a:latin typeface="Times New Roman"/>
              </a:rPr>
              <a:t>Gelişim alanları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606040"/>
            <a:ext cx="3383280" cy="1097280"/>
          </a:xfrm>
          <a:prstGeom prst="rect">
            <a:avLst/>
          </a:prstGeom>
          <a:noFill/>
        </p:spPr>
        <p:txBody>
          <a:bodyPr wrap="square" lIns="45720" rIns="45720" tIns="54864" bIns="54864" anchor="t">
            <a:noAutofit/>
          </a:bodyPr>
          <a:lstStyle/>
          <a:p>
            <a:pPr algn="l">
              <a:spcAft>
                <a:spcPts val="400"/>
              </a:spcAft>
            </a:pPr>
            <a:r>
              <a:rPr sz="1700" b="0">
                <a:solidFill>
                  <a:srgbClr val="1A1A1A"/>
                </a:solidFill>
                <a:latin typeface="Times New Roman"/>
              </a:rPr>
              <a:t>Sosyal beceri; sosyal gelişim, okula uyum, akademik ve öz bakım becerilerini destekliyor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297680" y="1645920"/>
            <a:ext cx="3703320" cy="2103120"/>
          </a:xfrm>
          <a:prstGeom prst="roundRect">
            <a:avLst>
              <a:gd name="adj" fmla="val 6000"/>
            </a:avLst>
          </a:prstGeom>
          <a:solidFill>
            <a:srgbClr val="E6F4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4480560" y="1828800"/>
            <a:ext cx="640080" cy="640080"/>
          </a:xfrm>
          <a:prstGeom prst="ellipse">
            <a:avLst/>
          </a:prstGeom>
          <a:solidFill>
            <a:srgbClr val="2E8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54864" bIns="54864">
            <a:no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Times New Roman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257800" y="1828800"/>
            <a:ext cx="2651760" cy="640080"/>
          </a:xfrm>
          <a:prstGeom prst="rect">
            <a:avLst/>
          </a:prstGeom>
          <a:noFill/>
        </p:spPr>
        <p:txBody>
          <a:bodyPr wrap="square" lIns="45720" rIns="45720" tIns="54864" bIns="54864" anchor="ctr">
            <a:noAutofit/>
          </a:bodyPr>
          <a:lstStyle/>
          <a:p>
            <a:pPr algn="l">
              <a:spcAft>
                <a:spcPts val="400"/>
              </a:spcAft>
            </a:pPr>
            <a:r>
              <a:rPr sz="2100" b="1">
                <a:solidFill>
                  <a:srgbClr val="1A1A1A"/>
                </a:solidFill>
                <a:latin typeface="Times New Roman"/>
              </a:rPr>
              <a:t>UDA dışı yöntemler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80560" y="2606040"/>
            <a:ext cx="3383280" cy="1097280"/>
          </a:xfrm>
          <a:prstGeom prst="rect">
            <a:avLst/>
          </a:prstGeom>
          <a:noFill/>
        </p:spPr>
        <p:txBody>
          <a:bodyPr wrap="square" lIns="45720" rIns="45720" tIns="54864" bIns="54864" anchor="t">
            <a:noAutofit/>
          </a:bodyPr>
          <a:lstStyle/>
          <a:p>
            <a:pPr algn="l">
              <a:spcAft>
                <a:spcPts val="400"/>
              </a:spcAft>
            </a:pPr>
            <a:r>
              <a:rPr sz="1700" b="0">
                <a:solidFill>
                  <a:srgbClr val="1A1A1A"/>
                </a:solidFill>
                <a:latin typeface="Times New Roman"/>
              </a:rPr>
              <a:t>Akran destekli öğretim, Erken Denver, öykü temelli öğretim, Floortime ve PECS tercih ediliyor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3931920"/>
            <a:ext cx="3703320" cy="2103120"/>
          </a:xfrm>
          <a:prstGeom prst="roundRect">
            <a:avLst>
              <a:gd name="adj" fmla="val 6000"/>
            </a:avLst>
          </a:prstGeom>
          <a:solidFill>
            <a:srgbClr val="E6F4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640080" y="4114800"/>
            <a:ext cx="640080" cy="640080"/>
          </a:xfrm>
          <a:prstGeom prst="ellipse">
            <a:avLst/>
          </a:prstGeom>
          <a:solidFill>
            <a:srgbClr val="2E8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54864" bIns="54864">
            <a:no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Times New Roman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17320" y="4114800"/>
            <a:ext cx="2651760" cy="640080"/>
          </a:xfrm>
          <a:prstGeom prst="rect">
            <a:avLst/>
          </a:prstGeom>
          <a:noFill/>
        </p:spPr>
        <p:txBody>
          <a:bodyPr wrap="square" lIns="45720" rIns="45720" tIns="54864" bIns="54864" anchor="ctr">
            <a:noAutofit/>
          </a:bodyPr>
          <a:lstStyle/>
          <a:p>
            <a:pPr algn="l">
              <a:spcAft>
                <a:spcPts val="400"/>
              </a:spcAft>
            </a:pPr>
            <a:r>
              <a:rPr sz="2100" b="1">
                <a:solidFill>
                  <a:srgbClr val="1A1A1A"/>
                </a:solidFill>
                <a:latin typeface="Times New Roman"/>
              </a:rPr>
              <a:t>Alanyazınla uyum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4892040"/>
            <a:ext cx="3383280" cy="1097280"/>
          </a:xfrm>
          <a:prstGeom prst="rect">
            <a:avLst/>
          </a:prstGeom>
          <a:noFill/>
        </p:spPr>
        <p:txBody>
          <a:bodyPr wrap="square" lIns="45720" rIns="45720" tIns="54864" bIns="54864" anchor="t">
            <a:noAutofit/>
          </a:bodyPr>
          <a:lstStyle/>
          <a:p>
            <a:pPr algn="l">
              <a:spcAft>
                <a:spcPts val="400"/>
              </a:spcAft>
            </a:pPr>
            <a:r>
              <a:rPr sz="1700" b="0">
                <a:solidFill>
                  <a:srgbClr val="1A1A1A"/>
                </a:solidFill>
                <a:latin typeface="Times New Roman"/>
              </a:rPr>
              <a:t>Bulgular Cooper vd. (2019), İftar (2023) ve Karaaslan ve Kutlu (2010) ile tutarlı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297680" y="3931920"/>
            <a:ext cx="3703320" cy="2103120"/>
          </a:xfrm>
          <a:prstGeom prst="roundRect">
            <a:avLst>
              <a:gd name="adj" fmla="val 6000"/>
            </a:avLst>
          </a:prstGeom>
          <a:solidFill>
            <a:srgbClr val="E6F4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4480560" y="4114800"/>
            <a:ext cx="640080" cy="640080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54864" bIns="54864">
            <a:no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Times New Roman"/>
              </a:rPr>
              <a:t>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257800" y="4114800"/>
            <a:ext cx="2651760" cy="640080"/>
          </a:xfrm>
          <a:prstGeom prst="rect">
            <a:avLst/>
          </a:prstGeom>
          <a:noFill/>
        </p:spPr>
        <p:txBody>
          <a:bodyPr wrap="square" lIns="45720" rIns="45720" tIns="54864" bIns="54864" anchor="ctr">
            <a:noAutofit/>
          </a:bodyPr>
          <a:lstStyle/>
          <a:p>
            <a:pPr algn="l">
              <a:spcAft>
                <a:spcPts val="400"/>
              </a:spcAft>
            </a:pPr>
            <a:r>
              <a:rPr sz="2100" b="1">
                <a:solidFill>
                  <a:srgbClr val="1A1A1A"/>
                </a:solidFill>
                <a:latin typeface="Times New Roman"/>
              </a:rPr>
              <a:t>Bütüncül bakış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80560" y="4892040"/>
            <a:ext cx="3383280" cy="1097280"/>
          </a:xfrm>
          <a:prstGeom prst="rect">
            <a:avLst/>
          </a:prstGeom>
          <a:noFill/>
        </p:spPr>
        <p:txBody>
          <a:bodyPr wrap="square" lIns="45720" rIns="45720" tIns="54864" bIns="54864" anchor="t">
            <a:noAutofit/>
          </a:bodyPr>
          <a:lstStyle/>
          <a:p>
            <a:pPr algn="l">
              <a:spcAft>
                <a:spcPts val="400"/>
              </a:spcAft>
            </a:pPr>
            <a:r>
              <a:rPr sz="1700" b="0">
                <a:solidFill>
                  <a:srgbClr val="1A1A1A"/>
                </a:solidFill>
                <a:latin typeface="Times New Roman"/>
              </a:rPr>
              <a:t>Etkileşim, görsel destek, oyun ve alternatif iletişim yöntemleri UDA’yı tamamlıyor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02176B-0E47-46AC-8F43-DAB4B8A37D06}" type="slidenum">
              <a:rPr lang="tr-TR" smtClean="0"/>
              <a:t>17</a:t>
            </a:fld>
            <a:endParaRPr lang="tr-TR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Times New Roman"/>
              </a:rPr>
              <a:t>Kaynakça (1/4)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>
            <a:noAutofit/>
          </a:bodyPr>
          <a:lstStyle/>
          <a:p>
            <a:pPr marL="228600" indent="-228600">
              <a:spcAft>
                <a:spcPts val="500"/>
              </a:spcAft>
              <a:buNone/>
            </a:pPr>
            <a:r>
              <a:rPr sz="1300" b="0">
                <a:latin typeface="Times New Roman"/>
              </a:rPr>
              <a:t>Akçamete, G. (1998). Özel eğitime giriş. Kök Yayıncılık.</a:t>
            </a:r>
          </a:p>
          <a:p>
            <a:pPr marL="228600" indent="-228600">
              <a:spcAft>
                <a:spcPts val="500"/>
              </a:spcAft>
              <a:buNone/>
            </a:pPr>
            <a:r>
              <a:rPr sz="1300" b="0">
                <a:latin typeface="Times New Roman"/>
              </a:rPr>
              <a:t>Akçamete, G. (2019). Özel gereksinimli olan bireyler. Ü. Şahbaz (Ed.), Özel eğitim ve kaynaştırma (2. bs., ss. 2–31). Anı Yayıncılık.</a:t>
            </a:r>
          </a:p>
          <a:p>
            <a:pPr marL="228600" indent="-228600">
              <a:spcAft>
                <a:spcPts val="500"/>
              </a:spcAft>
              <a:buNone/>
            </a:pPr>
            <a:r>
              <a:rPr sz="1300" b="0">
                <a:latin typeface="Times New Roman"/>
              </a:rPr>
              <a:t>Ataman, A. (Ed.). (2012). Temel eğitim öğretmenleri için kaynaştırma uygulamaları ve özel eğitim. Vize Yayıncılık.</a:t>
            </a:r>
          </a:p>
          <a:p>
            <a:pPr marL="228600" indent="-228600">
              <a:spcAft>
                <a:spcPts val="500"/>
              </a:spcAft>
              <a:buNone/>
            </a:pPr>
            <a:r>
              <a:rPr sz="1300" b="0">
                <a:latin typeface="Times New Roman"/>
              </a:rPr>
              <a:t>Aziz, A. (2011). Sosyal bilimlerde araştırma yöntemleri ve teknikleri (6. bs.). Nobel Akademik Yayıncılık.</a:t>
            </a:r>
          </a:p>
          <a:p>
            <a:pPr marL="228600" indent="-228600">
              <a:spcAft>
                <a:spcPts val="500"/>
              </a:spcAft>
              <a:buNone/>
            </a:pPr>
            <a:r>
              <a:rPr sz="1300" b="0">
                <a:latin typeface="Times New Roman"/>
              </a:rPr>
              <a:t>Bateman, B. D., &amp; Linden, M. (1998). Better IEPs: How to develop legally correct and educationally useful programs. Attainment Company.</a:t>
            </a:r>
          </a:p>
          <a:p>
            <a:pPr marL="228600" indent="-228600">
              <a:spcAft>
                <a:spcPts val="500"/>
              </a:spcAft>
              <a:buNone/>
            </a:pPr>
            <a:r>
              <a:rPr sz="1300" b="0">
                <a:latin typeface="Times New Roman"/>
              </a:rPr>
              <a:t>Boyraz, B. (2016). Otizimli çocuklara kurallı oyunların öğretiminde aşamalı yardımla öğretim yönteminin etkililiği (Yüksek lisans tezi). Marmara Üniversitesi, Eğitim Bilimleri Enstitüsü.</a:t>
            </a:r>
          </a:p>
          <a:p>
            <a:pPr marL="228600" indent="-228600">
              <a:spcAft>
                <a:spcPts val="500"/>
              </a:spcAft>
              <a:buNone/>
            </a:pPr>
            <a:r>
              <a:rPr sz="1300" b="0">
                <a:latin typeface="Times New Roman"/>
              </a:rPr>
              <a:t>Du, G., Guo, Y., &amp; Xu, W. (2024). Effectiveness of applied behavior analysis program training on emotional-social skills of children with autism. BMC Psychology, 12(1), 568. https://doi.org/10.1186/s40359-024-02045-5</a:t>
            </a:r>
          </a:p>
          <a:p>
            <a:pPr marL="228600" indent="-228600">
              <a:spcAft>
                <a:spcPts val="500"/>
              </a:spcAft>
              <a:buNone/>
            </a:pPr>
            <a:r>
              <a:rPr sz="1300" b="0">
                <a:latin typeface="Times New Roman"/>
              </a:rPr>
              <a:t>Cleveland Clinic. (2023). Applied behavior analysis. https://my.clevelandclinic.org/health/treatments/25197-applied-behavior-analysis</a:t>
            </a:r>
          </a:p>
          <a:p>
            <a:pPr marL="228600" indent="-228600">
              <a:spcAft>
                <a:spcPts val="500"/>
              </a:spcAft>
              <a:buNone/>
            </a:pPr>
            <a:r>
              <a:rPr sz="1300" b="0">
                <a:latin typeface="Times New Roman"/>
              </a:rPr>
              <a:t>Cooper, J. O., Heron, T. E., &amp; Heward, W. L. (2007). Applied behavior analysis (2nd ed.). Pearson Prentice Hall.</a:t>
            </a:r>
          </a:p>
          <a:p>
            <a:pPr marL="228600" indent="-228600">
              <a:spcAft>
                <a:spcPts val="500"/>
              </a:spcAft>
              <a:buNone/>
            </a:pPr>
            <a:r>
              <a:rPr sz="1300" b="0">
                <a:latin typeface="Times New Roman"/>
              </a:rPr>
              <a:t>Creswell, J. W. (2021). Nitel araştırma yöntemleri: Beş yaklaşıma göre nitel araştırma ve araştırma deseni (M. Bütün &amp; S. B. Demir, Çev.). Siyasal Kitabevi.</a:t>
            </a:r>
          </a:p>
          <a:p>
            <a:pPr marL="228600" indent="-228600">
              <a:spcAft>
                <a:spcPts val="500"/>
              </a:spcAft>
              <a:buNone/>
            </a:pPr>
            <a:r>
              <a:rPr sz="1300" b="0">
                <a:latin typeface="Times New Roman"/>
              </a:rPr>
              <a:t>Çağlar, D. (1998). Türkiye’de özel eğitimin tarihçesi. Cumhuriyet’in 75. Yılında İlköğretim 1. Ulusal Sempozyumu Bildirileri (ss. 1–15). Öğretmen Hüseyin Hüsnü Tekışık Eğitim Araştırma Geliştirme Merkezi.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02176B-0E47-46AC-8F43-DAB4B8A37D06}" type="slidenum">
              <a:rPr lang="tr-TR" smtClean="0"/>
              <a:t>18</a:t>
            </a:fld>
            <a:endParaRPr lang="tr-TR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Times New Roman"/>
              </a:rPr>
              <a:t>Kaynakça (2/4)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>
            <a:noAutofit/>
          </a:bodyPr>
          <a:lstStyle/>
          <a:p>
            <a:pPr marL="228600" indent="-228600">
              <a:spcAft>
                <a:spcPts val="500"/>
              </a:spcAft>
              <a:buNone/>
            </a:pPr>
            <a:r>
              <a:rPr sz="1300" b="0">
                <a:latin typeface="Times New Roman"/>
              </a:rPr>
              <a:t>Çifci-Tekinarslan, İ., Arı, A., Bozak, B., Çay, E., &amp; Çiçek, M. (2018). Özel eğitim öğretmen adaylarının bilimsel dayanaklı uygulamalar hakkındaki görüşleri. Journal of Human Sciences, 15(3), 1756–1772.</a:t>
            </a:r>
          </a:p>
          <a:p>
            <a:pPr marL="228600" indent="-228600">
              <a:spcAft>
                <a:spcPts val="500"/>
              </a:spcAft>
              <a:buNone/>
            </a:pPr>
            <a:r>
              <a:rPr sz="1300" b="0">
                <a:latin typeface="Times New Roman"/>
              </a:rPr>
              <a:t>Çitil, M. (2012). Yasalar ve özel eğitim. Vize Yayıncılık.</a:t>
            </a:r>
          </a:p>
          <a:p>
            <a:pPr marL="228600" indent="-228600">
              <a:spcAft>
                <a:spcPts val="500"/>
              </a:spcAft>
              <a:buNone/>
            </a:pPr>
            <a:r>
              <a:rPr sz="1300" b="0">
                <a:latin typeface="Times New Roman"/>
              </a:rPr>
              <a:t>Demir, Z. (2017). Özel gereksinimli bireylerde eğitim modelleri ve uygulamaları (Doktora tezi). Anadolu Üniversitesi.</a:t>
            </a:r>
          </a:p>
          <a:p>
            <a:pPr marL="228600" indent="-228600">
              <a:spcAft>
                <a:spcPts val="500"/>
              </a:spcAft>
              <a:buNone/>
            </a:pPr>
            <a:r>
              <a:rPr sz="1300" b="0">
                <a:latin typeface="Times New Roman"/>
              </a:rPr>
              <a:t>Eikeseth, S., Klintwall, L., Jahr, E., &amp; Karlsson, P. (2012). Outcome for children with autism receiving early and intensive behavioral intervention in mainstream preschool and kindergarten settings. Research in Autism Spectrum Disorders, 6(2), 829–835.</a:t>
            </a:r>
          </a:p>
          <a:p>
            <a:pPr marL="228600" indent="-228600">
              <a:spcAft>
                <a:spcPts val="500"/>
              </a:spcAft>
              <a:buNone/>
            </a:pPr>
            <a:r>
              <a:rPr sz="1300" b="0">
                <a:latin typeface="Times New Roman"/>
              </a:rPr>
              <a:t>Ergül, C., Baydık, C., &amp; Demir, Ş. (2013). Özel eğitim öğretmen adaylarının ve öğretmenlerinin yeterliklerine ilişkin görüşleri. Kuram ve Uygulamada Eğitim Bilimleri, 13(1), 499–522.</a:t>
            </a:r>
          </a:p>
          <a:p>
            <a:pPr marL="228600" indent="-228600">
              <a:spcAft>
                <a:spcPts val="500"/>
              </a:spcAft>
              <a:buNone/>
            </a:pPr>
            <a:r>
              <a:rPr sz="1300" b="0">
                <a:latin typeface="Times New Roman"/>
              </a:rPr>
              <a:t>Fombonne, E. (2018). The rising prevalence of autism. Journal of Child Psychology and Psychiatry, 59(7), 717–720.</a:t>
            </a:r>
          </a:p>
          <a:p>
            <a:pPr marL="228600" indent="-228600">
              <a:spcAft>
                <a:spcPts val="500"/>
              </a:spcAft>
              <a:buNone/>
            </a:pPr>
            <a:r>
              <a:rPr sz="1300" b="0">
                <a:latin typeface="Times New Roman"/>
              </a:rPr>
              <a:t>Fryling, M. J. (2013). Theory, philosophy, and the practice of applied behavior analysis. European Journal of Behavior Analysis, 14(1), 45–54.</a:t>
            </a:r>
          </a:p>
          <a:p>
            <a:pPr marL="228600" indent="-228600">
              <a:spcAft>
                <a:spcPts val="500"/>
              </a:spcAft>
              <a:buNone/>
            </a:pPr>
            <a:r>
              <a:rPr sz="1300" b="0">
                <a:latin typeface="Times New Roman"/>
              </a:rPr>
              <a:t>Güleç-Aslan, Y. (2017). Otizm spektrum bozukluğu olan çocuklarla çalışan eğitimcilerin ABA algıları. Hacettepe Üniversitesi Eğitim Bilimleri Dergisi, 32, 1013–1032.</a:t>
            </a:r>
          </a:p>
          <a:p>
            <a:pPr marL="228600" indent="-228600">
              <a:spcAft>
                <a:spcPts val="500"/>
              </a:spcAft>
              <a:buNone/>
            </a:pPr>
            <a:r>
              <a:rPr sz="1300" b="0">
                <a:latin typeface="Times New Roman"/>
              </a:rPr>
              <a:t>Güner Yıldız, N., Akın, E., &amp; Okatan, İ. (2020). Opinions of school counselors about problem behaviors and applied behavior analysis. Journal of Kırşehir Education Faculty.</a:t>
            </a:r>
          </a:p>
          <a:p>
            <a:pPr marL="228600" indent="-228600">
              <a:spcAft>
                <a:spcPts val="500"/>
              </a:spcAft>
              <a:buNone/>
            </a:pPr>
            <a:r>
              <a:rPr sz="1300" b="0">
                <a:latin typeface="Times New Roman"/>
              </a:rPr>
              <a:t>Kabasakal, Z., &amp; Çelik, N. (2010). Sosyal beceri eğitiminin ilköğretim öğrencilerine etkisi. İlköğretim Online, 9(1), 203–212.</a:t>
            </a:r>
          </a:p>
          <a:p>
            <a:pPr marL="228600" indent="-228600">
              <a:spcAft>
                <a:spcPts val="500"/>
              </a:spcAft>
              <a:buNone/>
            </a:pPr>
            <a:r>
              <a:rPr sz="1300" b="0">
                <a:latin typeface="Times New Roman"/>
              </a:rPr>
              <a:t>Karaaslan, Ö., &amp; Kutlu, M. (2010). OSB’li çocuklarda sosyal öykü kullanımı. Çukurova Üniversitesi Sosyal Bilimler Enstitüsü Dergisi, 19(2), 1–17.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02176B-0E47-46AC-8F43-DAB4B8A37D06}" type="slidenum">
              <a:rPr lang="tr-TR" smtClean="0"/>
              <a:t>19</a:t>
            </a:fld>
            <a:endParaRPr lang="tr-TR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Times New Roman"/>
              </a:rPr>
              <a:t>Kaynakça (3/4)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>
            <a:noAutofit/>
          </a:bodyPr>
          <a:lstStyle/>
          <a:p>
            <a:pPr marL="228600" indent="-228600">
              <a:spcAft>
                <a:spcPts val="500"/>
              </a:spcAft>
              <a:buNone/>
            </a:pPr>
            <a:r>
              <a:rPr sz="1300" b="0">
                <a:latin typeface="Times New Roman"/>
              </a:rPr>
              <a:t>Kirk, S. A., &amp; Gallagher, J. J. (1989). Educating exceptional children. Houghton Mifflin.</a:t>
            </a:r>
          </a:p>
          <a:p>
            <a:pPr marL="228600" indent="-228600">
              <a:spcAft>
                <a:spcPts val="500"/>
              </a:spcAft>
              <a:buNone/>
            </a:pPr>
            <a:r>
              <a:rPr sz="1300" b="0">
                <a:latin typeface="Times New Roman"/>
              </a:rPr>
              <a:t>Kuzu, A. (2011). Veri toplama yöntem ve araçları. S. D. Erişti &amp; A. A. Kurt (Ed.), Bilimsel araştırma yöntemleri (ss. 95–117). Anadolu Üniversitesi Yayınları.</a:t>
            </a:r>
          </a:p>
          <a:p>
            <a:pPr marL="228600" indent="-228600">
              <a:spcAft>
                <a:spcPts val="500"/>
              </a:spcAft>
              <a:buNone/>
            </a:pPr>
            <a:r>
              <a:rPr sz="1300" b="0">
                <a:latin typeface="Times New Roman"/>
              </a:rPr>
              <a:t>Kırcaali-İftar, G. (1992). Kaynaştırma becerileri öz değerlendirme aracı. Anadolu Üniversitesi Eğitim Fakültesi Dergisi, 5, 119–129.</a:t>
            </a:r>
          </a:p>
          <a:p>
            <a:pPr marL="228600" indent="-228600">
              <a:spcAft>
                <a:spcPts val="500"/>
              </a:spcAft>
              <a:buNone/>
            </a:pPr>
            <a:r>
              <a:rPr sz="1300" b="0">
                <a:latin typeface="Times New Roman"/>
              </a:rPr>
              <a:t>Lovaas, O. I. (1987). Behavioral treatment and normal educational and intellectual functioning in young autistic children. Journal of Consulting and Clinical Psychology, 55(1), 3–9. https://doi.org/10.1037/0022-006X.55.1.3</a:t>
            </a:r>
          </a:p>
          <a:p>
            <a:pPr marL="228600" indent="-228600">
              <a:spcAft>
                <a:spcPts val="500"/>
              </a:spcAft>
              <a:buNone/>
            </a:pPr>
            <a:r>
              <a:rPr sz="1300" b="0">
                <a:latin typeface="Times New Roman"/>
              </a:rPr>
              <a:t>McConnell, S. R. (2002). Interventions to facilitate social interaction for young children with autism. Journal of Autism and Developmental Disorders, 32(5), 351–372.</a:t>
            </a:r>
          </a:p>
          <a:p>
            <a:pPr marL="228600" indent="-228600">
              <a:spcAft>
                <a:spcPts val="500"/>
              </a:spcAft>
              <a:buNone/>
            </a:pPr>
            <a:r>
              <a:rPr sz="1300" b="0">
                <a:latin typeface="Times New Roman"/>
              </a:rPr>
              <a:t>Meral, B. F. (2017). OSB’li çocuklarda beslenme problemleri. Ankara Üniversitesi Eğitim Bilimleri Fakültesi Özel Eğitim Dergisi, 18(3), 493–508.</a:t>
            </a:r>
          </a:p>
          <a:p>
            <a:pPr marL="228600" indent="-228600">
              <a:spcAft>
                <a:spcPts val="500"/>
              </a:spcAft>
              <a:buNone/>
            </a:pPr>
            <a:r>
              <a:rPr sz="1300" b="0">
                <a:latin typeface="Times New Roman"/>
              </a:rPr>
              <a:t>Mesibov, G. B., &amp; Shea, V. (2011). The TEACCH program in the era of evidence-based practice. Journal of Autism and Developmental Disorders, 41(5), 589–593.</a:t>
            </a:r>
          </a:p>
          <a:p>
            <a:pPr marL="228600" indent="-228600">
              <a:spcAft>
                <a:spcPts val="500"/>
              </a:spcAft>
              <a:buNone/>
            </a:pPr>
            <a:r>
              <a:rPr sz="1300" b="0">
                <a:latin typeface="Times New Roman"/>
              </a:rPr>
              <a:t>Milli Eğitim Bakanlığı. (2018). Özel eğitim hizmetleri yönetmeliği.</a:t>
            </a:r>
          </a:p>
          <a:p>
            <a:pPr marL="228600" indent="-228600">
              <a:spcAft>
                <a:spcPts val="500"/>
              </a:spcAft>
              <a:buNone/>
            </a:pPr>
            <a:r>
              <a:rPr sz="1300" b="0">
                <a:latin typeface="Times New Roman"/>
              </a:rPr>
              <a:t>Newcomb, E. T., &amp; Hagopian, L. P. (2018). Treatment of severe problem behaviour in children with ASD. International Review of Psychiatry, 30(1), 96–109.</a:t>
            </a:r>
          </a:p>
          <a:p>
            <a:pPr marL="228600" indent="-228600">
              <a:spcAft>
                <a:spcPts val="500"/>
              </a:spcAft>
              <a:buNone/>
            </a:pPr>
            <a:r>
              <a:rPr sz="1300" b="0">
                <a:latin typeface="Times New Roman"/>
              </a:rPr>
              <a:t>Özsoy, Y., Özyürek, M., &amp; Eripek, S. (2002). Özel eğitime muhtaç çocuklar: Özel eğitime giriş. Karatepe Yayınları.</a:t>
            </a:r>
          </a:p>
          <a:p>
            <a:pPr marL="228600" indent="-228600">
              <a:spcAft>
                <a:spcPts val="500"/>
              </a:spcAft>
              <a:buNone/>
            </a:pPr>
            <a:r>
              <a:rPr sz="1300" b="0">
                <a:latin typeface="Times New Roman"/>
              </a:rPr>
              <a:t>Rakap, S., Birkan, B., &amp; Kalkan, S. (2017). Türkiye’de otizm spektrum bozukluğu ve özel eğitim. S. Rakap (Ed.), Sivil Düşün AB Programı Raporu.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02176B-0E47-46AC-8F43-DAB4B8A37D06}" type="slidenum">
              <a:rPr lang="tr-TR" smtClean="0"/>
              <a:t>20</a:t>
            </a:fld>
            <a:endParaRPr lang="tr-TR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Times New Roman"/>
              </a:rPr>
              <a:t>Kaynakça (4/4)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>
            <a:noAutofit/>
          </a:bodyPr>
          <a:lstStyle/>
          <a:p>
            <a:pPr marL="228600" indent="-228600">
              <a:spcAft>
                <a:spcPts val="500"/>
              </a:spcAft>
              <a:buNone/>
            </a:pPr>
            <a:r>
              <a:rPr sz="1300" b="0">
                <a:latin typeface="Times New Roman"/>
              </a:rPr>
              <a:t>Rutherford, R., Mathur, B., Sarup, J., Quinn, R., &amp; Mary, M. (1998). Promoting social communication skills. Education and Treatment of Children, 21(3), 354–369.</a:t>
            </a:r>
          </a:p>
          <a:p>
            <a:pPr marL="228600" indent="-228600">
              <a:spcAft>
                <a:spcPts val="500"/>
              </a:spcAft>
              <a:buNone/>
            </a:pPr>
            <a:r>
              <a:rPr sz="1300" b="0">
                <a:latin typeface="Times New Roman"/>
              </a:rPr>
              <a:t>Short, C. (2006). Social skills training to increase self-concept in children with ADHD (Master’s thesis). ProQuest Dissertations.</a:t>
            </a:r>
          </a:p>
          <a:p>
            <a:pPr marL="228600" indent="-228600">
              <a:spcAft>
                <a:spcPts val="500"/>
              </a:spcAft>
              <a:buNone/>
            </a:pPr>
            <a:r>
              <a:rPr sz="1300" b="0">
                <a:latin typeface="Times New Roman"/>
              </a:rPr>
              <a:t>Smith, D. D. (2007). Introduction to special education: Making a difference. Pearson Education.</a:t>
            </a:r>
          </a:p>
          <a:p>
            <a:pPr marL="228600" indent="-228600">
              <a:spcAft>
                <a:spcPts val="500"/>
              </a:spcAft>
              <a:buNone/>
            </a:pPr>
            <a:r>
              <a:rPr sz="1300" b="0">
                <a:latin typeface="Times New Roman"/>
              </a:rPr>
              <a:t>Sucuoğlu, B., Diken, İ. H., Demir, Ş., Ünlü, E., &amp; Şen, A. (2010). Özel eğitim terimler sözlüğü. Maya Akademi.</a:t>
            </a:r>
          </a:p>
          <a:p>
            <a:pPr marL="228600" indent="-228600">
              <a:spcAft>
                <a:spcPts val="500"/>
              </a:spcAft>
              <a:buNone/>
            </a:pPr>
            <a:r>
              <a:rPr sz="1300" b="0">
                <a:latin typeface="Times New Roman"/>
              </a:rPr>
              <a:t>Tekin-İftar, E. (2014). Uygulamalı davranış analizi. Vize Yayıncılık.</a:t>
            </a:r>
          </a:p>
          <a:p>
            <a:pPr marL="228600" indent="-228600">
              <a:spcAft>
                <a:spcPts val="500"/>
              </a:spcAft>
              <a:buNone/>
            </a:pPr>
            <a:r>
              <a:rPr sz="1300" b="0">
                <a:latin typeface="Times New Roman"/>
              </a:rPr>
              <a:t>Ünlü, E. (2012). ADÖSEP’in etkililiği (Doktora tezi). Anadolu Üniversitesi.</a:t>
            </a:r>
          </a:p>
          <a:p>
            <a:pPr marL="228600" indent="-228600">
              <a:spcAft>
                <a:spcPts val="500"/>
              </a:spcAft>
              <a:buNone/>
            </a:pPr>
            <a:r>
              <a:rPr sz="1300" b="0">
                <a:latin typeface="Times New Roman"/>
              </a:rPr>
              <a:t>Yıldırım, A., &amp; Şimşek, H. (2021). Sosyal bilimlerde nitel araştırma yöntemleri. Seçkin Yayıncılık.</a:t>
            </a:r>
          </a:p>
          <a:p>
            <a:pPr marL="228600" indent="-228600">
              <a:spcAft>
                <a:spcPts val="500"/>
              </a:spcAft>
              <a:buNone/>
            </a:pPr>
            <a:r>
              <a:rPr sz="1300" b="0">
                <a:latin typeface="Times New Roman"/>
              </a:rPr>
              <a:t>Yılmaz, A. (2010). Türkiye’de özel eğitim uygulamaları ve sorunları (Yüksek lisans tezi). Hacettepe Üniversitesi.</a:t>
            </a:r>
          </a:p>
          <a:p>
            <a:pPr marL="228600" indent="-228600">
              <a:spcAft>
                <a:spcPts val="500"/>
              </a:spcAft>
              <a:buNone/>
            </a:pPr>
            <a:r>
              <a:rPr sz="1300" b="0">
                <a:latin typeface="Times New Roman"/>
              </a:rPr>
              <a:t>Yi, Z., &amp; Dixon, M. R. (2020). Increasing adherence to telehealth ABA parent training. Behavior Analysis in Practice, 14(1), 58–74.</a:t>
            </a:r>
          </a:p>
          <a:p>
            <a:pPr marL="228600" indent="-228600">
              <a:spcAft>
                <a:spcPts val="500"/>
              </a:spcAft>
              <a:buNone/>
            </a:pPr>
            <a:r>
              <a:rPr sz="1300" b="0">
                <a:latin typeface="Times New Roman"/>
              </a:rPr>
              <a:t>Yüksel, G. (1999). Sosyal beceri eğitiminin üniversite öğrencilerine etkisi. Türk Psikolojik Danışma ve Rehberlik Dergisi, 2, 37–45.</a:t>
            </a:r>
          </a:p>
          <a:p>
            <a:pPr marL="228600" indent="-228600">
              <a:spcAft>
                <a:spcPts val="500"/>
              </a:spcAft>
              <a:buNone/>
            </a:pPr>
            <a:r>
              <a:rPr sz="1300" b="0">
                <a:latin typeface="Times New Roman"/>
              </a:rPr>
              <a:t>Whalon, K. J., Al Otaiba, S., &amp; Delano, M. E. (2009). Evidence-based reading instruction for individuals with ASD. Focus on Autism and Other Developmental Disabilities, 24(1), 3–16.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02176B-0E47-46AC-8F43-DAB4B8A37D06}" type="slidenum">
              <a:rPr lang="tr-TR" smtClean="0"/>
              <a:t>21</a:t>
            </a:fld>
            <a:endParaRPr lang="tr-TR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sz="2400" b="0">
                <a:latin typeface="Times New Roman"/>
              </a:rPr>
              <a:t>HAZIRLAYAN :</a:t>
            </a:r>
          </a:p>
          <a:p/>
          <a:p>
            <a:r>
              <a:rPr sz="2400" b="0">
                <a:latin typeface="Times New Roman"/>
              </a:rPr>
              <a:t/>
            </a:r>
          </a:p>
          <a:p>
            <a:r>
              <a:rPr sz="2400" b="0">
                <a:latin typeface="Times New Roman"/>
              </a:rPr>
              <a:t/>
            </a:r>
          </a:p>
          <a:p>
            <a:r>
              <a:rPr sz="2400" b="0">
                <a:latin typeface="Times New Roman"/>
              </a:rPr>
              <a:t>ÖZET MAKALE (TÜRKÇE)</a:t>
            </a:r>
          </a:p>
          <a:p/>
          <a:p>
            <a:r>
              <a:rPr sz="2400" b="1">
                <a:latin typeface="Times New Roman"/>
              </a:rPr>
              <a:t>Engelsiz Yaşam ve Toplum Dergisi, 2025, 9 (1)</a:t>
            </a:r>
          </a:p>
          <a:p>
            <a:r>
              <a:rPr sz="2400" b="1">
                <a:latin typeface="Times New Roman"/>
              </a:rPr>
              <a:t>İstanbul / Türkiye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02176B-0E47-46AC-8F43-DAB4B8A37D06}" type="slidenum">
              <a:rPr lang="tr-TR" smtClean="0"/>
              <a:t>22</a:t>
            </a:fld>
            <a:endParaRPr lang="tr-TR"/>
          </a:p>
        </p:txBody>
      </p:sp>
      <p:sp>
        <p:nvSpPr>
          <p:cNvPr id="7" name="Rounded Rectangle 6">
            <a:hlinkClick r:id="rId2"/>
          </p:cNvPr>
          <p:cNvSpPr/>
          <p:nvPr/>
        </p:nvSpPr>
        <p:spPr>
          <a:xfrm>
            <a:off x="457200" y="5257800"/>
            <a:ext cx="7543800" cy="1097280"/>
          </a:xfrm>
          <a:prstGeom prst="roundRect">
            <a:avLst>
              <a:gd name="adj" fmla="val 20000"/>
            </a:avLst>
          </a:prstGeom>
          <a:solidFill>
            <a:srgbClr val="E6F4E8"/>
          </a:solidFill>
          <a:ln w="38100">
            <a:solidFill>
              <a:srgbClr val="2E8B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200" b="1">
                <a:solidFill>
                  <a:srgbClr val="000000"/>
                </a:solidFill>
                <a:latin typeface="Times New Roman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Makalenin tamamına buradan ulaşabilirsiniz</a:t>
            </a:r>
          </a:p>
          <a:p>
            <a:pPr algn="ctr"/>
            <a:r>
              <a:rPr sz="1600" b="0">
                <a:solidFill>
                  <a:srgbClr val="000000"/>
                </a:solidFill>
                <a:latin typeface="Times New Roman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Makaleyi açmak için tıklayın  ›</a:t>
            </a:r>
          </a:p>
          <a:p>
            <a:pPr algn="ctr"/>
            <a:r>
              <a:rPr sz="1300" b="0">
                <a:solidFill>
                  <a:srgbClr val="000000"/>
                </a:solidFill>
                <a:latin typeface="Times New Roman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https://baflas.penpublishing.net/makale/8774</a:t>
            </a:r>
          </a:p>
        </p:txBody>
      </p:sp>
    </p:spTree>
  </p:cSld>
  <p:clrMapOvr>
    <a:masterClrMapping/>
  </p:clrMapOvr>
</p:sld>
</file>

<file path=ppt/theme/_rels/theme1.xml.rels><?xml version='1.0' encoding='UTF-8' standalone='yes'?>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Bitişiklik">
  <a:themeElements>
    <a:clrScheme name="Bitişiklik">
      <a:dk1>
        <a:srgbClr val="2F2B20"/>
      </a:dk1>
      <a:lt1>
        <a:srgbClr val="FFFFFF"/>
      </a:lt1>
      <a:dk2>
        <a:srgbClr val="262626"/>
      </a:dk2>
      <a:lt2>
        <a:srgbClr val="DFDCB7"/>
      </a:lt2>
      <a:accent1>
        <a:srgbClr val="2E8B3A"/>
      </a:accent1>
      <a:accent2>
        <a:srgbClr val="9CBEBD"/>
      </a:accent2>
      <a:accent3>
        <a:srgbClr val="8FD19E"/>
      </a:accent3>
      <a:accent4>
        <a:srgbClr val="95A39D"/>
      </a:accent4>
      <a:accent5>
        <a:srgbClr val="C89F5D"/>
      </a:accent5>
      <a:accent6>
        <a:srgbClr val="B1A089"/>
      </a:accent6>
      <a:hlink>
        <a:srgbClr val="1E6B2A"/>
      </a:hlink>
      <a:folHlink>
        <a:srgbClr val="849A0A"/>
      </a:folHlink>
    </a:clrScheme>
    <a:fontScheme name="Ofis">
      <a:majorFont>
        <a:latin typeface="Cambria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明朝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Bitişiklik">
      <a:fillStyleLst>
        <a:solidFill>
          <a:schemeClr val="phClr"/>
        </a:solidFill>
        <a:solidFill>
          <a:schemeClr val="phClr">
            <a:tint val="55000"/>
          </a:schemeClr>
        </a:solidFill>
        <a:solidFill>
          <a:schemeClr val="phClr"/>
        </a:solidFill>
      </a:fillStyleLst>
      <a:lnStyleLst>
        <a:ln w="12700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50800" dist="25400" algn="bl" rotWithShape="0">
              <a:srgbClr val="000000">
                <a:alpha val="60000"/>
              </a:srgbClr>
            </a:outerShdw>
          </a:effectLst>
        </a:effectStyle>
        <a:effectStyle>
          <a:effectLst/>
          <a:scene3d>
            <a:camera prst="orthographicFront">
              <a:rot lat="0" lon="0" rev="0"/>
            </a:camera>
            <a:lightRig rig="brightRoom" dir="tl">
              <a:rot lat="0" lon="0" rev="1800000"/>
            </a:lightRig>
          </a:scene3d>
          <a:sp3d contourW="10160" prstMaterial="dkEdge">
            <a:bevelT w="38100" h="50800" prst="angle"/>
            <a:contourClr>
              <a:schemeClr val="phClr">
                <a:shade val="40000"/>
                <a:satMod val="150000"/>
              </a:schemeClr>
            </a:contourClr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</a:schemeClr>
            </a:gs>
            <a:gs pos="75000">
              <a:schemeClr val="phClr">
                <a:shade val="100000"/>
                <a:satMod val="115000"/>
              </a:schemeClr>
            </a:gs>
            <a:gs pos="100000">
              <a:schemeClr val="phClr">
                <a:shade val="70000"/>
                <a:satMod val="130000"/>
              </a:schemeClr>
            </a:gs>
          </a:gsLst>
          <a:path path="circle">
            <a:fillToRect l="20000" t="50000" r="100000" b="50000"/>
          </a:path>
        </a:gradFill>
        <a:blipFill rotWithShape="1">
          <a:blip xmlns:r="http://schemas.openxmlformats.org/officeDocument/2006/relationships" r:embed="rId1">
            <a:duotone>
              <a:schemeClr val="phClr">
                <a:tint val="97000"/>
              </a:schemeClr>
              <a:schemeClr val="phClr">
                <a:shade val="96000"/>
              </a:schemeClr>
            </a:duotone>
          </a:blip>
          <a:tile tx="0" ty="0" sx="32000" sy="32000" flip="none" algn="tl"/>
        </a:blip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is Teması">
  <a:themeElements>
    <a:clrScheme name="Ofis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is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is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Adjacency</Template>
  <TotalTime>356</TotalTime>
  <Words>6685</Words>
  <Application>Microsoft Office PowerPoint</Application>
  <PresentationFormat>Ekran Gösterisi (4:3)</PresentationFormat>
  <Paragraphs>498</Paragraphs>
  <Slides>104</Slides>
  <Notes>1</Notes>
  <HiddenSlides>0</HiddenSlides>
  <MMClips>0</MMClips>
  <ScaleCrop>false</ScaleCrop>
  <HeadingPairs>
    <vt:vector size="4" baseType="variant">
      <vt:variant>
        <vt:lpstr>Tema</vt:lpstr>
      </vt:variant>
      <vt:variant>
        <vt:i4>1</vt:i4>
      </vt:variant>
      <vt:variant>
        <vt:lpstr>Slayt Başlıkları</vt:lpstr>
      </vt:variant>
      <vt:variant>
        <vt:i4>104</vt:i4>
      </vt:variant>
    </vt:vector>
  </HeadingPairs>
  <TitlesOfParts>
    <vt:vector size="105" baseType="lpstr">
      <vt:lpstr>Bitişiklik</vt:lpstr>
      <vt:lpstr>Zihinsel Yetersizliği Olan Çocuklar ve Oyun Ortamında Akran Etkileşimi</vt:lpstr>
      <vt:lpstr>  Öz </vt:lpstr>
      <vt:lpstr>Öz </vt:lpstr>
      <vt:lpstr>Zihinsel Yetersizliği Olan Çocuklar ve Oyun Ortamında Akran Etkileşimi</vt:lpstr>
      <vt:lpstr>Zihinsel Yetersizliği Olan Çocuklar ve Oyun Ortamında Akran Etkileşimi</vt:lpstr>
      <vt:lpstr>Zihinsel Yetersizliği Olan Çocuklar ve Oyun Ortamında Akran Etkileşimi</vt:lpstr>
      <vt:lpstr>Giriş </vt:lpstr>
      <vt:lpstr>Zihinsel Yetersizliği Olan Çocuklar ve Oyun Ortamında Akran Etkileşimi</vt:lpstr>
      <vt:lpstr>PowerPoint Sunusu</vt:lpstr>
      <vt:lpstr>Zihinsel Yetersizliği Olan Çocuklar ve Oyun Ortamında Akran Etkileşimi</vt:lpstr>
      <vt:lpstr>Zihinsel Yetersizliği Olan Çocuklar ve Oyun Ortamında Akran Etkileşimi</vt:lpstr>
      <vt:lpstr>Zihinsel Yetersizliği Olan Çocuklar ve Oyun Ortamında Akran Etkileşimi</vt:lpstr>
      <vt:lpstr>Zihinsel Yetersizliği Olan Çocuklar ve Oyun Ortamında Akran Etkileşimi</vt:lpstr>
      <vt:lpstr>Zihinsel Yetersizliği Olan Çocuklar ve Oyun Ortamında Akran Etkileşimi</vt:lpstr>
      <vt:lpstr>Zihinsel Yetersizliği Olan Çocuklar ve Oyun Ortamında Akran Etkileşimi</vt:lpstr>
      <vt:lpstr>Zihinsel Yetersizliği Olan Çocuklar ve Oyun Ortamında Akran Etkileşimi</vt:lpstr>
      <vt:lpstr>Zihinsel Yetersizliği Olan Çocuklar ve Oyun Ortamında Akran Etkileşimi</vt:lpstr>
      <vt:lpstr>Zihinsel Yetersizliği Olan Çocuklar ve Oyun Ortamında Akran Etkileşimi</vt:lpstr>
      <vt:lpstr>Zihinsel Yetersizliği Olan Çocuklar ve Oyun Ortamında Akran Etkileşimi</vt:lpstr>
      <vt:lpstr>Zihinsel Yetersizliği Olan Çocuklar ve Oyun Ortamında Akran Etkileşimi</vt:lpstr>
      <vt:lpstr>Zihinsel Yetersizliği Olan Çocuklar ve Oyun Ortamında Akran Etkileşimi</vt:lpstr>
      <vt:lpstr>Zihinsel Yetersizliği Olan Çocuklar ve Oyun Ortamında Akran Etkileşimi</vt:lpstr>
      <vt:lpstr>Zihinsel Yetersizliği Olan Çocuklar ve Oyun Ortamında Akran Etkileşimi</vt:lpstr>
      <vt:lpstr>Zihinsel Yetersizliği Olan Çocuklar ve Oyun Ortamında Akran Etkileşimi</vt:lpstr>
      <vt:lpstr>Zihinsel Yetersizliği Olan Çocuklar ve Oyun Ortamında Akran Etkileşimi</vt:lpstr>
      <vt:lpstr>Yöntem  Araştırma Modeli </vt:lpstr>
      <vt:lpstr>Zihinsel Yetersizliği Olan Çocuklar ve Oyun Ortamında Akran Etkileşimi</vt:lpstr>
      <vt:lpstr>Zihinsel Yetersizliği Olan Çocuklar ve Oyun Ortamında Akran Etkileşimi</vt:lpstr>
      <vt:lpstr>Katılımcılar </vt:lpstr>
      <vt:lpstr>PowerPoint Sunusu</vt:lpstr>
      <vt:lpstr>Veri Toplama Araçları </vt:lpstr>
      <vt:lpstr>Zihinsel Yetersizliği Olan Çocuklar ve Oyun Ortamında Akran Etkileşimi</vt:lpstr>
      <vt:lpstr>Zihinsel Yetersizliği Olan Çocuklar ve Oyun Ortamında Akran Etkileşimi</vt:lpstr>
      <vt:lpstr>Zihinsel Yetersizliği Olan Çocuklar ve Oyun Ortamında Akran Etkileşimi</vt:lpstr>
      <vt:lpstr>Zihinsel Yetersizliği Olan Çocuklar ve Oyun Ortamında Akran Etkileşimi</vt:lpstr>
      <vt:lpstr>Verilerin Toplanması </vt:lpstr>
      <vt:lpstr>Verilerin Toplanması </vt:lpstr>
      <vt:lpstr>Verilerin Toplanması </vt:lpstr>
      <vt:lpstr>PowerPoint Sunusu</vt:lpstr>
      <vt:lpstr>PowerPoint Sunusu</vt:lpstr>
      <vt:lpstr>PowerPoint Sunusu</vt:lpstr>
      <vt:lpstr>PowerPoint Sunusu</vt:lpstr>
      <vt:lpstr>Verilerin Analizi </vt:lpstr>
      <vt:lpstr>Verilerin Analizi </vt:lpstr>
      <vt:lpstr>Bulgular </vt:lpstr>
      <vt:lpstr>Tema 1. Tek Başına Oyun Davranışları </vt:lpstr>
      <vt:lpstr>Tema 1. Tek Başına Oyun Davranışları </vt:lpstr>
      <vt:lpstr>Tema 2. Akranlarla Birlikte Oyun Davranışları </vt:lpstr>
      <vt:lpstr>Tema 2. Akranlarla Birlikte Oyun Davranışları </vt:lpstr>
      <vt:lpstr>PowerPoint Sunusu</vt:lpstr>
      <vt:lpstr>Tablo 1. Ali’nin Zihinsel Yetersizliğe Sâhip Akranları ile Oyun Davranışları </vt:lpstr>
      <vt:lpstr>Ali’nin Zihinsel Yetersizliğe Sâhip Akranları ile Oyun Davranışları</vt:lpstr>
      <vt:lpstr>Ali’nin Zihinsel Yetersizliğe Sâhip Akranları ile Oyun Davranışları</vt:lpstr>
      <vt:lpstr>Ali’nin Zihinsel Yetersizliğe Sâhip Akranları ile Oyun Davranışları</vt:lpstr>
      <vt:lpstr>Ali’nin Zihinsel Yetersizliğe Sâhip Akranları ile Oyun Davranışları</vt:lpstr>
      <vt:lpstr>Ali’nin Zihinsel Yetersizliğe Sâhip Akranları ile Oyun Davranışları</vt:lpstr>
      <vt:lpstr>Ali’nin Zihinsel Yetersizliğe Sâhip Akranları ile Oyun Davranışları</vt:lpstr>
      <vt:lpstr>Tablo 2. Ali’nin Normal Gelişim Gösteren Akranları ile Oyun Davranışları </vt:lpstr>
      <vt:lpstr>Ali’nin Normal Gelişim Gösteren Akranları ile Oyun Davranışları</vt:lpstr>
      <vt:lpstr>Ali’nin Normal Gelişim Gösteren Akranları ile Oyun Davranışları</vt:lpstr>
      <vt:lpstr>Ali’nin Normal Gelişim Gösteren Akranları ile Oyun Davranışları</vt:lpstr>
      <vt:lpstr>Ali’nin Normal Gelişim Gösteren Akranları ile Oyun Davranışları</vt:lpstr>
      <vt:lpstr>Ali’nin Normal Gelişim Gösteren Akranları ile Oyun Davranışları</vt:lpstr>
      <vt:lpstr>Ali’nin Normal Gelişim Gösteren Akranları ile Oyun Davranışları</vt:lpstr>
      <vt:lpstr>Tema 3. Akran Etkileşimi </vt:lpstr>
      <vt:lpstr>Ali’nin Normal Gelişim Gösteren Akranları ile Oyun Davranışları</vt:lpstr>
      <vt:lpstr>Ali’nin Normal Gelişim Gösteren Akranları ile Oyun Davranışları</vt:lpstr>
      <vt:lpstr>Tartışma ve Sonuç </vt:lpstr>
      <vt:lpstr>Tartışma ve Sonuç</vt:lpstr>
      <vt:lpstr>Tartışma ve Sonuç</vt:lpstr>
      <vt:lpstr>Tartışma ve Sonuç</vt:lpstr>
      <vt:lpstr>Tartışma ve Sonuç</vt:lpstr>
      <vt:lpstr>Tartışma ve Sonuç</vt:lpstr>
      <vt:lpstr>Tartışma ve Sonuç</vt:lpstr>
      <vt:lpstr>Tartışma ve Sonuç</vt:lpstr>
      <vt:lpstr>Tartışma ve Sonuç</vt:lpstr>
      <vt:lpstr>Tartışma ve Sonuç</vt:lpstr>
      <vt:lpstr>Tartışma ve Sonuç</vt:lpstr>
      <vt:lpstr>Tartışma ve Sonuç</vt:lpstr>
      <vt:lpstr>Tartışma ve Sonuç</vt:lpstr>
      <vt:lpstr>Tartışma ve Sonuç</vt:lpstr>
      <vt:lpstr>Tartışma ve Sonuç</vt:lpstr>
      <vt:lpstr>Tartışma ve Sonuç</vt:lpstr>
      <vt:lpstr>Tartışma ve Sonuç</vt:lpstr>
      <vt:lpstr>Tartışma ve Sonuç</vt:lpstr>
      <vt:lpstr>Tartışma ve Sonuç</vt:lpstr>
      <vt:lpstr>KAYNAKÇA</vt:lpstr>
      <vt:lpstr>KAYNAKÇA</vt:lpstr>
      <vt:lpstr>KAYNAKÇA</vt:lpstr>
      <vt:lpstr>KAYNAKÇA</vt:lpstr>
      <vt:lpstr>KAYNAKÇA</vt:lpstr>
      <vt:lpstr>KAYNAKÇA</vt:lpstr>
      <vt:lpstr>KAYNAKÇA</vt:lpstr>
      <vt:lpstr>KAYNAKÇA</vt:lpstr>
      <vt:lpstr>KAYNAKÇA</vt:lpstr>
      <vt:lpstr>KAYNAKÇA</vt:lpstr>
      <vt:lpstr>KAYNAKÇA</vt:lpstr>
      <vt:lpstr>KAYNAKÇA</vt:lpstr>
      <vt:lpstr>KAYNAKÇA</vt:lpstr>
      <vt:lpstr>KAYNAKÇA</vt:lpstr>
      <vt:lpstr>KAYNAKÇA</vt:lpstr>
      <vt:lpstr>PowerPoint Sunusu</vt:lpstr>
      <vt:lpstr>KAYNAKÇA</vt:lpstr>
      <vt:lpstr>PowerPoint Sunusu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Özel Eğitim Öğretmenlerinin Uygulamalı Davranış Analizi Kapsamında Sosyal Becerilere Yönelik Görüşlerinin İncelenmesi</dc:title>
  <cp:lastModifiedBy>Hp</cp:lastModifiedBy>
  <cp:revision>40</cp:revision>
  <cp:lastPrinted>2018-11-03T19:18:00Z</cp:lastPrinted>
  <dcterms:modified xsi:type="dcterms:W3CDTF">2018-11-03T19:21:03Z</dcterms:modified>
  <dc:subject>Makale özeti</dc:subject>
  <dc:creator>Abdullah Bilgin KAYMAZ, Salih Zeki GENÇ</dc:creator>
</cp:coreProperties>
</file>