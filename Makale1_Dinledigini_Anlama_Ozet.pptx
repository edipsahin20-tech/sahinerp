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10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6" r:id="rId27"/>
    <p:sldId id="277" r:id="rId28"/>
    <p:sldId id="278" r:id="rId29"/>
    <p:sldId id="279" r:id="rId30"/>
    <p:sldId id="275" r:id="rId26"/>
  </p:sldIdLst>
  <p:sldSz cx="9144000" cy="6858000" type="screen4x3"/>
  <p:notesSz cx="6797675" cy="9872663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Orta Stil 2 - Vurgu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Orta Stil 2 - Vurgu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Orta Stil 2 - Vurgu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-1416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6" Type="http://schemas.openxmlformats.org/officeDocument/2006/relationships/slide" Target="slides/slide23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106" Type="http://schemas.openxmlformats.org/officeDocument/2006/relationships/notesMaster" Target="notesMasters/notesMaster1.xml"/><Relationship Id="rId107" Type="http://schemas.openxmlformats.org/officeDocument/2006/relationships/presProps" Target="presProps.xml"/><Relationship Id="rId108" Type="http://schemas.openxmlformats.org/officeDocument/2006/relationships/viewProps" Target="viewProps.xml"/><Relationship Id="rId109" Type="http://schemas.openxmlformats.org/officeDocument/2006/relationships/theme" Target="theme/theme1.xml"/><Relationship Id="rId1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49D820-8787-4EFC-A334-4F6172B60678}" type="datetimeFigureOut">
              <a:rPr lang="tr-TR" smtClean="0"/>
              <a:t>03.11.2018</a:t>
            </a:fld>
            <a:endParaRPr lang="tr-TR"/>
          </a:p>
        </p:txBody>
      </p:sp>
      <p:sp>
        <p:nvSpPr>
          <p:cNvPr id="4" name="Slayt Görüntüsü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930275" y="739775"/>
            <a:ext cx="4937125" cy="37036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79768" y="4689515"/>
            <a:ext cx="5438140" cy="444269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tr-TR"/>
          </a:p>
        </p:txBody>
      </p:sp>
      <p:sp>
        <p:nvSpPr>
          <p:cNvPr id="6" name="Altbilgi Yer Tutucusu 5"/>
          <p:cNvSpPr>
            <a:spLocks noGrp="1"/>
          </p:cNvSpPr>
          <p:nvPr>
            <p:ph type="ftr" sz="quarter" idx="4"/>
          </p:nvPr>
        </p:nvSpPr>
        <p:spPr>
          <a:xfrm>
            <a:off x="0" y="9377316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50443" y="9377316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7162E2-2D59-4448-8347-DF58660EEE41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677128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905000"/>
            <a:ext cx="7543800" cy="2593975"/>
          </a:xfrm>
        </p:spPr>
        <p:txBody>
          <a:bodyPr anchor="b"/>
          <a:lstStyle>
            <a:lvl1pPr>
              <a:defRPr sz="6600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4572000"/>
            <a:ext cx="6461760" cy="10668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tr-TR" smtClean="0"/>
              <a:t>Asıl alt başlık stilini düzenlemek için tıklatın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69B0-F384-4AD7-AD8D-4096480A9A4A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6E379-24A1-460A-9149-676909C681DD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5486400"/>
            <a:ext cx="7659687" cy="1168400"/>
          </a:xfrm>
        </p:spPr>
        <p:txBody>
          <a:bodyPr anchor="t"/>
          <a:lstStyle>
            <a:lvl1pPr algn="l">
              <a:defRPr sz="3600" b="0" cap="all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852863"/>
            <a:ext cx="6135687" cy="1633538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AAD7F-6F3F-4DFF-B7AD-B125074C601A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536192"/>
            <a:ext cx="36576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19600" y="1536192"/>
            <a:ext cx="36576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F9635F-7193-4694-BC28-2F8F93A66EBD}" type="datetime1">
              <a:rPr lang="tr-TR" smtClean="0"/>
              <a:t>03.11.2018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36576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36576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19600" y="1535113"/>
            <a:ext cx="36576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19600" y="2174875"/>
            <a:ext cx="36576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18252-8E12-4243-A9B5-112538D552CA}" type="datetime1">
              <a:rPr lang="tr-TR" smtClean="0"/>
              <a:t>03.11.2018</a:t>
            </a:fld>
            <a:endParaRPr lang="tr-T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0BD8F-24F3-4D49-A602-4010108E9C2F}" type="datetime1">
              <a:rPr lang="tr-TR" smtClean="0"/>
              <a:t>03.11.2018</a:t>
            </a:fld>
            <a:endParaRPr lang="tr-T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8E7C8-ED9D-4733-AE7A-D26D62C5977F}" type="datetime1">
              <a:rPr lang="tr-TR" smtClean="0"/>
              <a:t>03.11.2018</a:t>
            </a:fld>
            <a:endParaRPr lang="tr-T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1" y="5495544"/>
            <a:ext cx="7772400" cy="594360"/>
          </a:xfrm>
        </p:spPr>
        <p:txBody>
          <a:bodyPr anchor="b"/>
          <a:lstStyle>
            <a:lvl1pPr algn="ctr">
              <a:defRPr sz="2200" b="1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799" y="6096000"/>
            <a:ext cx="7772401" cy="6096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5256B2-AAAF-4ACC-8725-F361F719AEAE}" type="datetime1">
              <a:rPr lang="tr-TR" smtClean="0"/>
              <a:t>03.11.2018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304800" y="381000"/>
            <a:ext cx="7772400" cy="4942840"/>
          </a:xfrm>
        </p:spPr>
        <p:txBody>
          <a:bodyPr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752" y="5495278"/>
            <a:ext cx="7772400" cy="594626"/>
          </a:xfrm>
        </p:spPr>
        <p:txBody>
          <a:bodyPr anchor="b"/>
          <a:lstStyle>
            <a:lvl1pPr algn="ctr">
              <a:defRPr sz="2200" b="1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84582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tr-TR" smtClean="0"/>
              <a:t>Resim eklemek için simgeyi tıklatın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1752" y="6096000"/>
            <a:ext cx="7772400" cy="612648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86ABE-C472-4B30-AEE4-F60A52850637}" type="datetime1">
              <a:rPr lang="tr-TR" smtClean="0"/>
              <a:t>03.11.2018</a:t>
            </a:fld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tr-T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,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D784E-E50D-4FCE-98A9-267F995A398B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1752600" cy="5851525"/>
          </a:xfrm>
        </p:spPr>
        <p:txBody>
          <a:bodyPr vert="eaVert" anchor="b" anchorCtr="0"/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FF191-22B5-4872-AE57-ADC5493E3A67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620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7620000" cy="4800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8458200" y="0"/>
            <a:ext cx="685800" cy="6858000"/>
          </a:xfrm>
          <a:prstGeom prst="rect">
            <a:avLst/>
          </a:prstGeom>
          <a:solidFill>
            <a:srgbClr val="E36C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8458200" y="5486400"/>
            <a:ext cx="6858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1788" y="5648960"/>
            <a:ext cx="548640" cy="396240"/>
          </a:xfrm>
          <a:prstGeom prst="bracketPair">
            <a:avLst>
              <a:gd name="adj" fmla="val 17949"/>
            </a:avLst>
          </a:prstGeom>
          <a:ln w="19050">
            <a:solidFill>
              <a:srgbClr val="FFFFFF"/>
            </a:solidFill>
          </a:ln>
        </p:spPr>
        <p:txBody>
          <a:bodyPr vert="horz" lIns="0" tIns="0" rIns="0" bIns="0" rtlCol="0" anchor="ctr"/>
          <a:lstStyle>
            <a:lvl1pPr algn="ctr">
              <a:defRPr sz="1800">
                <a:solidFill>
                  <a:srgbClr val="FFFFFF"/>
                </a:solidFill>
              </a:defRPr>
            </a:lvl1pPr>
          </a:lstStyle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7586910" y="4048760"/>
            <a:ext cx="2367281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endParaRPr lang="tr-T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7551351" y="1645920"/>
            <a:ext cx="2438399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2"/>
                </a:solidFill>
              </a:defRPr>
            </a:lvl1pPr>
          </a:lstStyle>
          <a:p>
            <a:fld id="{A74E615E-36E1-4294-A833-FBFDBE08EE80}" type="datetime1">
              <a:rPr lang="tr-TR" smtClean="0"/>
              <a:t>03.11.2018</a:t>
            </a:fld>
            <a:endParaRPr lang="tr-T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hf hdr="0" ftr="0" dt="0"/>
  <p:txStyles>
    <p:titleStyle>
      <a:lvl1pPr algn="l" defTabSz="914400" rtl="0" eaLnBrk="1" latinLnBrk="0" hangingPunct="1">
        <a:spcBef>
          <a:spcPct val="0"/>
        </a:spcBef>
        <a:buNone/>
        <a:defRPr sz="4600" kern="1200" cap="none" spc="-100" baseline="0">
          <a:ln>
            <a:noFill/>
          </a:ln>
          <a:solidFill>
            <a:schemeClr val="tx2"/>
          </a:solidFill>
          <a:effectLst/>
          <a:latin typeface="+mj-lt"/>
          <a:ea typeface="+mj-ea"/>
          <a:cs typeface="+mj-cs"/>
        </a:defRPr>
      </a:lvl1pPr>
    </p:titleStyle>
    <p:bodyStyle>
      <a:lvl1pPr marL="342900" indent="-22860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2860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indent="-22860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80160" indent="-22860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indent="-228600" algn="l" defTabSz="914400" rtl="0" eaLnBrk="1" latinLnBrk="0" hangingPunct="1">
        <a:spcBef>
          <a:spcPct val="20000"/>
        </a:spcBef>
        <a:buClr>
          <a:schemeClr val="accent5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103120" indent="-18288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18288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400" b="1">
                <a:solidFill>
                  <a:srgbClr val="E36C0A"/>
                </a:solidFill>
                <a:latin typeface="Times New Roman"/>
              </a:rPr>
              <a:t>Hafif Düzeyde Zihinsel Yetersizliği Olan Kaynaştırma Öğrencilerinin Dinlediğini Anlama Becerilerinin İncelenmesi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1">
                <a:solidFill>
                  <a:srgbClr val="E36C0A"/>
                </a:solidFill>
                <a:latin typeface="Times New Roman"/>
              </a:rPr>
              <a:t>İbrahim COŞKUN</a:t>
            </a:r>
          </a:p>
          <a:p>
            <a:r>
              <a:rPr sz="2000" b="1">
                <a:solidFill>
                  <a:srgbClr val="E36C0A"/>
                </a:solidFill>
                <a:latin typeface="Times New Roman"/>
              </a:rPr>
              <a:t>Gül ERDİN</a:t>
            </a:r>
          </a:p>
          <a:p>
            <a:r>
              <a:rPr sz="1400" b="0">
                <a:latin typeface="Times New Roman"/>
              </a:rPr>
              <a:t>Akademik Bakış Dergisi, Sayı 41, Mart–Nisan 2014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7" name="Rectangle 6"/>
          <p:cNvSpPr/>
          <p:nvPr/>
        </p:nvSpPr>
        <p:spPr>
          <a:xfrm>
            <a:off x="685800" y="1750000"/>
            <a:ext cx="7543800" cy="70000"/>
          </a:xfrm>
          <a:prstGeom prst="rect">
            <a:avLst/>
          </a:prstGeom>
          <a:solidFill>
            <a:srgbClr val="E36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Öz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Amaç: Hafif düzeyde zihinsel yetersizliği olan kaynaştırma öğrencilerinin hikâye ve bilgilendirici metinleri işitsel ya da görsel-işitsel materyalle dinlediklerinde anlama düzeylerini ölçmek.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Katılımcılar: Farklı okullara devam eden, zekâ bölümü 50-70 arasında üç öğrenci.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Desen: Nitel araştırma, durum çalışması; uygulama özel eğitim ve rehabilitasyon merkezinde bireysel yapılmıştır.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7" name="TextBox 6"/>
          <p:cNvSpPr txBox="1"/>
          <p:nvPr/>
        </p:nvSpPr>
        <p:spPr>
          <a:xfrm>
            <a:off x="457200" y="6350000"/>
            <a:ext cx="762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36C0A"/>
                </a:solidFill>
                <a:latin typeface="Times New Roman"/>
              </a:rPr>
              <a:t>Sunanlar: Feyza BÜYÜKBEKTAŞ  |  Çiğdem TURAN  |  Derya YILMAZ YILDIZ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Öz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Aralık 2013’te her öğrenciyle toplam 6 ders saati çalışılmış; 1., 2. ve 3. sınıf düzeyine uygun hikâye edici ve bilgilendirici metin/video kullanılmıştır.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Ölçme: 5N1K ve hikâye haritası temelli dinlediğini anlama testi.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Bulgu: Görsel ve işitsel materyal birlikte kullanıldığında anlama, yalnız işitsel materyale göre daha yüksektir; hikâye edici metinde başarı bilgilendirici metne göre daha yüksektir.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Anahtar sözcükler: Zihin engelliler, kaynaştırma eğitimi, dinleme anlama öğretimi.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Zihinsel Yetersizlik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Zihinsel yetersizlik: zihinsel işlevlerde ve kavramsal, sosyal, pratik uyumsal becerilerde belirgin sınırlılık; 18 yaşından önce başlar (AAMR, 2002).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Zekâ bölümüne göre hafif (50/55-70), orta, ağır ve çok ağır olarak sınıflandırılır.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Hafif düzeydeki öğrenciler zihinsel engellilerin yaklaşık %85’ini oluşturur (Salend, 1998).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Soyut kavramları geç kavrar, genelleme yapmakta zorlanır; akademik beceriler yaklaşık 6. sınıf düzeyine ulaşır (Eripek, 2005; Sucuoğlu, 2010).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Kaynaştırma Eğitimi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Kaynaştırma: engelli öğrencilerin, özel eğitim desteğiyle engelsiz akranlarıyla normal okul ve sınıflarda eğitim almasıdır (Tüfekçioğlu, 1997).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Amaçlar: damgalamayı silmek, engelli çocuğun sosyal statüsünü yükseltmek, daha iyi ve ucuz bir öğrenme çevresi yaratmak.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En az kısıtlayıcı ortam ilkesine göre kaynaştırma, eğitim ortamları içinde en üst basamaktır (Kırcaali-İftar, 1998).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Türkiye’de kaynaştırma uygulamaları 1985’ten sonra başlamıştır (Kuz, 2001).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Dinleme Becerisi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Dinleme: sözlü iletişimde mesajı anlama ve cevap verme etkinliğidir; insanın kazandığı ilk dil becerisidir (Ömür, 2006).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Dinleme tek başına gelişir, öğretilemez gibi yaygın görüşlere rağmen bu iddia araştırmayla doğrulanmamıştır (Funk ve Funk, 1989).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İlköğretim öğrencileri zayıf dinleyicidir; nedenleri arasında dinleme eğitimine yeterince yer verilmemesi ve evde dinleme etkileşiminin azlığı vardır (Brent ve Anderson, 1993).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Dinleme eğitiminde görsel öğeler, hikâye haritası, düşünce şeması gibi teknikler başarıyı artırır (Winn, 1988).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Metin Türleri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Hikâye edici metin: </a:t>
            </a:r>
            <a:r>
              <a:rPr sz="2500" b="0">
                <a:latin typeface="Times New Roman"/>
              </a:rPr>
              <a:t>sahne, karakter, olay, problem çözme, sonuç, ana fikir ve tepki aşamalarını içerir; okul öncesi dönemden beri tanıdık bir yapıdır, anlamak ve hatırlamak daha kolaydır (Graesser vd., 1991).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Bilgi verici metin: </a:t>
            </a:r>
            <a:r>
              <a:rPr sz="2500" b="0">
                <a:latin typeface="Times New Roman"/>
              </a:rPr>
              <a:t>amacı bilgi aktarmaktır; anlatım düzdür, yaratıcılık ve kurgusallık yoktur, gerçek dünyadaki durumları anlatır (Özdemir, 1998).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Bilgilendirici metin anlama: </a:t>
            </a:r>
            <a:r>
              <a:rPr sz="2500" b="0">
                <a:latin typeface="Times New Roman"/>
              </a:rPr>
              <a:t>5N1K (kim, ne, ne zaman, nerede, nasıl, niçin), ana fikir ve yardımcı fikirlerin bulunması (Alperen, 1999).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Problem ve Alt Problemler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400" b="1">
                <a:latin typeface="Times New Roman"/>
              </a:rPr>
              <a:t>Ana problem: </a:t>
            </a:r>
            <a:r>
              <a:rPr sz="2400" b="0">
                <a:latin typeface="Times New Roman"/>
              </a:rPr>
              <a:t>Hafif düzeyde zihinsel yetersizliği olan kaynaştırma öğrencilerinin dinlediğini anlama becerileri nasıldır?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Alt problemler: öğrencilerin (1) hikâyeyi ve (2) bilgilendirici metni yalnızca işitsel materyalle; (3) hikâyeyi ve (4) bilgilendirici metni görsel-işitsel materyalle dinlediklerinde anlama düzeyleri nasıldır?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(5) İşitsel ve görsel-işitsel materyal kullanımının anlamaya etkisi nedir?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(6) Hikâye edici ve bilgi verici metin türlerinin anlamaya etkisi nedir?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Amaç, Önem ve Sınırlılıklar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Amaç: </a:t>
            </a:r>
            <a:r>
              <a:rPr sz="2500" b="0">
                <a:latin typeface="Times New Roman"/>
              </a:rPr>
              <a:t>Öğrencilerin dinlediğini anlama becerilerini ölçmek ve görsel ile işitsel materyal arasındaki etkileşimi belirlemek.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Önem: </a:t>
            </a:r>
            <a:r>
              <a:rPr sz="2500" b="0">
                <a:latin typeface="Times New Roman"/>
              </a:rPr>
              <a:t>Sonuçlar, hafif düzeyde zihinsel engelli çocukların eğitim ortamı ve materyallerinin düzenlenmesine ve öğretmen yetiştirme programlarına fikir verebilir.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Sınırlılıklar: </a:t>
            </a:r>
            <a:r>
              <a:rPr sz="2500" b="0">
                <a:latin typeface="Times New Roman"/>
              </a:rPr>
              <a:t>İstanbul’da ilköğretime devam eden 11-12 yaşlarında, 50-70 arası zekâ bölümlü üç öğrenci; yalnızca işitsel ve görsel-işitsel materyaller.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Yöntem ve Katılımcılar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Desen: </a:t>
            </a:r>
            <a:r>
              <a:rPr sz="2500" b="0">
                <a:latin typeface="Times New Roman"/>
              </a:rPr>
              <a:t>Nitel araştırma yöntemlerinden durum çalışması (Yıldırım ve Şimşek, 2006; Merriam, 1988).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G: </a:t>
            </a:r>
            <a:r>
              <a:rPr sz="2500" b="0">
                <a:latin typeface="Times New Roman"/>
              </a:rPr>
              <a:t>10 yaşında, 4. sınıf, bireysel eğitim alıyor.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B: </a:t>
            </a:r>
            <a:r>
              <a:rPr sz="2500" b="0">
                <a:latin typeface="Times New Roman"/>
              </a:rPr>
              <a:t>12 yaşında, 7. sınıf, bireysel eğitim alıyor.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F: </a:t>
            </a:r>
            <a:r>
              <a:rPr sz="2500" b="0">
                <a:latin typeface="Times New Roman"/>
              </a:rPr>
              <a:t>11 yaşında, 6. sınıf, bireysel ve grup eğitimi alıyor; Asperger sendromu tanısı var.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Üçü de RAM değerlendirmesiyle destek eğitim programından yararlanmaktadır; sınıfta yalnızca araştırmacı ve öğrenci bulunmuştur.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Veri Toplama Araçları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400" b="1">
                <a:latin typeface="Times New Roman"/>
              </a:rPr>
              <a:t>İşitsel materyal: </a:t>
            </a:r>
            <a:r>
              <a:rPr sz="2400" b="0">
                <a:latin typeface="Times New Roman"/>
              </a:rPr>
              <a:t>MEB onaylı Türkçe ders kitaplarından 1., 2., 3. sınıfa uygun 6 hikâye edici ve 6 bilgilendirici metin (ör. Kuşkucu Horoz, Üç Kelebek, Nasreddin Hoca Şenlikleri).</a:t>
            </a:r>
          </a:p>
          <a:p>
            <a:pPr>
              <a:spcAft>
                <a:spcPts val="600"/>
              </a:spcAft>
            </a:pPr>
            <a:r>
              <a:rPr sz="2400" b="1">
                <a:latin typeface="Times New Roman"/>
              </a:rPr>
              <a:t>Görsel-işitsel materyal: </a:t>
            </a:r>
            <a:r>
              <a:rPr sz="2400" b="0">
                <a:latin typeface="Times New Roman"/>
              </a:rPr>
              <a:t>Uzman görüşüyle seçilen çizgi filmler (Üçüzler Doktorda, Pak ile Pırpır, Rüya’nın Günlüğü) ve bilgi verici videolar (Bitkilerin Büyümesi, İlkyardım Eğitimi, Kek Nasıl Üretilir?).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Metinler araştırmacı tarafından prozodik özelliklere uygun, bir kez ve tekrarsız okunmuş; videolar bir kez izletilmiştir.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Dinlediğini Anlama Testi ve Puanlama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Test: </a:t>
            </a:r>
            <a:r>
              <a:rPr sz="2000" b="0">
                <a:latin typeface="Times New Roman"/>
              </a:rPr>
              <a:t>12 ayrı dinlediğini anlama testi geliştirilmiştir (alan yazın, uzman ve öğretmen görüşü alınarak).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Bilgilendirici metin: </a:t>
            </a:r>
            <a:r>
              <a:rPr sz="2000" b="0">
                <a:latin typeface="Times New Roman"/>
              </a:rPr>
              <a:t>5N1K temelinde 8 soru; konu ve ana fikir 20’şer, diğer sorular 10’ar puan.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Hikâye edici metin: </a:t>
            </a:r>
            <a:r>
              <a:rPr sz="2000" b="0">
                <a:latin typeface="Times New Roman"/>
              </a:rPr>
              <a:t>hikâye haritasına göre 8 soru; ana fikir 25, sonuç 15, diğer unsurlar 10’ar puan.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Sorular basit anlama (6 soru, 60 puan) ve derin anlama (2 soru, 40 puan) olarak ayrılmıştır; toplam 100 puandır.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Uygulama Aralık 2013’te her öğrenciyle ayrı ayrı, ders saatinde 2’şer metin/video olmak üzere toplam 6 ders saati yapılmış; önce hikâye edici, sonra bilgi verici materyal sunulmuştur. Cevaplar araştırmacı ve iki uzmanca puanlanmış, bulgular betimsel yorumlanmıştır.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Anlama Puanları (100 üzerinden)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00200"/>
          <a:ext cx="7619997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5675"/>
                <a:gridCol w="1441621"/>
                <a:gridCol w="1544594"/>
                <a:gridCol w="1647567"/>
                <a:gridCol w="1750540"/>
              </a:tblGrid>
              <a:tr h="347472"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Öğrenci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İşitsel – Hikâye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İşitsel – Bilgi verici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Görsel-işitsel – Hikâye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Görsel-işitsel – Bilgi verici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0">
                          <a:latin typeface="Times New Roman"/>
                        </a:rPr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41,3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7,7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65,7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41,0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0">
                          <a:latin typeface="Times New Roman"/>
                        </a:rPr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46,3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19,3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60,7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50,3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0">
                          <a:latin typeface="Times New Roman"/>
                        </a:rPr>
                        <a:t>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5,3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0,0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19,7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10,0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Ortalama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31,0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9,0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48,7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33,8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350000"/>
            <a:ext cx="762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latin typeface="Times New Roman"/>
              </a:rPr>
              <a:t>Tablo 1–4’ün 1., 2. ve 3. sınıf düzeylerinin ortalamalarıdır.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İşitsel Materyal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Hikâye edici metin: </a:t>
            </a:r>
            <a:r>
              <a:rPr sz="2500" b="0">
                <a:latin typeface="Times New Roman"/>
              </a:rPr>
              <a:t>G, B, F için 41,3 / 46,3 / 5,3. Sınıf düzeyi arttıkça başarı düşmüştür (ortalama 38,3 → 31,0 → 23,7).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Bilgi verici metin: </a:t>
            </a:r>
            <a:r>
              <a:rPr sz="2500" b="0">
                <a:latin typeface="Times New Roman"/>
              </a:rPr>
              <a:t>G, B, F için 7,7 / 19,3 / 0. Tüm sınıf düzeylerinde anlama başarısı düşüktür.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F’nin çok düşük puanları Asperger sendromunun sosyal etkileşim ve iletişim güçlüğüyle ilişkilendirilmiştir.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G’nin 3. sınıf bilgi verici metinde puanının artması metnin ilgi alanına girmesine bağlanmıştır.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Görsel-İşitsel Materyal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Hikâye edici metin: </a:t>
            </a:r>
            <a:r>
              <a:rPr sz="2000" b="0">
                <a:latin typeface="Times New Roman"/>
              </a:rPr>
              <a:t>G, B, F için 65,7 / 60,7 / 19,7; sınıf düzeyi yükseldikçe ortalama 61,3 → 48 → 36,7’ye düşmüştür.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Bilgi verici metin: </a:t>
            </a:r>
            <a:r>
              <a:rPr sz="2000" b="0">
                <a:latin typeface="Times New Roman"/>
              </a:rPr>
              <a:t>G, B, F için 41 / 50,3 / 10; ortalama 43,3 → 34,7 → 23,3.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Karşılaştırma: </a:t>
            </a:r>
            <a:r>
              <a:rPr sz="2000" b="0">
                <a:latin typeface="Times New Roman"/>
              </a:rPr>
              <a:t>Her iki metin türünde basit ve derin anlama çoğunlukla görsel-işitsel materyalle daha yüksektir; tek istisna B’nin hikâye metnindeki basit anlamasıdır (37,3 → 35,6).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Derin anlama sorularında başarı düşük kalmış; F işitsel koşulda derin anlamada hiç puan alamamıştır.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Sonuç ve Tartışma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Yalnız işitsel materyalle hikâye edici metinde anlama normal düzeydedir (G 41,3; B 46,3; F 5,3); bilgi verici metinde ise düşüktür (7,7 / 19,3 / 0).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Bulgu, hikâye edici türün anlaşılması ve hatırlanmasının kolaylığıyla (Graesser vd., 1991) ve bilgi vermeye dayalı metinlerin daha zor olduğu görüşüyle (Akyol, 2013) paralellik gösterir.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İşitsel materyalin tek başına kullanılması anlama başarısını potansiyelin altında tutmaktadır; insanlar anlatılanların yalnızca %5-20’sini hatırlayabilmektedir (Açıkgöz, 2006).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Sonuç ve Tartışma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Hikâye edici metni görsel-işitsel materyalle dinlediklerinde anlama düzeyleri normaldir (65,7 / 60,7 / 19,7); bilgi verici metinde 41 / 50,3 / 10’dur.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Görsel ve işitsel materyalin birlikte kullanılması, yalnız işitsel kullanıma göre anlama düzeyini artırmıştır (Ergin, 1998; Sönmez, 2005; Türkyılmaz, 2010; Winn, 1988).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Hikâye edici metinlerde anlama başarısı bilgilendirici metne göre daha yüksektir; bu bulgu işitsel ve görsel-işitsel koşulda aynıdır.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Sınıf düzeyi yükseldikçe anlama başarısı düşmüştür.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Öneriler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Dinleme anlama çalışmalarında ortam, öğrencinin dikkatini dağıtmayacak şekilde düzenlenmeli ve öğrencinin tam katılımı sağlanmalıdır.</a:t>
            </a:r>
          </a:p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Hikâye edici ve bilgi verici metin öğretiminde görsel-işitsel materyal kullanılmalıdır.</a:t>
            </a:r>
          </a:p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Kaynaştırma ortamındaki öğrencilerin anlama düzeyleri, akranlarla birlikte değil kendi düzeylerine uygun ölçme ve değerlendirmeyle belirlenmelidir.</a:t>
            </a:r>
          </a:p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Metinler öğrencinin gelişim düzeyine uygun seçilmeli; dinleme becerisi sınıf ve özel eğitim öğretmeninin iş birliğiyle geliştirilmelidir.</a:t>
            </a:r>
          </a:p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Benzer çalışmalar farklı yaş gruplarında yapılıp karşılaştırılabilir.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(1/4)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AAMR, (2002). Mental Retardation: Definition, Classification, and Systems of Supports (10. Baskı). Washington DC: AAMR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Akyol, H. (1999). Hikâye Haritası Yöntemiyle Metin Öğretimi. Milli Eğitim, 142. (Online): Web: http://yayim.meb.gov.tr/dergiler/medergi/15.htm (Erişim Tarihi: 13.11.2013)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American Psychiatric Association. (2000). "Diagnostic criteria for 299.80 Asperger's Disorder (AD)". Diagnostic and Statistical Manual of Mental Disorders (4th ed., text revision bas.). ISBN 0-89042-025-4. (Erişim Tarihi: 17.09.2013)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Baskin, J. H., Sperber, M.&amp;Price B. H. (2006). "Asperger Syndrome Revisited". Rev Neurol Dis 3 (1): 1–7.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Başal, M. ve Batu, S. (2002). Zihin Özürlü Öğrencilere Okuma Yazma Öğretme Konusunda Alt Özel Sınıf Öğretmenlerinin Görüş ve Önerileri. Özel Eğitim Dergisi, 3(2), 85-98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Bıyıklı, L. (1997). Özel Eğitim Gereksinimi Duyan Çocuklar. Milli Eğitim Sanat-Kültür Dergisi. Sayı: 136, s. 31-32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Brent, R.&amp;Anderson, P. (1993). Devoloping Children`s Classroom Listening Strategies. Reading Teacher, 47, (2), pp. 122-126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Chenfeld, M. B. (1978). Teaching Language Arts Creatively. Harcourt Brace Jovanovich Publishers. San Diego.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Creswell, J. W. (2007). Qualitative Inquiry and Research Design: Choosing Among Five Traditions (Second Edition). London: Sage Publication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Doğan, Y.(2012). Dinleme Eğitimi. Pegem Akademi. Ankara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Ergin, A. ve BİROL, C. (2000). Eğitimde İletişim. Ankara: Anı Yayıncılık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(2/4)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Ergin, A. (2010). Eğitimde Etkili İletişim. Ankara: Anı Yayıncılık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Eripek, S. (1998). Özel Eğitim. T.C. Anadolu Üniversitesi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Eripek, S. (2005). Zekâ Geriliği. Ankara: Kök Yayıncılık.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Funk, H. D.&amp;Funk, G. D. (1989). Guidelines for Developing Listening Skills. The Reading Teacher, pp.660-663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Gangi, J. M. (2004). Encountering Children's Literature. Pearson Education. Boston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Graesser, A., Golding, J. M., &amp; Long, D. L. (1991). Narrative Representation and Comprehension. in R. Bar, M. L. Kamil, P. Mosenthal &amp; P. D. Pearson (Ed.), Handbook of Reading Research (Vol. II, pp. 171-205). White Plains, NY: Longman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Hampleman, R. (1958). Comparoson of Listening and Reading Comprehension Ability of 4th and 6th Grade Pupils. Elementary English. XXXI, 49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İftar, G. K., Birkan, B. ve Uysal, A. (1997). Zihin Özürlü Çocuklara Kavram Öğretimi. Eskişehir: Mesleki Eğitim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Jalongo, M. R. (1995). Promoting Active Listening in the Cossroom. Childhood Education, 72, 1, pp.13-18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Johnson, K. O. (1951). The Effect of Classroom Training upon Listening Comprehension. The Journal of Communication. I, 58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Klin, A. (2006). "Asperger's syndrome". Adolesc Med Clin 17 (3): 771–88.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(3/4)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Kilgo, J.&amp;Gorgiarla, R. (2005). Young Children with Special Needs. (Second Edition). USA: Thomson-Delmar Learning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Kırcaali-İftar, G. (1998). Özel Eğitim. Eskişehir: T.C. Anadolu Üniversitesi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Kingen, S. (2000). Teaching Language Arts in Middle Schools. Mahwah, New Jersey: Lawrence Erlbaum Associates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Kuz, T. (2001). Kaynaştırma Eğitimine Yönelik Tutumların İncelenmesi. Ankara: Başbakanlık Özürlüler idaresi Başkanlığı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Kuzu, T. S. (2004). Etkileşimsel Modele Uygun Okuma Öğretiminin Türkçe Bilgilendirici Metinleri Anlama Düzeyine Etkisi. Ankara Üniversitesi, Eğitim Bilimleri Fakültesi Dergisi, 3(1), 55-77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Levis, R. B.&amp;Doorlag H. D. (1999). Teaching Special Students in General Education Classrooms. New Jersey, Prentice Hall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Mağden, D. ve Avcı, N. (1997). Öğretmen Adaylarının Özürlü Öğrencilerin Kaynaştırılmasına İlişkin Görüşleri. 4. Ulusal Eğitim Bilimleri Kongresi. Eskişehir: Anadolu Üniversitesi Eğitim Fakültesi. 10-12 Eylül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MEB. (2005). İlköğretim 1-5. Sınıf Programları Tanıtım El Kitabı. Ankara: Devlet Kitapları Müdürlüğü Basımevi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MEB. (2006). Özel eğitim Hizmetleri Yönetmeliği, 31.05.2006 tarih ve 26184 Sayılı Resmî Gazete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MEB. (2009). MEGEP. Çocuk Gelişimi ve Eğitimi. Zihinsel Engelliler. Ders Notları. Ankara: Devlet Kitapları Müdürlüğü Basımevi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Merriam, S. B. (1998). Qualitative Researchand Case Study Applications in Education (Second Edition). San Francisco: Jossey-Bass Publishers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(4/4)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Ömür, M. (2006). Kulağımızın Göz Kapağı Yoktur, Cumhuriyet Bilim, S.990, s. 16-17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Özbay, M. (2005). Bir Dil Becerisi Olarak Dinleme Eğitimi. Ankara: Akçağ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Özel Eğitim Hakkında Kanun Hükmünde Kararname ve Özel Eğitim Hizmetleri Yönetmeliği (2000). Ankara: Milli Eğitim Basımevi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Özdemir, E. (1998). Eleştirel Okuma. Ankara: Ümit Yayıncılık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Özgür, G. (2004). Engelli Çocuklar ve Eğitim-Özel Eğitim. Adana: Karhan Kitabevi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Salend, S. J. (1998). Effective Mainstreaming: Creating inclusive classrooms. (3rd Edition). New Jersey: Merrill Prentice Hall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Sucuoğlu, B. (2010). Zihin Engelliler ve Eğitimleri. Ankara: Kök Yayıncılık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Şura Raporu. (1999). I. Özürlüler Şurası Çağdaş Toplum Çağdaş Yaşam ve Özürlüler. 29 Kasım-02 Aralık. Ankara: T.C. Başbakanlık Özürlüler İdaresi Başkanlığı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Tüfekçioğlu, Ü. (1997). İşitme Engelli Çocukların Okul Öncesi Dönemde Kaynaştırma Ortamında Eğitimleri. Milli Eğitim Kültür-Sanat Dergisi, Sayı: 136, S:58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Quandt, J. I. (1983). Language Arts for Children. London: Prentice Hall Inc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Weaver, C.&amp;Kintsch, W. (1991). Expository Texts. Handbook of Reading Research. Rebecca Barr, Michael Kamil ve diğer (Ed.) New York: Longman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Westling, D. L.&amp;Fox, L. (2000). Teaching Students With Several Disabilities. (2nd Edition). USA: Printice Hall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400" b="0">
                <a:latin typeface="Times New Roman"/>
              </a:rPr>
              <a:t>HAZIRLAYAN :</a:t>
            </a:r>
          </a:p>
          <a:p/>
          <a:p>
            <a:r>
              <a:rPr sz="2400" b="0">
                <a:latin typeface="Times New Roman"/>
              </a:rPr>
              <a:t/>
            </a:r>
          </a:p>
          <a:p>
            <a:r>
              <a:rPr sz="2400" b="0">
                <a:latin typeface="Times New Roman"/>
              </a:rPr>
              <a:t/>
            </a:r>
          </a:p>
          <a:p>
            <a:r>
              <a:rPr sz="2400" b="0">
                <a:latin typeface="Times New Roman"/>
              </a:rPr>
              <a:t>ÖZET MAKALE (TÜRKÇE)</a:t>
            </a:r>
          </a:p>
          <a:p/>
          <a:p>
            <a:r>
              <a:rPr sz="2400" b="1">
                <a:latin typeface="Times New Roman"/>
              </a:rPr>
              <a:t>Akademik Bakış Dergisi, Sayı 41, Mart–Nisan 2014</a:t>
            </a:r>
          </a:p>
          <a:p>
            <a:r>
              <a:rPr sz="2400" b="1">
                <a:latin typeface="Times New Roman"/>
              </a:rPr>
              <a:t>Celalabat / Kırgızistan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itişiklik">
  <a:themeElements>
    <a:clrScheme name="Bitişiklik">
      <a:dk1>
        <a:srgbClr val="2F2B20"/>
      </a:dk1>
      <a:lt1>
        <a:srgbClr val="FFFFFF"/>
      </a:lt1>
      <a:dk2>
        <a:srgbClr val="675E47"/>
      </a:dk2>
      <a:lt2>
        <a:srgbClr val="DFDCB7"/>
      </a:lt2>
      <a:accent1>
        <a:srgbClr val="E36C0A"/>
      </a:accent1>
      <a:accent2>
        <a:srgbClr val="9CBEBD"/>
      </a:accent2>
      <a:accent3>
        <a:srgbClr val="F4A259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Ofis">
      <a:majorFont>
        <a:latin typeface="Cambria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明朝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itişiklik">
      <a:fillStyleLst>
        <a:solidFill>
          <a:schemeClr val="phClr"/>
        </a:solidFill>
        <a:solidFill>
          <a:schemeClr val="phClr">
            <a:tint val="55000"/>
          </a:schemeClr>
        </a:solidFill>
        <a:solidFill>
          <a:schemeClr val="phClr"/>
        </a:soli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algn="bl" rotWithShape="0">
              <a:srgbClr val="000000">
                <a:alpha val="60000"/>
              </a:srgbClr>
            </a:outerShdw>
          </a:effectLst>
        </a:effectStyle>
        <a:effectStyle>
          <a:effectLst/>
          <a:scene3d>
            <a:camera prst="orthographicFront">
              <a:rot lat="0" lon="0" rev="0"/>
            </a:camera>
            <a:lightRig rig="brightRoom" dir="tl">
              <a:rot lat="0" lon="0" rev="1800000"/>
            </a:lightRig>
          </a:scene3d>
          <a:sp3d contourW="10160" prstMaterial="dkEdge">
            <a:bevelT w="38100" h="50800" prst="angle"/>
            <a:contourClr>
              <a:schemeClr val="phClr">
                <a:shade val="40000"/>
                <a:satMod val="15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</a:schemeClr>
            </a:gs>
            <a:gs pos="75000">
              <a:schemeClr val="phClr">
                <a:shade val="100000"/>
                <a:satMod val="115000"/>
              </a:schemeClr>
            </a:gs>
            <a:gs pos="100000">
              <a:schemeClr val="phClr">
                <a:shade val="70000"/>
                <a:satMod val="130000"/>
              </a:schemeClr>
            </a:gs>
          </a:gsLst>
          <a:path path="circle">
            <a:fillToRect l="20000" t="50000" r="100000" b="5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7000"/>
              </a:schemeClr>
              <a:schemeClr val="phClr">
                <a:shade val="96000"/>
              </a:schemeClr>
            </a:duotone>
          </a:blip>
          <a:tile tx="0" ty="0" sx="32000" sy="32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is Teması">
  <a:themeElements>
    <a:clrScheme name="Ofi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i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i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Adjacency</Template>
  <TotalTime>356</TotalTime>
  <Words>6685</Words>
  <Application>Microsoft Office PowerPoint</Application>
  <PresentationFormat>Ekran Gösterisi (4:3)</PresentationFormat>
  <Paragraphs>498</Paragraphs>
  <Slides>104</Slides>
  <Notes>1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Slayt Başlıkları</vt:lpstr>
      </vt:variant>
      <vt:variant>
        <vt:i4>104</vt:i4>
      </vt:variant>
    </vt:vector>
  </HeadingPairs>
  <TitlesOfParts>
    <vt:vector size="105" baseType="lpstr">
      <vt:lpstr>Bitişiklik</vt:lpstr>
      <vt:lpstr>Zihinsel Yetersizliği Olan Çocuklar ve Oyun Ortamında Akran Etkileşimi</vt:lpstr>
      <vt:lpstr>  Öz </vt:lpstr>
      <vt:lpstr>Öz 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Giriş </vt:lpstr>
      <vt:lpstr>Zihinsel Yetersizliği Olan Çocuklar ve Oyun Ortamında Akran Etkileşimi</vt:lpstr>
      <vt:lpstr>PowerPoint Sunusu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Yöntem  Araştırma Modeli </vt:lpstr>
      <vt:lpstr>Zihinsel Yetersizliği Olan Çocuklar ve Oyun Ortamında Akran Etkileşimi</vt:lpstr>
      <vt:lpstr>Zihinsel Yetersizliği Olan Çocuklar ve Oyun Ortamında Akran Etkileşimi</vt:lpstr>
      <vt:lpstr>Katılımcılar </vt:lpstr>
      <vt:lpstr>PowerPoint Sunusu</vt:lpstr>
      <vt:lpstr>Veri Toplama Araçları 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Verilerin Toplanması </vt:lpstr>
      <vt:lpstr>Verilerin Toplanması </vt:lpstr>
      <vt:lpstr>Verilerin Toplanması </vt:lpstr>
      <vt:lpstr>PowerPoint Sunusu</vt:lpstr>
      <vt:lpstr>PowerPoint Sunusu</vt:lpstr>
      <vt:lpstr>PowerPoint Sunusu</vt:lpstr>
      <vt:lpstr>PowerPoint Sunusu</vt:lpstr>
      <vt:lpstr>Verilerin Analizi </vt:lpstr>
      <vt:lpstr>Verilerin Analizi </vt:lpstr>
      <vt:lpstr>Bulgular </vt:lpstr>
      <vt:lpstr>Tema 1. Tek Başına Oyun Davranışları </vt:lpstr>
      <vt:lpstr>Tema 1. Tek Başına Oyun Davranışları </vt:lpstr>
      <vt:lpstr>Tema 2. Akranlarla Birlikte Oyun Davranışları </vt:lpstr>
      <vt:lpstr>Tema 2. Akranlarla Birlikte Oyun Davranışları </vt:lpstr>
      <vt:lpstr>PowerPoint Sunusu</vt:lpstr>
      <vt:lpstr>Tablo 1. Ali’nin Zihinsel Yetersizliğe Sâhip Akranları ile Oyun Davranışları 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Tablo 2. Ali’nin Normal Gelişim Gösteren Akranları ile Oyun Davranışları 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Tema 3. Akran Etkileşimi </vt:lpstr>
      <vt:lpstr>Ali’nin Normal Gelişim Gösteren Akranları ile Oyun Davranışları</vt:lpstr>
      <vt:lpstr>Ali’nin Normal Gelişim Gösteren Akranları ile Oyun Davranışları</vt:lpstr>
      <vt:lpstr>Tartışma ve Sonuç 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PowerPoint Sunusu</vt:lpstr>
      <vt:lpstr>KAYNAKÇA</vt:lpstr>
      <vt:lpstr>PowerPoint Sunusu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Zihinsel Yetersizliği Olan Çocuklar ve Oyun Ortamında Akran Etkileşimi</dc:title>
  <cp:lastModifiedBy>Hp</cp:lastModifiedBy>
  <cp:revision>40</cp:revision>
  <cp:lastPrinted>2018-11-03T19:18:00Z</cp:lastPrinted>
  <dcterms:modified xsi:type="dcterms:W3CDTF">2018-11-03T19:21:03Z</dcterms:modified>
</cp:coreProperties>
</file>