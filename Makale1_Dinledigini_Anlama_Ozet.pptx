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latin typeface="Times New Roman"/>
              </a:rPr>
              <a:t>İbrahim COŞKUN</a:t>
            </a:r>
          </a:p>
          <a:p>
            <a:r>
              <a:rPr sz="2000" b="1"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Katılımcılar: Farklı okullara devam eden, zekâ bölümü 50-70 arasında üç öğrenci.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uygulama özel eğitim ve rehabilitasyon merkezinde bireysel yapılmıştır.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Aralık 2013’te her öğrenciyle toplam 6 ders saati çalışılmış; 1., 2. ve 3. sınıf düzeyine uygun hikâye edici ve bilgilendirici metin/video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Ölçme: 5N1K ve hikâye haritası temelli dinlediğini anlama testi.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Görsel ve işitsel materyal birlikte kullanıldığında anlama, yalnız işitsel materyale göre daha yüksektir; hikâye edici metinde başarı bilgilendirici metne göre daha yüksektir.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sözcükler: Zihin engelliler, kaynaştırma eğitimi, dinleme anlama öğretimi.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Zihinsel yetersizlik: zihinsel işlevlerde ve kavramsal, sosyal, pratik uyumsal becerilerde belirgin sınırlılık; 18 yaşından önce başlar (AAMR, 2002).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Zekâ bölümüne göre hafif (50/55-70), orta, ağır ve çok ağır olarak sınıflandırılır.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Hafif düzeydeki öğrenciler zihinsel engellilerin yaklaşık %85’ini oluşturur (Salend,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Soyut kavramları geç kavrar, genelleme yapmakta zorlanır; akademik beceriler yaklaşık 6. sınıf düzeyine ulaşır (Eripek, 2005; Sucuoğlu,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Kaynaştırma: engelli öğrencilerin, özel eğitim desteğiyle engelsiz akranlarıyla normal okul ve sınıflarda eğitim almasıdır (Tüfekçioğlu, 1997).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Amaçlar: damgalamayı silmek, engelli çocuğun sosyal statüsünü yükseltmek, daha iyi ve ucuz bir öğrenme çevresi yaratmak.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az kısıtlayıcı ortam ilkesine göre kaynaştırma, eğitim ortamları içinde en üst basamaktır (Kırcaali-İftar,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Türkiye’de kaynaştırma uygulamaları 1985’ten sonra başlamıştır (Kuz, 2001).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Dinleme: sözlü iletişimde mesajı anlama ve cevap verme etkinliğidir; insanın kazandığı ilk dil becerisidir (Ömür, 2006).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tek başına gelişir, öğretilemez gibi yaygın görüşlere rağmen bu iddia araştırmayla doğrulanmamıştır (Funk ve Funk, 1989).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İlköğretim öğrencileri zayıf dinleyicidir; nedenleri arasında dinleme eğitimine yeterince yer verilmemesi ve evde dinleme etkileşiminin azlığı vardır (Brent ve Anderson, 1993).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eğitiminde görsel öğeler, hikâye haritası, düşünce şeması gibi teknikler başarıyı artırır (Winn, 1988).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sahne, karakter, olay, problem çözme, sonuç, ana fikir ve tepki aşamalarını içerir; okul öncesi dönemden beri tanıdık bir yapıdır,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amacı bilgi aktarmaktır; anlatım düzdür, yaratıcılık ve kurgusallık yoktur, gerçek dünyadaki durumları anlatır (Özdemir, 1998).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Bilgilendirici metin anlama: </a:t>
            </a:r>
            <a:r>
              <a:rPr sz="2500" b="0">
                <a:latin typeface="Times New Roman"/>
              </a:rPr>
              <a:t>5N1K (kim, ne, ne zaman, nerede, nasıl, niçin), ana fikir ve yardımcı fikirlerin bulunması (Alperen, 1999).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Ana problem: </a:t>
            </a:r>
            <a:r>
              <a:rPr sz="2400" b="0">
                <a:latin typeface="Times New Roman"/>
              </a:rPr>
              <a:t>Hafif düzeyde zihinsel yetersizliği olan kaynaştırma öğrencilerinin dinlediğini anlama becerileri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Alt problemler: öğrencilerin (1) hikâyeyi ve (2) bilgilendirici metni yalnızca işitsel materyalle; (3) hikâyeyi ve (4) bilgilendirici metni görsel-işitsel materyalle dinlediklerinde anlama düzeyleri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(5) İşitsel ve görsel-işitsel materyal kullanımının anlamaya etkisi nedir?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(6) Hikâye edici ve bilgi verici metin türlerinin anlamaya etkisi nedir?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Amaç: </a:t>
            </a:r>
            <a:r>
              <a:rPr sz="2500" b="0">
                <a:latin typeface="Times New Roman"/>
              </a:rPr>
              <a:t>Öğrencilerin dinlediğini anlama becerilerini ölçmek ve görsel ile işitsel materyal arasındaki etkileşimi belirlemek.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Önem: </a:t>
            </a:r>
            <a:r>
              <a:rPr sz="2500" b="0">
                <a:latin typeface="Times New Roman"/>
              </a:rPr>
              <a:t>Sonuçlar, hafif düzeyde zihinsel engelli çocukların eğitim ortamı ve materyallerinin düzenlenmesine ve öğretmen yetiştirme programlarına fikir verebilir.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Sınırlılıklar: </a:t>
            </a:r>
            <a:r>
              <a:rPr sz="2500" b="0">
                <a:latin typeface="Times New Roman"/>
              </a:rPr>
              <a:t>İstanbul’da ilköğretime devam eden 11-12 yaşlarında, 50-70 arası zekâ bölümlü üç öğrenci; yalnızca işitsel ve görsel-işitsel materyaller.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 ve Katılımcılar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Desen: </a:t>
            </a:r>
            <a:r>
              <a:rPr sz="2500" b="0">
                <a:latin typeface="Times New Roman"/>
              </a:rPr>
              <a:t>Nitel araştırma yöntemlerinden durum çalışması (Yıldırım ve Şimşek, 2006; Merriam, 1988).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G: </a:t>
            </a:r>
            <a:r>
              <a:rPr sz="2500" b="0">
                <a:latin typeface="Times New Roman"/>
              </a:rPr>
              <a:t>10 yaşında, 4.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B: </a:t>
            </a:r>
            <a:r>
              <a:rPr sz="2500" b="0">
                <a:latin typeface="Times New Roman"/>
              </a:rPr>
              <a:t>12 yaşında, 7.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F: </a:t>
            </a:r>
            <a:r>
              <a:rPr sz="2500" b="0">
                <a:latin typeface="Times New Roman"/>
              </a:rPr>
              <a:t>11 yaşında, 6. sınıf, bireysel ve grup eğitimi alıyor; Asperger sendromu tanısı var.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Üçü de RAM değerlendirmesiyle destek eğitim programından yararlanmaktadır; sınıfta yalnızca araştırmacı ve öğrenci bulunmuştur.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İşitsel materyal: </a:t>
            </a:r>
            <a:r>
              <a:rPr sz="2400" b="0">
                <a:latin typeface="Times New Roman"/>
              </a:rPr>
              <a:t>MEB onaylı Türkçe ders kitaplarından 1., 2., 3. sınıfa uygun 6 hikâye edici ve 6 bilgilendirici metin (ör. Kuşkucu Horoz, Üç Kelebek, Nasreddin Hoca Şenlikleri).</a:t>
            </a:r>
          </a:p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Görsel-işitsel materyal: </a:t>
            </a:r>
            <a:r>
              <a:rPr sz="2400" b="0">
                <a:latin typeface="Times New Roman"/>
              </a:rPr>
              <a:t>Uzman görüşüyle seçilen çizgi filmler (Üçüzler Doktorda, Pak ile Pırpır, Rüya’nın Günlüğü) ve bilgi verici videolar (Bitkilerin Büyümesi, İlkyardım Eğitimi, Kek Nasıl Üretilir?).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Metinler araştırmacı tarafından prozodik özelliklere uygun, bir kez ve tekrarsız okunmuş; videolar bir kez izletilmiştir.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 ve Puanlama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Test: </a:t>
            </a:r>
            <a:r>
              <a:rPr sz="2000" b="0">
                <a:latin typeface="Times New Roman"/>
              </a:rPr>
              <a:t>12 ayrı dinlediğini anlama testi geliştirilmiştir (alan yazın, uzman ve öğretmen görüşü alınarak).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Bilgilendirici metin: </a:t>
            </a:r>
            <a:r>
              <a:rPr sz="2000" b="0">
                <a:latin typeface="Times New Roman"/>
              </a:rPr>
              <a:t>5N1K temelinde 8 soru; konu ve ana fikir 20’şer, diğer sorular 10’ar puan.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hikâye haritasına göre 8 soru; ana fikir 25, sonuç 15, diğer unsurlar 10’ar puan.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anlama (6 soru, 60 puan) ve derin anlama (2 soru, 40 puan) olarak ayrılmıştır;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 Aralık 2013’te her öğrenciyle ayrı ayrı, ders saatinde 2’şer metin/video olmak üzere toplam 6 ders saati yapılmış; önce hikâye edici, sonra bilgi verici materyal sunulmuştur. 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 (100 üzerinden)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5675"/>
                <a:gridCol w="1441621"/>
                <a:gridCol w="1544594"/>
                <a:gridCol w="1647567"/>
                <a:gridCol w="1750540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 verici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 verici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Tablo 1–4’ün 1., 2. ve 3. sınıf düzeylerinin ortalamalarıdır.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G, B, F için 41,3 / 46,3 / 5,3. Sınıf düzeyi arttıkça başarı düşmüştür (ortalama 38,3 → 31,0 → 23,7).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G, B, F için 7,7 / 19,3 / 0. Tüm sınıf düzeylerinde anlama başarısı düşüktür.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G’nin 3. sınıf bilgi verici metinde puanının artması metnin ilgi alanına girmesine bağlanmıştır.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Görsel-İşitsel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G, B, F için 65,7 / 60,7 / 19,7; sınıf düzeyi yükseldikçe ortalama 61,3 → 48 → 36,7’ye düşmüştür.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G, B, F için 41 / 50,3 / 10; ortalama 43,3 → 34,7 → 23,3.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Karşılaştırma: </a:t>
            </a:r>
            <a:r>
              <a:rPr sz="2000" b="0">
                <a:latin typeface="Times New Roman"/>
              </a:rPr>
              <a:t>Her iki metin türünde basit ve derin anlama çoğunlukla görsel-işitsel materyalle daha yüksektir; tek istisna B’nin hikâye metnindeki basit anlamasıdır (37,3 → 35,6).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düşük kalmış; F işitsel koşulda derin anlamada hiç puan alamamıştır.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Yalnız işitsel materyalle hikâye edici metinde anlama normal düzeydedir (G 41,3; B 46,3; F 5,3); bilgi verici metinde ise düşüktür (7,7 / 19,3 / 0).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Bulgu, hikâye edici türün anlaşılması ve hatırlanmasının kolaylığıyla (Graesser vd., 1991) ve bilgi vermeye dayalı metinlerin daha zor olduğu görüşüyle (Akyol, 2013) paralellik gösterir.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İşitsel materyalin tek başına kullanılması anlama başarısını potansiyelin altında tutmaktadır; insanlar anlatılanların yalnızca %5-20’sini hatırlayabilmektedir (Açıkgöz, 2006).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metni görsel-işitsel materyalle dinlediklerinde anlama düzeyleri normaldir (65,7 / 60,7 / 19,7); bilgi verici metinde 41 / 50,3 / 10’dur.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Görsel ve işitsel materyalin birlikte kullanılması, yalnız işitsel kullanıma göre anlama düzeyini artırmıştır (Ergin, 1998; Sönmez, 2005; Türkyılmaz, 2010; Winn, 1988).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metinlerde anlama başarısı bilgilendirici metne göre daha yüksektir; bu bulgu işitsel ve görsel-işitsel koşulda aynıdır.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Sınıf düzeyi yükseldikçe anlama başarısı düşmüştür.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Dinleme anlama çalışmalarında ortam, öğrencinin dikkatini dağıtmayacak şekilde düzenlenmeli ve öğrencinin tam katılımı sağlanmalıdır.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Hikâye edici ve bilgi verici metin öğretiminde görsel-işitsel materyal kullanılmalıdır.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Kaynaştırma ortamındaki öğrencilerin anlama düzeyleri, akranlarla birlikte değil kendi düzeylerine uygun ölçme ve değerlendirmeyle belirlenmelidir.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Metinler öğrencinin gelişim düzeyine uygun seçilmeli; dinleme becerisi sınıf ve özel eğitim öğretmeninin iş birliğiyle geliştirilmelidir.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Benzer çalışmalar farklı yaş gruplarında yapılıp karşılaştırılabilir.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(Seçme)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AAMR (2002). Mental Retardation: Definition, Classification, and Systems of Supports (10. Baskı). Washington DC: AAMR.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Eripek, S. (2005). Zekâ Geriliği. Ankara: Kök Yayıncılık.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Graesser, A., Golding, J. M., &amp; Long, D. L. (1991). Narrative Representation and Comprehension. Handbook of Reading Research (Vol. II).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Kırcaali-İftar, G. (1998). Özel Eğitim. Eskişehir: Anadolu Üniversitesi Yayınları.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Sucuoğlu, B. (2010). Zihin Engelliler ve Eğitimleri. Ankara: Kök Yayıncılık.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Doğan, Y. (2012). Dinleme Eğitimi. Ankara: Pegem Akademi.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Creswell, J. W. (2007). Qualitative Inquiry and Research Design (2nd ed.). London: Sage.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>[Ad Soyad]</a:t>
            </a:r>
          </a:p>
          <a:p>
            <a:r>
              <a:rPr sz="2400" b="0">
                <a:latin typeface="Times New Roman"/>
              </a:rPr>
              <a:t>[Öğrenci No]</a:t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