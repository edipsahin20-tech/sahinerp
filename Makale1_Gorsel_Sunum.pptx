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100 üzerinden (1., 2., 3. sınıf ortalaması)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solidFill>
              <a:srgbClr val="F4A25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41.3</c:v>
                </c:pt>
                <c:pt idx="1">
                  <c:v>46.3</c:v>
                </c:pt>
                <c:pt idx="2">
                  <c:v>5.3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solidFill>
              <a:srgbClr val="F9D3A9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7.7</c:v>
                </c:pt>
                <c:pt idx="1">
                  <c:v>19.3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solidFill>
              <a:srgbClr val="E36C0A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65.7</c:v>
                </c:pt>
                <c:pt idx="1">
                  <c:v>60.7</c:v>
                </c:pt>
                <c:pt idx="2">
                  <c:v>19.7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solidFill>
              <a:srgbClr val="4A3A28"/>
            </a:solidFill>
          </c:spPr>
          <c:cat>
            <c:strRef>
              <c:f>Sheet1!$A$2:$A$4</c:f>
              <c:strCache>
                <c:ptCount val="3"/>
                <c:pt idx="0">
                  <c:v>G</c:v>
                </c:pt>
                <c:pt idx="1">
                  <c:v>B</c:v>
                </c:pt>
                <c:pt idx="2">
                  <c:v>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41.0</c:v>
                </c:pt>
                <c:pt idx="1">
                  <c:v>50.3</c:v>
                </c:pt>
                <c:pt idx="2">
                  <c:v>10.0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Times New Roman"/>
              </a:rPr>
              <a:t>Sınıf düzeyine göre ortalama puan (100 üzerinden)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Görsel-işitsel – Hikâye</c:v>
                </c:pt>
              </c:strCache>
            </c:strRef>
          </c:tx>
          <c:spPr>
            <a:ln w="38100">
              <a:solidFill>
                <a:srgbClr val="E36C0A"/>
              </a:solidFill>
            </a:ln>
          </c:spPr>
          <c:marker>
            <c:spPr>
              <a:solidFill>
                <a:srgbClr val="E36C0A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61.3</c:v>
                </c:pt>
                <c:pt idx="1">
                  <c:v>48.0</c:v>
                </c:pt>
                <c:pt idx="2">
                  <c:v>36.7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İşitsel – Hikâye</c:v>
                </c:pt>
              </c:strCache>
            </c:strRef>
          </c:tx>
          <c:spPr>
            <a:ln w="38100">
              <a:solidFill>
                <a:srgbClr val="F4A259"/>
              </a:solidFill>
            </a:ln>
          </c:spPr>
          <c:marker>
            <c:spPr>
              <a:solidFill>
                <a:srgbClr val="F4A259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38.3</c:v>
                </c:pt>
                <c:pt idx="1">
                  <c:v>31.0</c:v>
                </c:pt>
                <c:pt idx="2">
                  <c:v>23.7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Görsel-işitsel – Bilgi verici</c:v>
                </c:pt>
              </c:strCache>
            </c:strRef>
          </c:tx>
          <c:spPr>
            <a:ln w="38100">
              <a:solidFill>
                <a:srgbClr val="4A3A28"/>
              </a:solidFill>
            </a:ln>
          </c:spPr>
          <c:marker>
            <c:spPr>
              <a:solidFill>
                <a:srgbClr val="4A3A2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43.3</c:v>
                </c:pt>
                <c:pt idx="1">
                  <c:v>34.7</c:v>
                </c:pt>
                <c:pt idx="2">
                  <c:v>23.3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İşitsel – Bilgi verici</c:v>
                </c:pt>
              </c:strCache>
            </c:strRef>
          </c:tx>
          <c:spPr>
            <a:ln w="38100">
              <a:solidFill>
                <a:srgbClr val="9A8C78"/>
              </a:solidFill>
            </a:ln>
          </c:spPr>
          <c:marker>
            <c:spPr>
              <a:solidFill>
                <a:srgbClr val="9A8C78"/>
              </a:solidFill>
            </c:spPr>
          </c:marker>
          <c:cat>
            <c:strRef>
              <c:f>Sheet1!$A$2:$A$4</c:f>
              <c:strCache>
                <c:ptCount val="3"/>
                <c:pt idx="0">
                  <c:v>1. sınıf</c:v>
                </c:pt>
                <c:pt idx="1">
                  <c:v>2. sınıf</c:v>
                </c:pt>
                <c:pt idx="2">
                  <c:v>3. sınıf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11.7</c:v>
                </c:pt>
                <c:pt idx="1">
                  <c:v>6.7</c:v>
                </c:pt>
                <c:pt idx="2">
                  <c:v>8.7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0.0"/>
          <c:min val="0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300"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37360"/>
            <a:ext cx="7543800" cy="73152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Feyza BÜYÜKBEKTAŞ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11879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Çiğdem TURAN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0312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72200" y="2423160"/>
            <a:ext cx="1143000" cy="114300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3749039"/>
            <a:ext cx="214884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4A3A28"/>
                </a:solidFill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0020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öğrencilerinin hikâye ve bilgilendirici metni işitsel ya da görsel-işitsel materyalle dinlediğinde anlama düzeyini ölçmek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KATILIMCI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3464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okullara devam eden, zekâ bölümü 50-70 arasında 3 öğrenci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069080"/>
            <a:ext cx="1737360" cy="1097280"/>
          </a:xfrm>
          <a:prstGeom prst="roundRect">
            <a:avLst>
              <a:gd name="adj" fmla="val 12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DESEN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069080"/>
            <a:ext cx="5715000" cy="1097280"/>
          </a:xfrm>
          <a:prstGeom prst="roundRect">
            <a:avLst>
              <a:gd name="adj" fmla="val 8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Nitel araştırma, durum çalışması; özel eğitim ve rehabilitasyon merkezinde bireysel uygulama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349240"/>
            <a:ext cx="7543800" cy="91440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BULGU: Görsel + işitsel materyal anlamayı artırdı; hikâye edici metin bilgi vericiden daha iyi anlaşıldı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%85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zihinsel engellilerin hafif düzeyde olanlar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50–70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hafif düzey zekâ bölümü aralığı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228600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828800"/>
            <a:ext cx="2331720" cy="9144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6. sınıf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834640"/>
            <a:ext cx="2148840" cy="10058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ulaşılan yaklaşık akademik düzey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7543800" cy="1920240"/>
          </a:xfrm>
          <a:prstGeom prst="roundRect">
            <a:avLst>
              <a:gd name="adj" fmla="val 7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Zihinsel işlevlerde ve kavramsal, sosyal, pratik uyumsal becerilerde belirgin sınırlılık; 18 yaşından önce başlar (AAMR, 2002)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Times New Roman"/>
              </a:rPr>
              <a:t>Soyut kavramları geç kavrar, genelleme yapmakta zorlanır (Eripek, 2005; Sucuoğlu, 2010)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Tanım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Engelli öğrenci, özel eğitim desteğiyle engelsiz akranlarıyla normal okul ve sınıfta eğitim alır (Tüfekçioğlu, 1997)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Damgalamayı silmek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Sosyal statüyü yükseltmek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Daha iyi ve ucuz öğrenme çevresi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423160" cy="43891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645920"/>
            <a:ext cx="242316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İlke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992" y="2304288"/>
            <a:ext cx="2276856" cy="3657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En az kısıtlayıcı ortam: eğitim ortamları içinde en üst basamak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F2B20"/>
                </a:solidFill>
                <a:latin typeface="Times New Roman"/>
              </a:rPr>
              <a:t>•  Türkiye’de 1985’ten sonra uygulanmaya başladı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Pentagon 2"/>
          <p:cNvSpPr/>
          <p:nvPr/>
        </p:nvSpPr>
        <p:spPr>
          <a:xfrm>
            <a:off x="45720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 kazanılan dil becerisi</a:t>
            </a:r>
          </a:p>
        </p:txBody>
      </p:sp>
      <p:sp>
        <p:nvSpPr>
          <p:cNvPr id="4" name="Pentagon 3"/>
          <p:cNvSpPr/>
          <p:nvPr/>
        </p:nvSpPr>
        <p:spPr>
          <a:xfrm>
            <a:off x="3017520" y="1645920"/>
            <a:ext cx="2468880" cy="1371600"/>
          </a:xfrm>
          <a:prstGeom prst="homePlat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İlköğretimde zayıf dinleyicilik</a:t>
            </a:r>
          </a:p>
        </p:txBody>
      </p:sp>
      <p:sp>
        <p:nvSpPr>
          <p:cNvPr id="5" name="Pentagon 4"/>
          <p:cNvSpPr/>
          <p:nvPr/>
        </p:nvSpPr>
        <p:spPr>
          <a:xfrm>
            <a:off x="5577840" y="1645920"/>
            <a:ext cx="2468880" cy="1371600"/>
          </a:xfrm>
          <a:prstGeom prst="homePlat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Dinleme eğitimi gerekli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Nedenler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Sınıfta dinleme eğitimine yeterince yer verilmemesi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Evde dinleme etkileşiminin azlığı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Yetişkinlerin iyi örnek olmaması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337560"/>
            <a:ext cx="3657600" cy="283464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3375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Ne işe yarar?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995928"/>
            <a:ext cx="3511296" cy="21031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Görsel öğeler, hikâye haritası, düşünce şeması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Öğrencinin bilgiyi bütünleştirmesini sağlar (Winn, 1988)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Sahne, karakter, olay, problem çözme, sonuç, ana fikir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Çocuklar okul öncesinden tanır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ve hatırlamak daha kolay (Graesser vd., 1991)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16552" y="2304288"/>
            <a:ext cx="3511296" cy="3749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Amaç bilgi aktarmak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Düz anlatım, kurgu yok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Anlamak için 5N1K, ana ve yardımcı fikirler bulunur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•  Hikâye edici türe göre daha zor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23444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Hafif düzeyde zihinsel yetersizliği olan kaynaştırma öğrencilerinin dinlediğini anlama becerileri nasıldır?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154680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07408" y="328269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27832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işitsel materyal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178808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07408" y="430682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251960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görsel-işitsel materyal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İşitsel ve görsel-işitsel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materyalin etkisi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202936"/>
            <a:ext cx="3703320" cy="896112"/>
          </a:xfrm>
          <a:prstGeom prst="roundRect">
            <a:avLst>
              <a:gd name="adj" fmla="val 12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07408" y="533095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5276088"/>
            <a:ext cx="2788920" cy="77724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ve bilgi verici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metin türünün etkisi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AMAÇ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68880" y="169164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Dinlediğini anlama becerisini ölçmek; görsel ve işitsel materyal arasındaki etkileşimi belirlemek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ÖNEM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320040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Eğitim ortamı, materyaller ve öğretmen yetiştirme programları için fikir verir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09160"/>
            <a:ext cx="192024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SINIRLILIK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709160"/>
            <a:ext cx="553212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İstanbul’da 11-12 yaşlarında, 50-70 zekâ bölümlü 3 öğrenci; yalnızca işitsel ve görsel-işitsel materyal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Katılımcılar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88720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10 yaş · 4.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74903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12 yaş · 7.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eğitim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645920"/>
            <a:ext cx="2331720" cy="3246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59" y="1828800"/>
            <a:ext cx="868680" cy="8686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Times New Roman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2834640"/>
            <a:ext cx="2240280" cy="192024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4A3A28"/>
                </a:solidFill>
                <a:latin typeface="Times New Roman"/>
              </a:rPr>
              <a:t>11 yaş · 6. sınıf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Bireysel + grup eğitimi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Asperger sendromu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20640"/>
            <a:ext cx="7543800" cy="1051560"/>
          </a:xfrm>
          <a:prstGeom prst="roundRect">
            <a:avLst>
              <a:gd name="adj" fmla="val 1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</a:rPr>
              <a:t>Durum çalışması · Zekâ bölümü 50-70 · Farklı devlet okulları · Uygulama özel eğitim ve rehabilitasyon merkezinde, sınıfta yalnızca araştırmacı ve öğrenci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İŞİTSEL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E36C0A"/>
                </a:solidFill>
                <a:latin typeface="Times New Roman"/>
              </a:rPr>
              <a:t>12 metin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6 hikâye edici + 6 bilgi verici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MEB onaylı Türkçe kitapları (1., 2., 3. sınıf)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Araştırmacı bir kez, prozodik okur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657600" cy="640080"/>
          </a:xfrm>
          <a:prstGeom prst="roundRect">
            <a:avLst>
              <a:gd name="adj" fmla="val 2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GÖRSEL-İŞİTSEL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4A3A28"/>
                </a:solidFill>
                <a:latin typeface="Times New Roman"/>
              </a:rPr>
              <a:t>Çizgi film + 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246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Hikâye edici ve bilgi verici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840480"/>
            <a:ext cx="3383280" cy="21945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Üçüzler Doktorda, Pak ile Pırpır, Rüya’nın Günlüğü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Bitkilerin Büyümesi, İlkyardım Eğitimi, Kek Nasıl Üretilir?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08760"/>
            <a:ext cx="75438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E36C0A"/>
                </a:solidFill>
                <a:latin typeface="Times New Roman"/>
              </a:rPr>
              <a:t>Toplam 100 puan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4526280" cy="86868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Basit anlama: 60 puan (6 soru)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983480" y="2377440"/>
            <a:ext cx="3017520" cy="868680"/>
          </a:xfrm>
          <a:prstGeom prst="rect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</a:rPr>
              <a:t>Derin anlama: 40 (2 soru)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5N1K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Konu ve ana fikir 20’şer puan, diğerleri 10’ar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566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566160"/>
            <a:ext cx="3657600" cy="566928"/>
          </a:xfrm>
          <a:prstGeom prst="roundRect">
            <a:avLst>
              <a:gd name="adj" fmla="val 25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4224528"/>
            <a:ext cx="3511296" cy="1828799"/>
          </a:xfrm>
          <a:prstGeom prst="rect">
            <a:avLst/>
          </a:prstGeom>
          <a:noFill/>
        </p:spPr>
        <p:txBody>
          <a:bodyPr wrap="square" lIns="54864" rIns="54864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Hikâye haritası temelli 8 soru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2F2B20"/>
                </a:solidFill>
                <a:latin typeface="Times New Roman"/>
              </a:rPr>
              <a:t>•  Ana fikir 25, sonuç 15, diğer unsurlar 10’ar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Uygulama Süreci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20" y="2852928"/>
            <a:ext cx="6492240" cy="64008"/>
          </a:xfrm>
          <a:prstGeom prst="rect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Aralık 2013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öğrenciyle ayrı ayrı</a:t>
            </a:r>
          </a:p>
        </p:txBody>
      </p:sp>
      <p:sp>
        <p:nvSpPr>
          <p:cNvPr id="7" name="Oval 6"/>
          <p:cNvSpPr/>
          <p:nvPr/>
        </p:nvSpPr>
        <p:spPr>
          <a:xfrm>
            <a:off x="278892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6 ders saati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Her derste 2 metin ya da video</a:t>
            </a:r>
          </a:p>
        </p:txBody>
      </p:sp>
      <p:sp>
        <p:nvSpPr>
          <p:cNvPr id="10" name="Oval 9"/>
          <p:cNvSpPr/>
          <p:nvPr/>
        </p:nvSpPr>
        <p:spPr>
          <a:xfrm>
            <a:off x="470916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Önce işitsel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Hikâye edici, sonra bilgi verici metin</a:t>
            </a:r>
          </a:p>
        </p:txBody>
      </p:sp>
      <p:sp>
        <p:nvSpPr>
          <p:cNvPr id="13" name="Oval 12"/>
          <p:cNvSpPr/>
          <p:nvPr/>
        </p:nvSpPr>
        <p:spPr>
          <a:xfrm>
            <a:off x="6629400" y="2468880"/>
            <a:ext cx="822960" cy="82296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3520440"/>
            <a:ext cx="178308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E36C0A"/>
                </a:solidFill>
                <a:latin typeface="Times New Roman"/>
              </a:rPr>
              <a:t>Sonra görsel-işitsel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51960"/>
            <a:ext cx="1783080" cy="12801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Çizgi film ve bilgi verici videolar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7543800" cy="73152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4A3A28"/>
                </a:solidFill>
                <a:latin typeface="Times New Roman"/>
              </a:rPr>
              <a:t>Cevaplar araştırmacı ve iki uzmanca puanlandı; bulgular betimsel yorumlandı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Materyalin Etkisi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Hikâye edici metin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31,0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20440" y="233172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48,7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06324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7543800" cy="1874519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71323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2300" b="1">
                <a:solidFill>
                  <a:srgbClr val="4A3A28"/>
                </a:solidFill>
                <a:latin typeface="Times New Roman"/>
              </a:rPr>
              <a:t>Bilgi verici metin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274320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A84A00"/>
                </a:solidFill>
                <a:latin typeface="Times New Roman"/>
              </a:rPr>
              <a:t>9,0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yalnız işitsel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20440" y="4343400"/>
            <a:ext cx="1097280" cy="685800"/>
          </a:xfrm>
          <a:prstGeom prst="rightArrow">
            <a:avLst/>
          </a:prstGeom>
          <a:solidFill>
            <a:srgbClr val="F4A2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297680"/>
            <a:ext cx="3017520" cy="82296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E36C0A"/>
                </a:solidFill>
                <a:latin typeface="Times New Roman"/>
              </a:rPr>
              <a:t>33,8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074920"/>
            <a:ext cx="3017520" cy="45720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2F2B20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715000"/>
            <a:ext cx="7543800" cy="548640"/>
          </a:xfrm>
          <a:prstGeom prst="roundRect">
            <a:avLst>
              <a:gd name="adj" fmla="val 3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Görsel ve işitsel materyal birlikte kullanıldığında anlama arttı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Sınıf Düzeyi ve Başarı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7543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Öne Çıkanlar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Metin türü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metin, bilgi vericiden daha iyi anlaşıldı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80560" y="1828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828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Materyal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06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Görsel-işitsel materyal, yalnız işitselden daha etkili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11480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Sınıf düzeyi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Düzey yükseldikçe anlama başarısı düştü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931920"/>
            <a:ext cx="3703320" cy="2103120"/>
          </a:xfrm>
          <a:prstGeom prst="roundRect">
            <a:avLst>
              <a:gd name="adj" fmla="val 6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80560" y="4114800"/>
            <a:ext cx="640080" cy="640080"/>
          </a:xfrm>
          <a:prstGeom prst="ellipse">
            <a:avLst/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14800"/>
            <a:ext cx="2651760" cy="640080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3A28"/>
                </a:solidFill>
                <a:latin typeface="Times New Roman"/>
              </a:rPr>
              <a:t>F’nin puanları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8920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54864" bIns="54864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Çok düşük; Asperger sendromunun etkileşim ve iletişim güçlüğüyle ilişkilendirildi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İşitsel tek başına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potansiyelin altında kaldı; insanlar anlatılanın yalnızca %5-20’sini hatırlar (Açıkgöz, 2006)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5468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Görsel + işitsel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15468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Anlama arttı (Ergin, 1998; Sönmez, 2005; Türkyılmaz, 2010)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663440"/>
            <a:ext cx="2194560" cy="1325880"/>
          </a:xfrm>
          <a:prstGeom prst="roundRect">
            <a:avLst>
              <a:gd name="adj" fmla="val 10000"/>
            </a:avLst>
          </a:prstGeom>
          <a:solidFill>
            <a:srgbClr val="4A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Hikâye türü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4663440"/>
            <a:ext cx="5257800" cy="1325880"/>
          </a:xfrm>
          <a:prstGeom prst="roundRect">
            <a:avLst>
              <a:gd name="adj" fmla="val 7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edici metinler daha kolay anlaşılır ve hatırlanır (Graesser vd., 1991)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18488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Ortamı dikkat dağıtmayacak şekilde düzenleyin; öğrencinin tam katılımını sağlayın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32888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51176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Hikâye ve bilgi verici metin öğretiminde görsel-işitsel materyal kullanın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65576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83864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Kaynaştırma öğrencisini akranlarıyla değil, kendi düzeyine uygun ölçmeyle değerlendirin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98264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16552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Metinleri öğrencinin gelişim düzeyine uygun seçin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30952"/>
            <a:ext cx="7543800" cy="822960"/>
          </a:xfrm>
          <a:prstGeom prst="roundRect">
            <a:avLst>
              <a:gd name="adj" fmla="val 20000"/>
            </a:avLst>
          </a:prstGeom>
          <a:solidFill>
            <a:srgbClr val="FFF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640080" cy="640080"/>
          </a:xfrm>
          <a:prstGeom prst="ellipse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349240"/>
            <a:ext cx="6583680" cy="786384"/>
          </a:xfrm>
          <a:prstGeom prst="rect">
            <a:avLst/>
          </a:prstGeom>
          <a:noFill/>
        </p:spPr>
        <p:txBody>
          <a:bodyPr wrap="square" lIns="45720" rIns="45720" tIns="54864" bIns="54864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F2B20"/>
                </a:solidFill>
                <a:latin typeface="Times New Roman"/>
              </a:rPr>
              <a:t>Farklı yaş gruplarında benzer çalışmalar yapılabilir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