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Özel Gereksinimli Öğrenciler: Dinlediğini Anlama ve Sosyal Beceri Öğretimi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latin typeface="Times New Roman"/>
              </a:rPr>
              <a:t>Makale 1: İbrahim COŞKUN, Gül ERDİN</a:t>
            </a:r>
          </a:p>
          <a:p>
            <a:r>
              <a:rPr sz="2000" b="1">
                <a:latin typeface="Times New Roman"/>
              </a:rPr>
              <a:t>Makale 2: Abdullah Bilgin KAYMAZ, Salih Zeki GENÇ</a:t>
            </a:r>
          </a:p>
          <a:p>
            <a:r>
              <a:rPr sz="1400" b="0">
                <a:latin typeface="Times New Roman"/>
              </a:rPr>
              <a:t>Akademik Bakış Dergisi, 2014 (41)  |  Uluslararası Engelsiz Yaşam ve Toplum Dergisi, 2025, 9 (1), 22-41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Künye ve 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Başlık: </a:t>
            </a:r>
            <a:r>
              <a:rPr sz="2000" b="0">
                <a:latin typeface="Times New Roman"/>
              </a:rPr>
              <a:t>Hafif Düzeyde Zihinsel Yetersizliği Olan Kaynaştırma Öğrencilerinin Dinlediğini Anlama Becerilerinin İncelenmesi (Akademik Bakış Dergisi, Sayı 41, 2014).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Katılımcı ve desen: </a:t>
            </a:r>
            <a:r>
              <a:rPr sz="2000" b="0">
                <a:latin typeface="Times New Roman"/>
              </a:rPr>
              <a:t>Zekâ bölümü 50-70 arası üç öğrenci; nitel araştırma, durum çalışması.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Giriş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Zihinsel yetersizlik 18 yaşından önce başlar; hafif düzeydekiler zihinsel engellilerin yaklaşık %85’idir (AAMR, 2002; Salend, 1998).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Soyut kavramları geç kavrarlar; akademik becerileri yaklaşık 6. sınıf düzeyine ulaşır (Eripek, 2005).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Kaynaştırma: engelli öğrencilerin destek özel eğitimle engelsiz akranlarıyla normal sınıflarda eğitim almasıdır; en az kısıtlayıcı ortam ilkesine dayanır (Kırcaali-İftar, 1998).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Dinleme, ilk kazanılan dil becerisidir; ilköğretim öğrencileri genelde zayıf dinleyicidir (Ömür, 2006; Brent ve Anderson, 1993).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Metin Türleri ve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sahne, karakter, olay, sonuç, ana fikir aşamalı;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amacı bilgi aktarmaktır; düz anlatım, 5N1K ve ana fikir bulma gerektirir.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Ana problem: </a:t>
            </a:r>
            <a:r>
              <a:rPr sz="2000" b="0">
                <a:latin typeface="Times New Roman"/>
              </a:rPr>
              <a:t>Öğrencilerin dinlediğini anlama becerileri nasıldır? Alt problemler: işitsel ve görsel-işitsel materyal ile hikâye edici ve bilgi verici metinlerde anlama düzeyleri ve bunların etkisi.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Sınırlılık: </a:t>
            </a:r>
            <a:r>
              <a:rPr sz="2000" b="0">
                <a:latin typeface="Times New Roman"/>
              </a:rPr>
              <a:t>İstanbul’da 11-12 yaşlarında üç öğrenci.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Yöntem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Katılımcılar: </a:t>
            </a:r>
            <a:r>
              <a:rPr sz="2000" b="0">
                <a:latin typeface="Times New Roman"/>
              </a:rPr>
              <a:t>G (10 yaş, 4. sınıf), B (12 yaş, 7. sınıf), F (11 yaş, 6. sınıf, Asperger sendromu); farklı devlet okullarında, özel eğitim ve rehabilitasyon merkezinde bireysel çalışılmıştır.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İşitsel materyal: </a:t>
            </a:r>
            <a:r>
              <a:rPr sz="2000" b="0">
                <a:latin typeface="Times New Roman"/>
              </a:rPr>
              <a:t>MEB onaylı Türkçe kitaplarından 1., 2., 3. sınıfa uygun 6 hikâye edici ve 6 bilgi verici metin.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Görsel-işitsel materyal: </a:t>
            </a:r>
            <a:r>
              <a:rPr sz="2000" b="0">
                <a:latin typeface="Times New Roman"/>
              </a:rPr>
              <a:t>Çizgi filmler (hikâye edici) ve bilgi verici videolar.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Ölçme ve Uygulama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12 ayrı dinlediğini anlama testi geliştirilmiştir; bilgi verici metinde 5N1K (8 soru), hikâye edici metinde hikâye haritası (8 soru).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(60 puan) ve derin (40 puan) anlama olarak ayrılmış;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Aralık 2013’te her öğrenciyle toplam 6 ders saati çalışılmış; önce işitsel, sonra görsel-işitsel materyal sunulmuştur.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 Bulgular: Ortalama Puanlar (100)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2602"/>
                <a:gridCol w="1461369"/>
                <a:gridCol w="1461369"/>
                <a:gridCol w="1774520"/>
                <a:gridCol w="1670136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Puanlar 1., 2. ve 3. sınıf düzeylerinin ortalamasıdır.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 Bulgular: Yorum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Görsel ve işitsel materyal birlikte kullanıldığında anlama, yalnız işitsel kullanıma göre daha yüksektir.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Hikâye edici metinde anlama başarısı bilgi verici metne göre daha yüksektir.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Sınıf düzeyi yükseldikçe başarı düşmüştür (işitsel hikâye: 38,3 → 31,0 → 23,7).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genelde düşük kalmıştır.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1: Sonuç ve 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Bulgular, görsel-işitsel materyalin öğrenmeyi kolaylaştırdığını söyleyen alan yazınla (Ergin, 1998; Sönmez, 2005; Türkyılmaz, 2010) ve hikâye türünün daha kolay anlaşıldığı görüşüyle (Graesser vd., 1991) uyumludur.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Öneri: Ortam dikkat dağıtmayacak biçimde düzenlenmeli; hikâye ve bilgi verici metin öğretiminde görsel-işitsel materyal kullanılmalı; ölçme öğrencinin düzeyine uygun yapılmalı; farklı yaş gruplarında benzer çalışmalar yapılmalıdır.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Künye ve 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Başlık: </a:t>
            </a:r>
            <a:r>
              <a:rPr sz="2000" b="0">
                <a:latin typeface="Times New Roman"/>
              </a:rPr>
              <a:t>Özel Eğitim Öğretmenlerinin Uygulamalı Davranış Analizi Kapsamında Sosyal Becerilere Yönelik Görüşlerinin İncelenmesi (2025, 9 (1), 22-41).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Öğretmenlerin uygulamalı davranış analizi (UDA) kapsamında sosyal beceri öğretimine ilişkin görüşlerini ortaya koymak.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Desen: </a:t>
            </a:r>
            <a:r>
              <a:rPr sz="2000" b="0">
                <a:latin typeface="Times New Roman"/>
              </a:rPr>
              <a:t>Durum çalışması; İstanbul Beylikdüzü’nde 27 özel eğitim öğretmeni; 10 soruluk yarı yapılandırılmış görüşme, içerik analizi.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Ana bulgu: </a:t>
            </a:r>
            <a:r>
              <a:rPr sz="2000" b="0">
                <a:latin typeface="Times New Roman"/>
              </a:rPr>
              <a:t>Öğretmenlerin büyük çoğunluğu UDA’yı sosyal beceri öğretiminde etkili bulmuştur.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Giriş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Özel eğitim, bireylerin gelişim özellikleri ve ihtiyaçlarına göre hazırlanan programlarla sunulur (MEB, 2018); engel oranı dünya nüfusunun yaklaşık %15’idir (WHO, 2020).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Sosyal beceriler bireyi topluma bütünleştiren, öğrenilmiş davranışlardır (Yüksel, 1999); yetersizlik toplumla kaynaşmada sorun yaratır.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UDA, gözlemlenebilir davranışları bilimsel yöntemlerle ele alan ve istenen davranışın sıklığını artırıp genellenmesini amaçlayan uygulamadır (Tekin-İftar, 2014).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Amaç ve Alt Amaçlar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 yöntem ve tekniklerinin sosyal beceri öğretimindeki yerini, öğretmenlerin karşılaştığı zorlukları ve önerilerini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1. Öğretmenlerin UDA bilgi düzeyleri.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2. Sık tercih edilen UDA teknikleri (ayrık denemeli öğretim, ipucu verme, pekiştirme vb.).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3. UDA’ya alternatif olarak kullanılan uygulamalar.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4. UDA tekniklerinin etkililiğine ilişkin öğretmen görüşleri.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Yöntem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Çalışma grubu: </a:t>
            </a:r>
            <a:r>
              <a:rPr sz="2000" b="0">
                <a:latin typeface="Times New Roman"/>
              </a:rPr>
              <a:t>27 öğretmen (8 kadın, 19 erkek); 5’i ilkokul, 18’i ortaokul, 4’ü lise; kıdem 2-20 yıl; ölçüt örnekleme.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Araç: </a:t>
            </a:r>
            <a:r>
              <a:rPr sz="2000" b="0">
                <a:latin typeface="Times New Roman"/>
              </a:rPr>
              <a:t>Yarı yapılandırılmış görüşme formu; 2 doçent ve 2 profesör görüşüyle kapsam geçerliği sağlanmıştır.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Analiz: </a:t>
            </a:r>
            <a:r>
              <a:rPr sz="2000" b="0">
                <a:latin typeface="Times New Roman"/>
              </a:rPr>
              <a:t>İçerik analizi; kodlama güvenirliği %82 (Miles ve Huberman, 1994).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Etik: </a:t>
            </a:r>
            <a:r>
              <a:rPr sz="2000" b="0">
                <a:latin typeface="Times New Roman"/>
              </a:rPr>
              <a:t>Kurum izni, gönüllü katılım ve yazılı onam; kimlikler gizli tutulmuştur.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 Bulgular: Sosyal Becerinin Önemi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En sık dile getirilen kategori sosyal hayata adaptasyon ve entegrasyondur (f=15).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Sonra bağımsız yaşam ve temel becerilerin gelişimi (f=8) ile sosyal ve iletişim becerilerinin gelişimi (f=7) gelir.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Akademik-bilişsel gelişim ve genel yaşam kalitesi (f=5’er), özgüven ve akran ilişkileri ile öğrenci ihtiyaçları (f=3’er) izler.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Toplam 48 kodlama yapılmıştır; öğretmenlere göre sosyal beceri, akademik becerilerden bile önce çalışılmalıdır.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 Bulgular: UDA Yöntemleri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0"/>
                <a:gridCol w="952500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Davranışsal öğretim yöntemleri (ayrık denemeli öğretim, pekiştirme vb.)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20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Model olma ve drama teknikleri (videoyla model olma 8, rol yapma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Sosyal temelli öğrenme (sosyal öyküler 7…)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Doğrudan öğretim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Doğal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6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Yanlışsız öğretim / etkinlik temelli öğrenme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 / 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Beceri ve destekleyici teknikler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 Bulgular: UDA Dışı ve Genel Eğitim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UDA dışı uygulamalar: </a:t>
            </a:r>
            <a:r>
              <a:rPr sz="2000" b="0">
                <a:latin typeface="Times New Roman"/>
              </a:rPr>
              <a:t>etkileşim temelli yöntemler (akran destekli öğretim, Erken Denver Modeli, öykü temelli öğretim, Floortime; f=11), video ve görsel destekli yöntemler (f=4), PECS (f=3).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Genel eğitim sınıfı: </a:t>
            </a:r>
            <a:r>
              <a:rPr sz="2000" b="0">
                <a:latin typeface="Times New Roman"/>
              </a:rPr>
              <a:t>14 öğretmen UDA’yı grup çalışmalarında etkili bulmuş (model alma, gözlem, genelleme imkânı), 4’ü etkili bulmamış, 3’ü yorum yapamamıştır.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Makale 2: Sonuç ve Tartışma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Öğretmenler UDA’ya olumlu yaklaşmakta, kendilerini yeterli görmekte ve UDA’ya dayalı uygulamaları aktif kullanmaktadır.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Kalabalık sınıf, zaman sınırlılığı ve uygulayıcı yeterliği nedeniyle bazı öğretmenler grup ortamında uygulamanın güç, bireysel öğretimde daha etkili olduğunu belirtmiştir.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Uygulamalar yapılandırılmış özel eğitim sınıflarında daha sistematik yürütülebilirken genel eğitimde destekleyici düzenlemelere ihtiyaç vardır.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Bulgular alanyazınla tutarlıdır (Cooper vd., 2019; İftar, 2023; Karaaslan ve Kutlu,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İki Makalenin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3175000"/>
                <a:gridCol w="3175000"/>
              </a:tblGrid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/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Makale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Makale 2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Konu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Dinlediğini anlama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beceri ve UDA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Katılımcı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3 öğrenci (50-70 zekâ bölümü)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27 özel eğitim öğretmeni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Desen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Durum çalışması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Durum çalışması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Veri aracı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Anlama testi (5N1K, hikâye haritası)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Yarı yapılandırılmış görüşme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Ana bulgu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Görsel-işitsel materyal anlamayı artırır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UDA sosyal beceri öğretiminde etkili bulunur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(Seçme)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AAMR (2002). Mental Retardation: Definition, Classification, and Systems of Supports (10. Baskı). Washington DC: AAMR.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Eripek, S. (2005). Zekâ Geriliği. Ankara: Kök Yayıncılık.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Graesser, A., Golding, J. M., &amp; Long, D. L. (1991). Narrative Representation and Comprehension. Handbook of Reading Research (Vol. II).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Kırcaali-İftar, G. (1998). Özel Eğitim. Eskişehir: Anadolu Üniversitesi Yayınları.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Creswell, J. W. (2021). Nitel araştırma yöntemleri. Siyasal Kitabevi.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Güleç-Aslan, Y. (2017). Otizm spektrum bozukluğu olan çocuklarla çalışan eğitimcilerin ABA algıları. Hacettepe Üniversitesi Eğitim Fakültesi Dergisi, 32, 1013–1032.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Tekin-İftar, E. (2014). Uygulamalı davranış analizi. Vize Yayıncılık.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2014</a:t>
            </a:r>
          </a:p>
          <a:p>
            <a:r>
              <a:rPr sz="2400" b="1">
                <a:latin typeface="Times New Roman"/>
              </a:rPr>
              <a:t>Uluslararası Engelsiz Yaşam ve Toplum Dergisi, 2025, 9 (1)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