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10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6858000" type="screen4x3"/>
  <p:notesSz cx="6797675" cy="9872663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Orta Stil 2 - Vurgu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Orta Stil 2 - Vurgu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Orta Stil 2 - Vurgu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16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106" Type="http://schemas.openxmlformats.org/officeDocument/2006/relationships/notesMaster" Target="notesMasters/notesMaster1.xml"/><Relationship Id="rId107" Type="http://schemas.openxmlformats.org/officeDocument/2006/relationships/presProps" Target="presProps.xml"/><Relationship Id="rId108" Type="http://schemas.openxmlformats.org/officeDocument/2006/relationships/viewProps" Target="viewProps.xml"/><Relationship Id="rId109" Type="http://schemas.openxmlformats.org/officeDocument/2006/relationships/theme" Target="theme/theme1.xml"/><Relationship Id="rId11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600" b="1">
                <a:latin typeface="Times New Roman"/>
              </a:rPr>
              <a:t>100 üzerinden (1., 2., 3. sınıf ortalaması)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İşitsel – Hikâye</c:v>
                </c:pt>
              </c:strCache>
            </c:strRef>
          </c:tx>
          <c:spPr>
            <a:solidFill>
              <a:srgbClr val="F4A259"/>
            </a:solidFill>
          </c:spPr>
          <c:cat>
            <c:strRef>
              <c:f>Sheet1!$A$2:$A$4</c:f>
              <c:strCache>
                <c:ptCount val="3"/>
                <c:pt idx="0">
                  <c:v>G</c:v>
                </c:pt>
                <c:pt idx="1">
                  <c:v>B</c:v>
                </c:pt>
                <c:pt idx="2">
                  <c:v>F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41.3</c:v>
                </c:pt>
                <c:pt idx="1">
                  <c:v>46.3</c:v>
                </c:pt>
                <c:pt idx="2">
                  <c:v>5.3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İşitsel – Bilgi verici</c:v>
                </c:pt>
              </c:strCache>
            </c:strRef>
          </c:tx>
          <c:spPr>
            <a:solidFill>
              <a:srgbClr val="F9D3A9"/>
            </a:solidFill>
          </c:spPr>
          <c:cat>
            <c:strRef>
              <c:f>Sheet1!$A$2:$A$4</c:f>
              <c:strCache>
                <c:ptCount val="3"/>
                <c:pt idx="0">
                  <c:v>G</c:v>
                </c:pt>
                <c:pt idx="1">
                  <c:v>B</c:v>
                </c:pt>
                <c:pt idx="2">
                  <c:v>F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7.7</c:v>
                </c:pt>
                <c:pt idx="1">
                  <c:v>19.3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Görsel-işitsel – Hikâye</c:v>
                </c:pt>
              </c:strCache>
            </c:strRef>
          </c:tx>
          <c:spPr>
            <a:solidFill>
              <a:srgbClr val="E36C0A"/>
            </a:solidFill>
          </c:spPr>
          <c:cat>
            <c:strRef>
              <c:f>Sheet1!$A$2:$A$4</c:f>
              <c:strCache>
                <c:ptCount val="3"/>
                <c:pt idx="0">
                  <c:v>G</c:v>
                </c:pt>
                <c:pt idx="1">
                  <c:v>B</c:v>
                </c:pt>
                <c:pt idx="2">
                  <c:v>F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65.7</c:v>
                </c:pt>
                <c:pt idx="1">
                  <c:v>60.7</c:v>
                </c:pt>
                <c:pt idx="2">
                  <c:v>19.7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Görsel-işitsel – Bilgi verici</c:v>
                </c:pt>
              </c:strCache>
            </c:strRef>
          </c:tx>
          <c:spPr>
            <a:solidFill>
              <a:srgbClr val="4A3A28"/>
            </a:solidFill>
          </c:spPr>
          <c:cat>
            <c:strRef>
              <c:f>Sheet1!$A$2:$A$4</c:f>
              <c:strCache>
                <c:ptCount val="3"/>
                <c:pt idx="0">
                  <c:v>G</c:v>
                </c:pt>
                <c:pt idx="1">
                  <c:v>B</c:v>
                </c:pt>
                <c:pt idx="2">
                  <c:v>F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41.0</c:v>
                </c:pt>
                <c:pt idx="1">
                  <c:v>50.3</c:v>
                </c:pt>
                <c:pt idx="2">
                  <c:v>10.0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</c:scaling>
        <c:delete val="0"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300">
          <a:latin typeface="Times New Roman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600" b="1">
                <a:latin typeface="Times New Roman"/>
              </a:rPr>
              <a:t>Sınıf düzeyine göre ortalama puan (100 üzerinden)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Görsel-işitsel – Hikâye</c:v>
                </c:pt>
              </c:strCache>
            </c:strRef>
          </c:tx>
          <c:spPr>
            <a:ln w="38100">
              <a:solidFill>
                <a:srgbClr val="E36C0A"/>
              </a:solidFill>
            </a:ln>
          </c:spPr>
          <c:marker>
            <c:spPr>
              <a:solidFill>
                <a:srgbClr val="E36C0A"/>
              </a:solidFill>
            </c:spPr>
          </c:marker>
          <c:cat>
            <c:strRef>
              <c:f>Sheet1!$A$2:$A$4</c:f>
              <c:strCache>
                <c:ptCount val="3"/>
                <c:pt idx="0">
                  <c:v>1. sınıf</c:v>
                </c:pt>
                <c:pt idx="1">
                  <c:v>2. sınıf</c:v>
                </c:pt>
                <c:pt idx="2">
                  <c:v>3. sınıf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61.3</c:v>
                </c:pt>
                <c:pt idx="1">
                  <c:v>48.0</c:v>
                </c:pt>
                <c:pt idx="2">
                  <c:v>36.7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İşitsel – Hikâye</c:v>
                </c:pt>
              </c:strCache>
            </c:strRef>
          </c:tx>
          <c:spPr>
            <a:ln w="38100">
              <a:solidFill>
                <a:srgbClr val="F4A259"/>
              </a:solidFill>
            </a:ln>
          </c:spPr>
          <c:marker>
            <c:spPr>
              <a:solidFill>
                <a:srgbClr val="F4A259"/>
              </a:solidFill>
            </c:spPr>
          </c:marker>
          <c:cat>
            <c:strRef>
              <c:f>Sheet1!$A$2:$A$4</c:f>
              <c:strCache>
                <c:ptCount val="3"/>
                <c:pt idx="0">
                  <c:v>1. sınıf</c:v>
                </c:pt>
                <c:pt idx="1">
                  <c:v>2. sınıf</c:v>
                </c:pt>
                <c:pt idx="2">
                  <c:v>3. sınıf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38.3</c:v>
                </c:pt>
                <c:pt idx="1">
                  <c:v>31.0</c:v>
                </c:pt>
                <c:pt idx="2">
                  <c:v>23.7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Görsel-işitsel – Bilgi verici</c:v>
                </c:pt>
              </c:strCache>
            </c:strRef>
          </c:tx>
          <c:spPr>
            <a:ln w="38100">
              <a:solidFill>
                <a:srgbClr val="4A3A28"/>
              </a:solidFill>
            </a:ln>
          </c:spPr>
          <c:marker>
            <c:spPr>
              <a:solidFill>
                <a:srgbClr val="4A3A28"/>
              </a:solidFill>
            </c:spPr>
          </c:marker>
          <c:cat>
            <c:strRef>
              <c:f>Sheet1!$A$2:$A$4</c:f>
              <c:strCache>
                <c:ptCount val="3"/>
                <c:pt idx="0">
                  <c:v>1. sınıf</c:v>
                </c:pt>
                <c:pt idx="1">
                  <c:v>2. sınıf</c:v>
                </c:pt>
                <c:pt idx="2">
                  <c:v>3. sınıf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43.3</c:v>
                </c:pt>
                <c:pt idx="1">
                  <c:v>34.7</c:v>
                </c:pt>
                <c:pt idx="2">
                  <c:v>23.3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İşitsel – Bilgi verici</c:v>
                </c:pt>
              </c:strCache>
            </c:strRef>
          </c:tx>
          <c:spPr>
            <a:ln w="38100">
              <a:solidFill>
                <a:srgbClr val="9A8C78"/>
              </a:solidFill>
            </a:ln>
          </c:spPr>
          <c:marker>
            <c:spPr>
              <a:solidFill>
                <a:srgbClr val="9A8C78"/>
              </a:solidFill>
            </c:spPr>
          </c:marker>
          <c:cat>
            <c:strRef>
              <c:f>Sheet1!$A$2:$A$4</c:f>
              <c:strCache>
                <c:ptCount val="3"/>
                <c:pt idx="0">
                  <c:v>1. sınıf</c:v>
                </c:pt>
                <c:pt idx="1">
                  <c:v>2. sınıf</c:v>
                </c:pt>
                <c:pt idx="2">
                  <c:v>3. sınıf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11.7</c:v>
                </c:pt>
                <c:pt idx="1">
                  <c:v>6.7</c:v>
                </c:pt>
                <c:pt idx="2">
                  <c:v>8.7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70.0"/>
          <c:min val="0.0"/>
        </c:scaling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300">
          <a:latin typeface="Times New Roman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49D820-8787-4EFC-A334-4F6172B60678}" type="datetimeFigureOut">
              <a:rPr lang="tr-TR" smtClean="0"/>
              <a:t>03.11.2018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930275" y="739775"/>
            <a:ext cx="4937125" cy="37036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79768" y="4689515"/>
            <a:ext cx="5438140" cy="444269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tr-TR"/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50443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7162E2-2D59-4448-8347-DF58660EEE4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67712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905000"/>
            <a:ext cx="7543800" cy="2593975"/>
          </a:xfrm>
        </p:spPr>
        <p:txBody>
          <a:bodyPr anchor="b"/>
          <a:lstStyle>
            <a:lvl1pPr>
              <a:defRPr sz="6600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4572000"/>
            <a:ext cx="6461760" cy="10668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tr-TR" smtClean="0"/>
              <a:t>Asıl alt başlık stilini düzenlemek için tıklatın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69B0-F384-4AD7-AD8D-4096480A9A4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6E379-24A1-460A-9149-676909C681DD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5486400"/>
            <a:ext cx="7659687" cy="1168400"/>
          </a:xfrm>
        </p:spPr>
        <p:txBody>
          <a:bodyPr anchor="t"/>
          <a:lstStyle>
            <a:lvl1pPr algn="l">
              <a:defRPr sz="3600" b="0" cap="all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852863"/>
            <a:ext cx="6135687" cy="1633538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AAD7F-6F3F-4DFF-B7AD-B125074C601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196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9635F-7193-4694-BC28-2F8F93A66EBD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196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196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18252-8E12-4243-A9B5-112538D552CA}" type="datetime1">
              <a:rPr lang="tr-TR" smtClean="0"/>
              <a:t>03.11.2018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0BD8F-24F3-4D49-A602-4010108E9C2F}" type="datetime1">
              <a:rPr lang="tr-TR" smtClean="0"/>
              <a:t>03.11.2018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8E7C8-ED9D-4733-AE7A-D26D62C5977F}" type="datetime1">
              <a:rPr lang="tr-TR" smtClean="0"/>
              <a:t>03.11.2018</a:t>
            </a:fld>
            <a:endParaRPr lang="tr-T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1" y="5495544"/>
            <a:ext cx="7772400" cy="594360"/>
          </a:xfrm>
        </p:spPr>
        <p:txBody>
          <a:bodyPr anchor="b"/>
          <a:lstStyle>
            <a:lvl1pPr algn="ctr">
              <a:defRPr sz="2200" b="1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799" y="6096000"/>
            <a:ext cx="7772401" cy="6096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256B2-AAAF-4ACC-8725-F361F719AEAE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04800" y="381000"/>
            <a:ext cx="7772400" cy="4942840"/>
          </a:xfrm>
        </p:spPr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5495278"/>
            <a:ext cx="7772400" cy="594626"/>
          </a:xfrm>
        </p:spPr>
        <p:txBody>
          <a:bodyPr anchor="b"/>
          <a:lstStyle>
            <a:lvl1pPr algn="ctr">
              <a:defRPr sz="2200" b="1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4582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tr-TR" smtClean="0"/>
              <a:t>Resim eklemek için simgeyi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1752" y="6096000"/>
            <a:ext cx="7772400" cy="612648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86ABE-C472-4B30-AEE4-F60A52850637}" type="datetime1">
              <a:rPr lang="tr-TR" smtClean="0"/>
              <a:t>03.11.2018</a:t>
            </a:fld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tr-T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,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D784E-E50D-4FCE-98A9-267F995A398B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1752600" cy="5851525"/>
          </a:xfrm>
        </p:spPr>
        <p:txBody>
          <a:bodyPr vert="eaVert" anchor="b" anchorCtr="0"/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FF191-22B5-4872-AE57-ADC5493E3A67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620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620000" cy="480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8458200" y="0"/>
            <a:ext cx="685800" cy="6858000"/>
          </a:xfrm>
          <a:prstGeom prst="rect">
            <a:avLst/>
          </a:prstGeom>
          <a:solidFill>
            <a:srgbClr val="E36C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8458200" y="5486400"/>
            <a:ext cx="6858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1788" y="5648960"/>
            <a:ext cx="548640" cy="396240"/>
          </a:xfrm>
          <a:prstGeom prst="bracketPair">
            <a:avLst>
              <a:gd name="adj" fmla="val 17949"/>
            </a:avLst>
          </a:prstGeom>
          <a:ln w="19050">
            <a:solidFill>
              <a:srgbClr val="FFFFFF"/>
            </a:solidFill>
          </a:ln>
        </p:spPr>
        <p:txBody>
          <a:bodyPr vert="horz" lIns="0" tIns="0" rIns="0" bIns="0" rtlCol="0" anchor="ctr"/>
          <a:lstStyle>
            <a:lvl1pPr algn="ctr">
              <a:defRPr sz="1800">
                <a:solidFill>
                  <a:srgbClr val="FFFFFF"/>
                </a:solidFill>
              </a:defRPr>
            </a:lvl1pPr>
          </a:lstStyle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586910" y="4048760"/>
            <a:ext cx="2367281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endParaRPr lang="tr-T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7551351" y="1645920"/>
            <a:ext cx="2438399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/>
                </a:solidFill>
              </a:defRPr>
            </a:lvl1pPr>
          </a:lstStyle>
          <a:p>
            <a:fld id="{A74E615E-36E1-4294-A833-FBFDBE08EE80}" type="datetime1">
              <a:rPr lang="tr-TR" smtClean="0"/>
              <a:t>03.11.2018</a:t>
            </a:fld>
            <a:endParaRPr lang="tr-T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4600" kern="1200" cap="none" spc="-100" baseline="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342900" indent="-22860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2860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indent="-22860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22860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indent="-228600" algn="l" defTabSz="914400" rtl="0" eaLnBrk="1" latinLnBrk="0" hangingPunct="1">
        <a:spcBef>
          <a:spcPct val="20000"/>
        </a:spcBef>
        <a:buClr>
          <a:schemeClr val="accent5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18288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dergipark.org.tr/tr/pub/abuhsbd/article/366618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 b="1">
                <a:solidFill>
                  <a:srgbClr val="E36C0A"/>
                </a:solidFill>
                <a:latin typeface="Times New Roman"/>
              </a:rPr>
              <a:t>Hafif Düzeyde Zihinsel Yetersizliği Olan Kaynaştırma Öğrencilerinin Dinlediğini Anlama Becerilerinin İncelenmesi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1">
                <a:solidFill>
                  <a:srgbClr val="E36C0A"/>
                </a:solidFill>
                <a:latin typeface="Times New Roman"/>
              </a:rPr>
              <a:t>İbrahim COŞKUN</a:t>
            </a:r>
          </a:p>
          <a:p>
            <a:r>
              <a:rPr sz="2000" b="1">
                <a:solidFill>
                  <a:srgbClr val="E36C0A"/>
                </a:solidFill>
                <a:latin typeface="Times New Roman"/>
              </a:rPr>
              <a:t>Gül ERDİN</a:t>
            </a:r>
          </a:p>
          <a:p>
            <a:r>
              <a:rPr sz="1400" b="0">
                <a:latin typeface="Times New Roman"/>
              </a:rPr>
              <a:t>Akademik Bakış Dergisi, Sayı 41, Mart–Nisan 2014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</a:t>
            </a:fld>
            <a:endParaRPr lang="tr-TR"/>
          </a:p>
        </p:txBody>
      </p:sp>
      <p:sp>
        <p:nvSpPr>
          <p:cNvPr id="7" name="Rectangle 6"/>
          <p:cNvSpPr/>
          <p:nvPr/>
        </p:nvSpPr>
        <p:spPr>
          <a:xfrm>
            <a:off x="685800" y="1737360"/>
            <a:ext cx="7543800" cy="73152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Sunanlar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103120"/>
            <a:ext cx="2331720" cy="292608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" y="2423160"/>
            <a:ext cx="1143000" cy="114300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Times New Roman"/>
              </a:rPr>
              <a:t>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214884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4A3A28"/>
                </a:solidFill>
                <a:latin typeface="Times New Roman"/>
              </a:rPr>
              <a:t>Feyza BÜYÜKBEKTAŞ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2103120"/>
            <a:ext cx="2331720" cy="292608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611879" y="2423160"/>
            <a:ext cx="1143000" cy="114300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Times New Roman"/>
              </a:rPr>
              <a:t>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3749039"/>
            <a:ext cx="214884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4A3A28"/>
                </a:solidFill>
                <a:latin typeface="Times New Roman"/>
              </a:rPr>
              <a:t>Çiğdem TURAN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2103120"/>
            <a:ext cx="2331720" cy="292608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172200" y="2423160"/>
            <a:ext cx="1143000" cy="114300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Times New Roman"/>
              </a:rPr>
              <a:t>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79" y="3749039"/>
            <a:ext cx="214884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4A3A28"/>
                </a:solidFill>
                <a:latin typeface="Times New Roman"/>
              </a:rPr>
              <a:t>Derya YILMAZ YILDIZ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</a:t>
            </a:fld>
            <a:endParaRPr lang="tr-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Öz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00200"/>
            <a:ext cx="1737360" cy="1097280"/>
          </a:xfrm>
          <a:prstGeom prst="roundRect">
            <a:avLst>
              <a:gd name="adj" fmla="val 12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Times New Roman"/>
              </a:rPr>
              <a:t>AMAÇ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1600200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Kaynaştırma öğrencilerinin hikâye ve bilgilendirici metni işitsel ya da görsel-işitsel materyalle dinlediğinde anlama düzeyini ölçmek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834640"/>
            <a:ext cx="1737360" cy="1097280"/>
          </a:xfrm>
          <a:prstGeom prst="roundRect">
            <a:avLst>
              <a:gd name="adj" fmla="val 12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Times New Roman"/>
              </a:rPr>
              <a:t>KATILIMCI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2834640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Farklı okullara devam eden, zekâ bölümü 50-70 arasında 3 öğrenci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069080"/>
            <a:ext cx="1737360" cy="1097280"/>
          </a:xfrm>
          <a:prstGeom prst="roundRect">
            <a:avLst>
              <a:gd name="adj" fmla="val 12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Times New Roman"/>
              </a:rPr>
              <a:t>DESEN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4069080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Nitel araştırma, durum çalışması; özel eğitim ve rehabilitasyon merkezinde bireysel uygulama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349240"/>
            <a:ext cx="7543800" cy="914400"/>
          </a:xfrm>
          <a:prstGeom prst="roundRect">
            <a:avLst>
              <a:gd name="adj" fmla="val 15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Times New Roman"/>
              </a:rPr>
              <a:t>BULGU: Görsel + işitsel materyal anlamayı artırdı; hikâye edici metin bilgi vericiden daha iyi anlaşıldı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3</a:t>
            </a:fld>
            <a:endParaRPr lang="tr-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Zihinsel Yetersizlik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2331720" cy="228600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2331720" cy="9144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E36C0A"/>
                </a:solidFill>
                <a:latin typeface="Times New Roman"/>
              </a:rPr>
              <a:t>%85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2148840" cy="100584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zihinsel engellilerin hafif düzeyde olanlar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645920"/>
            <a:ext cx="2331720" cy="228600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828800"/>
            <a:ext cx="2331720" cy="9144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E36C0A"/>
                </a:solidFill>
                <a:latin typeface="Times New Roman"/>
              </a:rPr>
              <a:t>50–70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834640"/>
            <a:ext cx="2148840" cy="100584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hafif düzey zekâ bölümü aralığı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1645920"/>
            <a:ext cx="2331720" cy="228600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0" y="1828800"/>
            <a:ext cx="2331720" cy="9144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E36C0A"/>
                </a:solidFill>
                <a:latin typeface="Times New Roman"/>
              </a:rPr>
              <a:t>6. sınıf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79" y="2834640"/>
            <a:ext cx="2148840" cy="100584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ulaşılan yaklaşık akademik düzey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206240"/>
            <a:ext cx="7543800" cy="1920240"/>
          </a:xfrm>
          <a:prstGeom prst="roundRect">
            <a:avLst>
              <a:gd name="adj" fmla="val 7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FFFFFF"/>
                </a:solidFill>
                <a:latin typeface="Times New Roman"/>
              </a:rPr>
              <a:t>Zihinsel işlevlerde ve kavramsal, sosyal, pratik uyumsal becerilerde belirgin sınırlılık; 18 yaşından önce başlar (AAMR, 2002)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FFFFFF"/>
                </a:solidFill>
                <a:latin typeface="Times New Roman"/>
              </a:rPr>
              <a:t>Soyut kavramları geç kavrar, genelleme yapmakta zorlanır (Eripek, 2005; Sucuoğlu, 2010)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4</a:t>
            </a:fld>
            <a:endParaRPr lang="tr-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Kaynaştırma Eğitimi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2423160" cy="438912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423160" cy="566928"/>
          </a:xfrm>
          <a:prstGeom prst="roundRect">
            <a:avLst>
              <a:gd name="adj" fmla="val 25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Tanım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304288"/>
            <a:ext cx="2276856" cy="3657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F2B20"/>
                </a:solidFill>
                <a:latin typeface="Times New Roman"/>
              </a:rPr>
              <a:t>•  Engelli öğrenci, özel eğitim desteğiyle engelsiz akranlarıyla normal okul ve sınıfta eğitim alır (Tüfekçioğlu, 1997)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645920"/>
            <a:ext cx="2423160" cy="438912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17520" y="1645920"/>
            <a:ext cx="2423160" cy="566928"/>
          </a:xfrm>
          <a:prstGeom prst="roundRect">
            <a:avLst>
              <a:gd name="adj" fmla="val 25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Amaçlar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0672" y="2304288"/>
            <a:ext cx="2276856" cy="3657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F2B20"/>
                </a:solidFill>
                <a:latin typeface="Times New Roman"/>
              </a:rPr>
              <a:t>•  Damgalamayı silmek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F2B20"/>
                </a:solidFill>
                <a:latin typeface="Times New Roman"/>
              </a:rPr>
              <a:t>•  Sosyal statüyü yükseltmek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F2B20"/>
                </a:solidFill>
                <a:latin typeface="Times New Roman"/>
              </a:rPr>
              <a:t>•  Daha iyi ve ucuz öğrenme çevresi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1645920"/>
            <a:ext cx="2423160" cy="438912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577840" y="1645920"/>
            <a:ext cx="2423160" cy="566928"/>
          </a:xfrm>
          <a:prstGeom prst="roundRect">
            <a:avLst>
              <a:gd name="adj" fmla="val 25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İlke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0992" y="2304288"/>
            <a:ext cx="2276856" cy="3657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F2B20"/>
                </a:solidFill>
                <a:latin typeface="Times New Roman"/>
              </a:rPr>
              <a:t>•  En az kısıtlayıcı ortam: eğitim ortamları içinde en üst basamak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F2B20"/>
                </a:solidFill>
                <a:latin typeface="Times New Roman"/>
              </a:rPr>
              <a:t>•  Türkiye’de 1985’ten sonra uygulanmaya başladı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5</a:t>
            </a:fld>
            <a:endParaRPr lang="tr-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Dinleme Becerisi</a:t>
            </a:r>
          </a:p>
        </p:txBody>
      </p:sp>
      <p:sp>
        <p:nvSpPr>
          <p:cNvPr id="3" name="Pentagon 2"/>
          <p:cNvSpPr/>
          <p:nvPr/>
        </p:nvSpPr>
        <p:spPr>
          <a:xfrm>
            <a:off x="457200" y="1645920"/>
            <a:ext cx="2468880" cy="1371600"/>
          </a:xfrm>
          <a:prstGeom prst="homePlat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İlk kazanılan dil becerisi</a:t>
            </a:r>
          </a:p>
        </p:txBody>
      </p:sp>
      <p:sp>
        <p:nvSpPr>
          <p:cNvPr id="4" name="Pentagon 3"/>
          <p:cNvSpPr/>
          <p:nvPr/>
        </p:nvSpPr>
        <p:spPr>
          <a:xfrm>
            <a:off x="3017520" y="1645920"/>
            <a:ext cx="2468880" cy="1371600"/>
          </a:xfrm>
          <a:prstGeom prst="homePlat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İlköğretimde zayıf dinleyicilik</a:t>
            </a:r>
          </a:p>
        </p:txBody>
      </p:sp>
      <p:sp>
        <p:nvSpPr>
          <p:cNvPr id="5" name="Pentagon 4"/>
          <p:cNvSpPr/>
          <p:nvPr/>
        </p:nvSpPr>
        <p:spPr>
          <a:xfrm>
            <a:off x="5577840" y="1645920"/>
            <a:ext cx="2468880" cy="1371600"/>
          </a:xfrm>
          <a:prstGeom prst="homePlate">
            <a:avLst/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Dinleme eğitimi gerekli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337560"/>
            <a:ext cx="3657600" cy="283464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3337560"/>
            <a:ext cx="3657600" cy="566928"/>
          </a:xfrm>
          <a:prstGeom prst="roundRect">
            <a:avLst>
              <a:gd name="adj" fmla="val 25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Nedenler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3995928"/>
            <a:ext cx="3511296" cy="2103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Sınıfta dinleme eğitimine yeterince yer verilmemesi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Evde dinleme etkileşiminin azlığı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Yetişkinlerin iyi örnek olmaması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3337560"/>
            <a:ext cx="3657600" cy="283464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43400" y="3337560"/>
            <a:ext cx="3657600" cy="566928"/>
          </a:xfrm>
          <a:prstGeom prst="roundRect">
            <a:avLst>
              <a:gd name="adj" fmla="val 25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Ne işe yarar?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552" y="3995928"/>
            <a:ext cx="3511296" cy="2103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Görsel öğeler, hikâye haritası, düşünce şeması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Öğrencinin bilgiyi bütünleştirmesini sağlar (Winn, 1988)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6</a:t>
            </a:fld>
            <a:endParaRPr lang="tr-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Metin Türleri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3657600" cy="448056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657600" cy="566928"/>
          </a:xfrm>
          <a:prstGeom prst="roundRect">
            <a:avLst>
              <a:gd name="adj" fmla="val 25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Hikâye edici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304288"/>
            <a:ext cx="3511296" cy="3749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•  Sahne, karakter, olay, problem çözme, sonuç, ana fikir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•  Çocuklar okul öncesinden tanır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•  Anlamak ve hatırlamak daha kolay (Graesser vd., 1991)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657600" cy="448056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657600" cy="566928"/>
          </a:xfrm>
          <a:prstGeom prst="roundRect">
            <a:avLst>
              <a:gd name="adj" fmla="val 25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Bilgi verici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16552" y="2304288"/>
            <a:ext cx="3511296" cy="3749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•  Amaç bilgi aktarmak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•  Düz anlatım, kurgu yok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•  Anlamak için 5N1K, ana ve yardımcı fikirler bulunur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•  Hikâye edici türe göre daha zor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7</a:t>
            </a:fld>
            <a:endParaRPr lang="tr-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Problem ve Alt Problemler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7543800" cy="1234440"/>
          </a:xfrm>
          <a:prstGeom prst="roundRect">
            <a:avLst>
              <a:gd name="adj" fmla="val 10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Hafif düzeyde zihinsel yetersizliği olan kaynaştırma öğrencilerinin dinlediğini anlama becerileri nasıldır?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154680"/>
            <a:ext cx="3703320" cy="896112"/>
          </a:xfrm>
          <a:prstGeom prst="roundRect">
            <a:avLst>
              <a:gd name="adj" fmla="val 12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66928" y="3282696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3227832"/>
            <a:ext cx="2788920" cy="77724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Hikâye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işitsel materyal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3154680"/>
            <a:ext cx="3703320" cy="896112"/>
          </a:xfrm>
          <a:prstGeom prst="roundRect">
            <a:avLst>
              <a:gd name="adj" fmla="val 12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407408" y="3282696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6360" y="3227832"/>
            <a:ext cx="2788920" cy="77724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Bilgi verici metin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işitsel materyal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178808"/>
            <a:ext cx="3703320" cy="896112"/>
          </a:xfrm>
          <a:prstGeom prst="roundRect">
            <a:avLst>
              <a:gd name="adj" fmla="val 12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4306824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251960"/>
            <a:ext cx="2788920" cy="77724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Hikâye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görsel-işitsel materyal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4178808"/>
            <a:ext cx="3703320" cy="896112"/>
          </a:xfrm>
          <a:prstGeom prst="roundRect">
            <a:avLst>
              <a:gd name="adj" fmla="val 12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407408" y="4306824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4251960"/>
            <a:ext cx="2788920" cy="77724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Bilgi verici metin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görsel-işitsel materyal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202936"/>
            <a:ext cx="3703320" cy="896112"/>
          </a:xfrm>
          <a:prstGeom prst="roundRect">
            <a:avLst>
              <a:gd name="adj" fmla="val 12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5330952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276088"/>
            <a:ext cx="2788920" cy="77724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İşitsel ve görsel-işitsel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materyalin etkisi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5202936"/>
            <a:ext cx="3703320" cy="896112"/>
          </a:xfrm>
          <a:prstGeom prst="roundRect">
            <a:avLst>
              <a:gd name="adj" fmla="val 12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407408" y="5330952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60" y="5276088"/>
            <a:ext cx="2788920" cy="77724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Hikâye ve bilgi verici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metin türünün etkisi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8</a:t>
            </a:fld>
            <a:endParaRPr lang="tr-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Amaç, Önem ve Sınırlılıklar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91640"/>
            <a:ext cx="1920240" cy="1325880"/>
          </a:xfrm>
          <a:prstGeom prst="roundRect">
            <a:avLst>
              <a:gd name="adj" fmla="val 10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AMAÇ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68880" y="1691640"/>
            <a:ext cx="5532120" cy="1325880"/>
          </a:xfrm>
          <a:prstGeom prst="roundRect">
            <a:avLst>
              <a:gd name="adj" fmla="val 7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Dinlediğini anlama becerisini ölçmek; görsel ve işitsel materyal arasındaki etkileşimi belirlemek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200400"/>
            <a:ext cx="1920240" cy="1325880"/>
          </a:xfrm>
          <a:prstGeom prst="roundRect">
            <a:avLst>
              <a:gd name="adj" fmla="val 10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ÖNEM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68880" y="3200400"/>
            <a:ext cx="5532120" cy="1325880"/>
          </a:xfrm>
          <a:prstGeom prst="roundRect">
            <a:avLst>
              <a:gd name="adj" fmla="val 7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Eğitim ortamı, materyaller ve öğretmen yetiştirme programları için fikir verir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709160"/>
            <a:ext cx="1920240" cy="1325880"/>
          </a:xfrm>
          <a:prstGeom prst="roundRect">
            <a:avLst>
              <a:gd name="adj" fmla="val 10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SINIRLILIK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80" y="4709160"/>
            <a:ext cx="5532120" cy="1325880"/>
          </a:xfrm>
          <a:prstGeom prst="roundRect">
            <a:avLst>
              <a:gd name="adj" fmla="val 7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İstanbul’da 11-12 yaşlarında, 50-70 zekâ bölümlü 3 öğrenci; yalnızca işitsel ve görsel-işitsel materyal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9</a:t>
            </a:fld>
            <a:endParaRPr lang="tr-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Yöntem: Katılımcılar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2331720" cy="324612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88720" y="1828800"/>
            <a:ext cx="868680" cy="8686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Times New Roman"/>
              </a:rPr>
              <a:t>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34640"/>
            <a:ext cx="2240280" cy="192024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4A3A28"/>
                </a:solidFill>
                <a:latin typeface="Times New Roman"/>
              </a:rPr>
              <a:t>10 yaş · 4. sınıf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Bireysel eğitim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645920"/>
            <a:ext cx="2331720" cy="324612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749039" y="1828800"/>
            <a:ext cx="868680" cy="8686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Times New Roman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39" y="2834640"/>
            <a:ext cx="2240280" cy="192024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4A3A28"/>
                </a:solidFill>
                <a:latin typeface="Times New Roman"/>
              </a:rPr>
              <a:t>12 yaş · 7. sınıf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Bireysel eğitim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1645920"/>
            <a:ext cx="2331720" cy="324612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59" y="1828800"/>
            <a:ext cx="868680" cy="8686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Times New Roman"/>
              </a:rPr>
              <a:t>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3559" y="2834640"/>
            <a:ext cx="2240280" cy="192024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4A3A28"/>
                </a:solidFill>
                <a:latin typeface="Times New Roman"/>
              </a:rPr>
              <a:t>11 yaş · 6. sınıf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Bireysel + grup eğitimi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Asperger sendromu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120640"/>
            <a:ext cx="7543800" cy="1051560"/>
          </a:xfrm>
          <a:prstGeom prst="roundRect">
            <a:avLst>
              <a:gd name="adj" fmla="val 15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Times New Roman"/>
              </a:rPr>
              <a:t>Durum çalışması · Zekâ bölümü 50-70 · Farklı devlet okulları · Uygulama özel eğitim ve rehabilitasyon merkezinde, sınıfta yalnızca araştırmacı ve öğrenci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10</a:t>
            </a:fld>
            <a:endParaRPr lang="tr-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Veri Toplama Araçları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3657600" cy="448056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657600" cy="640080"/>
          </a:xfrm>
          <a:prstGeom prst="roundRect">
            <a:avLst>
              <a:gd name="adj" fmla="val 20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Times New Roman"/>
              </a:rPr>
              <a:t>İŞİTSEL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365760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E36C0A"/>
                </a:solidFill>
                <a:latin typeface="Times New Roman"/>
              </a:rPr>
              <a:t>12 metin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46120"/>
            <a:ext cx="365760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6 hikâye edici + 6 bilgi verici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0"/>
            <a:ext cx="3383280" cy="21945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MEB onaylı Türkçe kitapları (1., 2., 3. sınıf)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Araştırmacı bir kez, prozodik okur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657600" cy="448056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43400" y="1645920"/>
            <a:ext cx="3657600" cy="640080"/>
          </a:xfrm>
          <a:prstGeom prst="roundRect">
            <a:avLst>
              <a:gd name="adj" fmla="val 20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Times New Roman"/>
              </a:rPr>
              <a:t>GÖRSEL-İŞİTSEL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468880"/>
            <a:ext cx="365760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4A3A28"/>
                </a:solidFill>
                <a:latin typeface="Times New Roman"/>
              </a:rPr>
              <a:t>Çizgi film + video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246120"/>
            <a:ext cx="365760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Hikâye edici ve bilgi verici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3840480"/>
            <a:ext cx="3383280" cy="21945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Üçüzler Doktorda, Pak ile Pırpır, Rüya’nın Günlüğü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Bitkilerin Büyümesi, İlkyardım Eğitimi, Kek Nasıl Üretilir?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11</a:t>
            </a:fld>
            <a:endParaRPr lang="tr-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Dinlediğini Anlama Testi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08760"/>
            <a:ext cx="754380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E36C0A"/>
                </a:solidFill>
                <a:latin typeface="Times New Roman"/>
              </a:rPr>
              <a:t>Toplam 100 puan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377440"/>
            <a:ext cx="4526280" cy="86868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Times New Roman"/>
              </a:rPr>
              <a:t>Basit anlama: 60 puan (6 soru)</a:t>
            </a:r>
          </a:p>
        </p:txBody>
      </p:sp>
      <p:sp>
        <p:nvSpPr>
          <p:cNvPr id="5" name="Rectangle 4"/>
          <p:cNvSpPr/>
          <p:nvPr/>
        </p:nvSpPr>
        <p:spPr>
          <a:xfrm>
            <a:off x="4983480" y="2377440"/>
            <a:ext cx="3017520" cy="868680"/>
          </a:xfrm>
          <a:prstGeom prst="rect">
            <a:avLst/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Derin anlama: 40 (2 soru)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566160"/>
            <a:ext cx="3657600" cy="256032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3566160"/>
            <a:ext cx="3657600" cy="566928"/>
          </a:xfrm>
          <a:prstGeom prst="roundRect">
            <a:avLst>
              <a:gd name="adj" fmla="val 25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Bilgi verici metin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4224528"/>
            <a:ext cx="3511296" cy="1828799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5N1K temelli 8 soru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Konu ve ana fikir 20’şer puan, diğerleri 10’ar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3566160"/>
            <a:ext cx="3657600" cy="256032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43400" y="3566160"/>
            <a:ext cx="3657600" cy="566928"/>
          </a:xfrm>
          <a:prstGeom prst="roundRect">
            <a:avLst>
              <a:gd name="adj" fmla="val 25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Hikâye edici metin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552" y="4224528"/>
            <a:ext cx="3511296" cy="1828799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Hikâye haritası temelli 8 soru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Ana fikir 25, sonuç 15, diğer unsurlar 10’ar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12</a:t>
            </a:fld>
            <a:endParaRPr lang="tr-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Uygulama Süreci</a:t>
            </a:r>
          </a:p>
        </p:txBody>
      </p:sp>
      <p:sp>
        <p:nvSpPr>
          <p:cNvPr id="3" name="Rectangle 2"/>
          <p:cNvSpPr/>
          <p:nvPr/>
        </p:nvSpPr>
        <p:spPr>
          <a:xfrm>
            <a:off x="960120" y="2852928"/>
            <a:ext cx="6492240" cy="64008"/>
          </a:xfrm>
          <a:prstGeom prst="rect">
            <a:avLst/>
          </a:prstGeom>
          <a:solidFill>
            <a:srgbClr val="F4A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" y="2468880"/>
            <a:ext cx="822960" cy="82296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520440"/>
            <a:ext cx="178308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E36C0A"/>
                </a:solidFill>
                <a:latin typeface="Times New Roman"/>
              </a:rPr>
              <a:t>Aralık 2013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51960"/>
            <a:ext cx="1783080" cy="12801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Her öğrenciyle ayrı ayrı</a:t>
            </a:r>
          </a:p>
        </p:txBody>
      </p:sp>
      <p:sp>
        <p:nvSpPr>
          <p:cNvPr id="7" name="Oval 6"/>
          <p:cNvSpPr/>
          <p:nvPr/>
        </p:nvSpPr>
        <p:spPr>
          <a:xfrm>
            <a:off x="2788920" y="2468880"/>
            <a:ext cx="822960" cy="82296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3520440"/>
            <a:ext cx="178308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E36C0A"/>
                </a:solidFill>
                <a:latin typeface="Times New Roman"/>
              </a:rPr>
              <a:t>6 ders saati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4251960"/>
            <a:ext cx="1783080" cy="12801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Her derste 2 metin ya da video</a:t>
            </a:r>
          </a:p>
        </p:txBody>
      </p:sp>
      <p:sp>
        <p:nvSpPr>
          <p:cNvPr id="10" name="Oval 9"/>
          <p:cNvSpPr/>
          <p:nvPr/>
        </p:nvSpPr>
        <p:spPr>
          <a:xfrm>
            <a:off x="4709160" y="2468880"/>
            <a:ext cx="822960" cy="82296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3520440"/>
            <a:ext cx="178308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E36C0A"/>
                </a:solidFill>
                <a:latin typeface="Times New Roman"/>
              </a:rPr>
              <a:t>Önce işitsel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4251960"/>
            <a:ext cx="1783080" cy="12801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Hikâye edici, sonra bilgi verici metin</a:t>
            </a:r>
          </a:p>
        </p:txBody>
      </p:sp>
      <p:sp>
        <p:nvSpPr>
          <p:cNvPr id="13" name="Oval 12"/>
          <p:cNvSpPr/>
          <p:nvPr/>
        </p:nvSpPr>
        <p:spPr>
          <a:xfrm>
            <a:off x="6629400" y="2468880"/>
            <a:ext cx="822960" cy="82296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520440"/>
            <a:ext cx="178308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E36C0A"/>
                </a:solidFill>
                <a:latin typeface="Times New Roman"/>
              </a:rPr>
              <a:t>Sonra görsel-işitsel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4251960"/>
            <a:ext cx="1783080" cy="12801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Çizgi film ve bilgi verici videolar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486400"/>
            <a:ext cx="7543800" cy="731520"/>
          </a:xfrm>
          <a:prstGeom prst="roundRect">
            <a:avLst>
              <a:gd name="adj" fmla="val 20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Cevaplar araştırmacı ve iki uzmanca puanlandı; bulgular betimsel yorumlandı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13</a:t>
            </a:fld>
            <a:endParaRPr lang="tr-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Anlama Puanları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554480"/>
          <a:ext cx="754380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14</a:t>
            </a:fld>
            <a:endParaRPr lang="tr-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Materyalin Etkisi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7543800" cy="1874519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713232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300" b="1">
                <a:solidFill>
                  <a:srgbClr val="4A3A28"/>
                </a:solidFill>
                <a:latin typeface="Times New Roman"/>
              </a:rPr>
              <a:t>Hikâye edici metin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274320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A84A00"/>
                </a:solidFill>
                <a:latin typeface="Times New Roman"/>
              </a:rPr>
              <a:t>31,0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274320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yalnız işitsel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520440" y="2331720"/>
            <a:ext cx="1097280" cy="685800"/>
          </a:xfrm>
          <a:prstGeom prst="rightArrow">
            <a:avLst/>
          </a:prstGeom>
          <a:solidFill>
            <a:srgbClr val="F4A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2286000"/>
            <a:ext cx="301752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E36C0A"/>
                </a:solidFill>
                <a:latin typeface="Times New Roman"/>
              </a:rPr>
              <a:t>48,7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063240"/>
            <a:ext cx="301752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görsel + işitsel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657600"/>
            <a:ext cx="7543800" cy="1874519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49039"/>
            <a:ext cx="713232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300" b="1">
                <a:solidFill>
                  <a:srgbClr val="4A3A28"/>
                </a:solidFill>
                <a:latin typeface="Times New Roman"/>
              </a:rPr>
              <a:t>Bilgi verici metin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274320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A84A00"/>
                </a:solidFill>
                <a:latin typeface="Times New Roman"/>
              </a:rPr>
              <a:t>9,0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74920"/>
            <a:ext cx="274320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yalnız işitsel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520440" y="4343400"/>
            <a:ext cx="1097280" cy="685800"/>
          </a:xfrm>
          <a:prstGeom prst="rightArrow">
            <a:avLst/>
          </a:prstGeom>
          <a:solidFill>
            <a:srgbClr val="F4A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4297680"/>
            <a:ext cx="301752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E36C0A"/>
                </a:solidFill>
                <a:latin typeface="Times New Roman"/>
              </a:rPr>
              <a:t>33,8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5074920"/>
            <a:ext cx="301752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görsel + işitsel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715000"/>
            <a:ext cx="7543800" cy="548640"/>
          </a:xfrm>
          <a:prstGeom prst="roundRect">
            <a:avLst>
              <a:gd name="adj" fmla="val 30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Times New Roman"/>
              </a:rPr>
              <a:t>Görsel ve işitsel materyal birlikte kullanıldığında anlama arttı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15</a:t>
            </a:fld>
            <a:endParaRPr lang="tr-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Sınıf Düzeyi ve Başarı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554480"/>
          <a:ext cx="754380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16</a:t>
            </a:fld>
            <a:endParaRPr lang="tr-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Öne Çıkanlar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3703320" cy="210312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1828800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28800"/>
            <a:ext cx="2651760" cy="64008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4A3A28"/>
                </a:solidFill>
                <a:latin typeface="Times New Roman"/>
              </a:rPr>
              <a:t>Metin türü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38328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Hikâye edici metin, bilgi vericiden daha iyi anlaşıldı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703320" cy="210312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480560" y="1828800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1828800"/>
            <a:ext cx="2651760" cy="64008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4A3A28"/>
                </a:solidFill>
                <a:latin typeface="Times New Roman"/>
              </a:rPr>
              <a:t>Materyal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606040"/>
            <a:ext cx="338328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Görsel-işitsel materyal, yalnız işitselden daha etkili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931920"/>
            <a:ext cx="3703320" cy="210312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4114800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4114800"/>
            <a:ext cx="2651760" cy="64008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4A3A28"/>
                </a:solidFill>
                <a:latin typeface="Times New Roman"/>
              </a:rPr>
              <a:t>Sınıf düzeyi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338328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Düzey yükseldikçe anlama başarısı düştü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931920"/>
            <a:ext cx="3703320" cy="210312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80560" y="4114800"/>
            <a:ext cx="640080" cy="640080"/>
          </a:xfrm>
          <a:prstGeom prst="ellipse">
            <a:avLst/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4114800"/>
            <a:ext cx="2651760" cy="64008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4A3A28"/>
                </a:solidFill>
                <a:latin typeface="Times New Roman"/>
              </a:rPr>
              <a:t>F’nin puanları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4892040"/>
            <a:ext cx="338328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Çok düşük; Asperger sendromunun etkileşim ve iletişim güçlüğüyle ilişkilendirildi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17</a:t>
            </a:fld>
            <a:endParaRPr lang="tr-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 ve Tartışma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2194560" cy="1325880"/>
          </a:xfrm>
          <a:prstGeom prst="roundRect">
            <a:avLst>
              <a:gd name="adj" fmla="val 10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İşitsel tek başına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1645920"/>
            <a:ext cx="5257800" cy="1325880"/>
          </a:xfrm>
          <a:prstGeom prst="roundRect">
            <a:avLst>
              <a:gd name="adj" fmla="val 7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Anlama potansiyelin altında kaldı; insanlar anlatılanın yalnızca %5-20’sini hatırlar (Açıkgöz, 2006)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154680"/>
            <a:ext cx="2194560" cy="1325880"/>
          </a:xfrm>
          <a:prstGeom prst="roundRect">
            <a:avLst>
              <a:gd name="adj" fmla="val 10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Görsel + işitsel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3154680"/>
            <a:ext cx="5257800" cy="1325880"/>
          </a:xfrm>
          <a:prstGeom prst="roundRect">
            <a:avLst>
              <a:gd name="adj" fmla="val 7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Anlama arttı (Ergin, 1998; Sönmez, 2005; Türkyılmaz, 2010)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663440"/>
            <a:ext cx="2194560" cy="1325880"/>
          </a:xfrm>
          <a:prstGeom prst="roundRect">
            <a:avLst>
              <a:gd name="adj" fmla="val 10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Hikâye türü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4663440"/>
            <a:ext cx="5257800" cy="1325880"/>
          </a:xfrm>
          <a:prstGeom prst="roundRect">
            <a:avLst>
              <a:gd name="adj" fmla="val 7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Hikâye edici metinler daha kolay anlaşılır ve hatırlanır (Graesser vd., 1991)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18</a:t>
            </a:fld>
            <a:endParaRPr lang="tr-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Öneriler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00200"/>
            <a:ext cx="7543800" cy="822960"/>
          </a:xfrm>
          <a:prstGeom prst="roundRect">
            <a:avLst>
              <a:gd name="adj" fmla="val 20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1691640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18488"/>
            <a:ext cx="6583680" cy="786384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Ortamı dikkat dağıtmayacak şekilde düzenleyin; öğrencinin tam katılımını sağlayın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32888"/>
            <a:ext cx="7543800" cy="822960"/>
          </a:xfrm>
          <a:prstGeom prst="roundRect">
            <a:avLst>
              <a:gd name="adj" fmla="val 20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48640" y="2624328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51176"/>
            <a:ext cx="6583680" cy="786384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Hikâye ve bilgi verici metin öğretiminde görsel-işitsel materyal kullanın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465576"/>
            <a:ext cx="7543800" cy="822960"/>
          </a:xfrm>
          <a:prstGeom prst="roundRect">
            <a:avLst>
              <a:gd name="adj" fmla="val 20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8640" y="3557016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3483864"/>
            <a:ext cx="6583680" cy="786384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Kaynaştırma öğrencisini akranlarıyla değil, kendi düzeyine uygun ölçmeyle değerlendirin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398264"/>
            <a:ext cx="7543800" cy="822960"/>
          </a:xfrm>
          <a:prstGeom prst="roundRect">
            <a:avLst>
              <a:gd name="adj" fmla="val 20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48640" y="4489704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416552"/>
            <a:ext cx="6583680" cy="786384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Metinleri öğrencinin gelişim düzeyine uygun seçin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330952"/>
            <a:ext cx="7543800" cy="822960"/>
          </a:xfrm>
          <a:prstGeom prst="roundRect">
            <a:avLst>
              <a:gd name="adj" fmla="val 20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8640" y="5422392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349240"/>
            <a:ext cx="6583680" cy="786384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Farklı yaş gruplarında benzer çalışmalar yapılabilir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19</a:t>
            </a:fld>
            <a:endParaRPr lang="tr-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(1/4)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AAMR, (2002). Mental Retardation: Definition, Classification, and Systems of Supports (10. Baskı). Washington DC: AAMR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Akyol, H. (1999). Hikâye Haritası Yöntemiyle Metin Öğretimi. Milli Eğitim, 142. (Online): Web: http://yayim.meb.gov.tr/dergiler/medergi/15.htm (Erişim Tarihi: 13.11.2013)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American Psychiatric Association. (2000). "Diagnostic criteria for 299.80 Asperger's Disorder (AD)". Diagnostic and Statistical Manual of Mental Disorders (4th ed., text revision bas.). ISBN 0-89042-025-4. (Erişim Tarihi: 17.09.2013)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Baskin, J. H., Sperber, M.&amp;Price B. H. (2006). "Asperger Syndrome Revisited". Rev Neurol Dis 3 (1): 1–7.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Başal, M. ve Batu, S. (2002). Zihin Özürlü Öğrencilere Okuma Yazma Öğretme Konusunda Alt Özel Sınıf Öğretmenlerinin Görüş ve Önerileri. Özel Eğitim Dergisi, 3(2), 85-98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Bıyıklı, L. (1997). Özel Eğitim Gereksinimi Duyan Çocuklar. Milli Eğitim Sanat-Kültür Dergisi. Sayı: 136, s. 31-32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Brent, R.&amp;Anderson, P. (1993). Devoloping Children`s Classroom Listening Strategies. Reading Teacher, 47, (2), pp. 122-126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Chenfeld, M. B. (1978). Teaching Language Arts Creatively. Harcourt Brace Jovanovich Publishers. San Diego.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Creswell, J. W. (2007). Qualitative Inquiry and Research Design: Choosing Among Five Traditions (Second Edition). London: Sage Publication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Doğan, Y.(2012). Dinleme Eğitimi. Pegem Akademi. Ankara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Ergin, A. ve BİROL, C. (2000). Eğitimde İletişim. Ankara: Anı Yayıncılık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20</a:t>
            </a:fld>
            <a:endParaRPr lang="tr-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(2/4)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Ergin, A. (2010). Eğitimde Etkili İletişim. Ankara: Anı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Eripek, S. (1998). Özel Eğitim. T.C. Anadolu Üniversitesi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Eripek, S. (2005). Zekâ Geriliği. Ankara: Kök Yayıncılık.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Funk, H. D.&amp;Funk, G. D. (1989). Guidelines for Developing Listening Skills. The Reading Teacher, pp.660-663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Gangi, J. M. (2004). Encountering Children's Literature. Pearson Education. Boston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Graesser, A., Golding, J. M., &amp; Long, D. L. (1991). Narrative Representation and Comprehension. in R. Bar, M. L. Kamil, P. Mosenthal &amp; P. D. Pearson (Ed.), Handbook of Reading Research (Vol. II, pp. 171-205). White Plains, NY: Longman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Hampleman, R. (1958). Comparoson of Listening and Reading Comprehension Ability of 4th and 6th Grade Pupils. Elementary English. XXXI, 49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İftar, G. K., Birkan, B. ve Uysal, A. (1997). Zihin Özürlü Çocuklara Kavram Öğretimi. Eskişehir: Mesleki Eğitim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Jalongo, M. R. (1995). Promoting Active Listening in the Cossroom. Childhood Education, 72, 1, pp.13-18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Johnson, K. O. (1951). The Effect of Classroom Training upon Listening Comprehension. The Journal of Communication. I, 58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Klin, A. (2006). "Asperger's syndrome". Adolesc Med Clin 17 (3): 771–88.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21</a:t>
            </a:fld>
            <a:endParaRPr lang="tr-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(3/4)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Kilgo, J.&amp;Gorgiarla, R. (2005). Young Children with Special Needs. (Second Edition). USA: Thomson-Delmar Learning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Kırcaali-İftar, G. (1998). Özel Eğitim. Eskişehir: T.C. Anadolu Üniversitesi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Kingen, S. (2000). Teaching Language Arts in Middle Schools. Mahwah, New Jersey: Lawrence Erlbaum Associates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Kuz, T. (2001). Kaynaştırma Eğitimine Yönelik Tutumların İncelenmesi. Ankara: Başbakanlık Özürlüler idaresi Başkanlığı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Kuzu, T. S. (2004). Etkileşimsel Modele Uygun Okuma Öğretiminin Türkçe Bilgilendirici Metinleri Anlama Düzeyine Etkisi. Ankara Üniversitesi, Eğitim Bilimleri Fakültesi Dergisi, 3(1), 55-77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Levis, R. B.&amp;Doorlag H. D. (1999). Teaching Special Students in General Education Classrooms. New Jersey, Prentice Hall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Mağden, D. ve Avcı, N. (1997). Öğretmen Adaylarının Özürlü Öğrencilerin Kaynaştırılmasına İlişkin Görüşleri. 4. Ulusal Eğitim Bilimleri Kongresi. Eskişehir: Anadolu Üniversitesi Eğitim Fakültesi. 10-12 Eylül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(2005). İlköğretim 1-5. Sınıf Programları Tanıtım El Kitabı. Ankara: Devlet Kitapları Müdürlüğü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(2006). Özel eğitim Hizmetleri Yönetmeliği, 31.05.2006 tarih ve 26184 Sayılı Resmî Gazete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(2009). MEGEP. Çocuk Gelişimi ve Eğitimi. Zihinsel Engelliler. Ders Notları. Ankara: Devlet Kitapları Müdürlüğü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Merriam, S. B. (1998). Qualitative Researchand Case Study Applications in Education (Second Edition). San Francisco: Jossey-Bass Publishers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22</a:t>
            </a:fld>
            <a:endParaRPr lang="tr-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(4/4)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Ömür, M. (2006). Kulağımızın Göz Kapağı Yoktur, Cumhuriyet Bilim, S.990, s. 16-17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Özbay, M. (2005). Bir Dil Becerisi Olarak Dinleme Eğitimi. Ankara: Akçağ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Özel Eğitim Hakkında Kanun Hükmünde Kararname ve Özel Eğitim Hizmetleri Yönetmeliği (2000). Ankara: Milli Eğitim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Özdemir, E. (1998). Eleştirel Okuma. Ankara: Ümit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Özgür, G. (2004). Engelli Çocuklar ve Eğitim-Özel Eğitim. Adana: Karhan Kitabevi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Salend, S. J. (1998). Effective Mainstreaming: Creating inclusive classrooms. (3rd Edition). New Jersey: Merrill Prentice Hall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Sucuoğlu, B. (2010). Zihin Engelliler ve Eğitimleri. Ankara: Kök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Şura Raporu. (1999). I. Özürlüler Şurası Çağdaş Toplum Çağdaş Yaşam ve Özürlüler. 29 Kasım-02 Aralık. Ankara: T.C. Başbakanlık Özürlüler İdaresi Başkanlığı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Tüfekçioğlu, Ü. (1997). İşitme Engelli Çocukların Okul Öncesi Dönemde Kaynaştırma Ortamında Eğitimleri. Milli Eğitim Kültür-Sanat Dergisi, Sayı: 136, S:58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Quandt, J. I. (1983). Language Arts for Children. London: Prentice Hall Inc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Weaver, C.&amp;Kintsch, W. (1991). Expository Texts. Handbook of Reading Research. Rebecca Barr, Michael Kamil ve diğer (Ed.) New York: Longman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Westling, D. L.&amp;Fox, L. (2000). Teaching Students With Several Disabilities. (2nd Edition). USA: Printice Hall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23</a:t>
            </a:fld>
            <a:endParaRPr lang="tr-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 b="0">
                <a:latin typeface="Times New Roman"/>
              </a:rPr>
              <a:t>HAZIRLAYAN :</a:t>
            </a:r>
          </a:p>
          <a:p/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>ÖZET MAKALE (TÜRKÇE)</a:t>
            </a:r>
          </a:p>
          <a:p/>
          <a:p>
            <a:r>
              <a:rPr sz="2400" b="1">
                <a:latin typeface="Times New Roman"/>
              </a:rPr>
              <a:t>Akademik Bakış Dergisi, Sayı 41, Mart–Nisan 2014</a:t>
            </a:r>
          </a:p>
          <a:p>
            <a:r>
              <a:rPr sz="2400" b="1">
                <a:latin typeface="Times New Roman"/>
              </a:rPr>
              <a:t>Celalabat / Kırgızistan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24</a:t>
            </a:fld>
            <a:endParaRPr lang="tr-TR"/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457200" y="5257800"/>
            <a:ext cx="7543800" cy="1005840"/>
          </a:xfrm>
          <a:prstGeom prst="roundRect">
            <a:avLst>
              <a:gd name="adj" fmla="val 20000"/>
            </a:avLst>
          </a:prstGeom>
          <a:solidFill>
            <a:srgbClr val="FFF1E0"/>
          </a:solidFill>
          <a:ln w="38100">
            <a:solidFill>
              <a:srgbClr val="E36C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Times New Roman"/>
                <a:hlinkClick r:id="rId2"/>
              </a:rPr>
              <a:t>Makalenin tamamı bir tık uzağınızda</a:t>
            </a:r>
          </a:p>
          <a:p>
            <a:pPr algn="ctr"/>
            <a:r>
              <a:rPr sz="1800" b="0">
                <a:solidFill>
                  <a:srgbClr val="FFFFFF"/>
                </a:solidFill>
                <a:latin typeface="Times New Roman"/>
                <a:hlinkClick r:id="rId2"/>
              </a:rPr>
              <a:t>Okumak için buraya tıklayın  ›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itişiklik">
  <a:themeElements>
    <a:clrScheme name="Bitişiklik">
      <a:dk1>
        <a:srgbClr val="2F2B20"/>
      </a:dk1>
      <a:lt1>
        <a:srgbClr val="FFFFFF"/>
      </a:lt1>
      <a:dk2>
        <a:srgbClr val="675E47"/>
      </a:dk2>
      <a:lt2>
        <a:srgbClr val="DFDCB7"/>
      </a:lt2>
      <a:accent1>
        <a:srgbClr val="E36C0A"/>
      </a:accent1>
      <a:accent2>
        <a:srgbClr val="9CBEBD"/>
      </a:accent2>
      <a:accent3>
        <a:srgbClr val="F4A259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Ofis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itişiklik">
      <a:fillStyleLst>
        <a:solidFill>
          <a:schemeClr val="phClr"/>
        </a:solidFill>
        <a:solidFill>
          <a:schemeClr val="phClr">
            <a:tint val="55000"/>
          </a:schemeClr>
        </a:solidFill>
        <a:solidFill>
          <a:schemeClr val="phClr"/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algn="bl" rotWithShape="0">
              <a:srgbClr val="000000">
                <a:alpha val="60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brightRoom" dir="tl">
              <a:rot lat="0" lon="0" rev="1800000"/>
            </a:lightRig>
          </a:scene3d>
          <a:sp3d contourW="10160" prstMaterial="dkEdge">
            <a:bevelT w="38100" h="50800" prst="angle"/>
            <a:contourClr>
              <a:schemeClr val="phClr">
                <a:shade val="4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75000">
              <a:schemeClr val="phClr">
                <a:shade val="100000"/>
                <a:satMod val="115000"/>
              </a:schemeClr>
            </a:gs>
            <a:gs pos="100000">
              <a:schemeClr val="phClr">
                <a:shade val="70000"/>
                <a:satMod val="130000"/>
              </a:schemeClr>
            </a:gs>
          </a:gsLst>
          <a:path path="circle">
            <a:fillToRect l="20000" t="50000" r="10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7000"/>
              </a:schemeClr>
              <a:schemeClr val="phClr">
                <a:shade val="96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is Teması">
  <a:themeElements>
    <a:clrScheme name="Ofi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i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Adjacency</Template>
  <TotalTime>356</TotalTime>
  <Words>6685</Words>
  <Application>Microsoft Office PowerPoint</Application>
  <PresentationFormat>Ekran Gösterisi (4:3)</PresentationFormat>
  <Paragraphs>498</Paragraphs>
  <Slides>104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Slayt Başlıkları</vt:lpstr>
      </vt:variant>
      <vt:variant>
        <vt:i4>104</vt:i4>
      </vt:variant>
    </vt:vector>
  </HeadingPairs>
  <TitlesOfParts>
    <vt:vector size="105" baseType="lpstr">
      <vt:lpstr>Bitişiklik</vt:lpstr>
      <vt:lpstr>Zihinsel Yetersizliği Olan Çocuklar ve Oyun Ortamında Akran Etkileşimi</vt:lpstr>
      <vt:lpstr>  Öz </vt:lpstr>
      <vt:lpstr>Öz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Giriş </vt:lpstr>
      <vt:lpstr>Zihinsel Yetersizliği Olan Çocuklar ve Oyun Ortamında Akran Etkileşimi</vt:lpstr>
      <vt:lpstr>PowerPoint Sunusu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Yöntem  Araştırma Modeli </vt:lpstr>
      <vt:lpstr>Zihinsel Yetersizliği Olan Çocuklar ve Oyun Ortamında Akran Etkileşimi</vt:lpstr>
      <vt:lpstr>Zihinsel Yetersizliği Olan Çocuklar ve Oyun Ortamında Akran Etkileşimi</vt:lpstr>
      <vt:lpstr>Katılımcılar </vt:lpstr>
      <vt:lpstr>PowerPoint Sunusu</vt:lpstr>
      <vt:lpstr>Veri Toplama Araçları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Verilerin Toplanması </vt:lpstr>
      <vt:lpstr>Verilerin Toplanması </vt:lpstr>
      <vt:lpstr>Verilerin Toplanması </vt:lpstr>
      <vt:lpstr>PowerPoint Sunusu</vt:lpstr>
      <vt:lpstr>PowerPoint Sunusu</vt:lpstr>
      <vt:lpstr>PowerPoint Sunusu</vt:lpstr>
      <vt:lpstr>PowerPoint Sunusu</vt:lpstr>
      <vt:lpstr>Verilerin Analizi </vt:lpstr>
      <vt:lpstr>Verilerin Analizi </vt:lpstr>
      <vt:lpstr>Bulgular </vt:lpstr>
      <vt:lpstr>Tema 1. Tek Başına Oyun Davranışları </vt:lpstr>
      <vt:lpstr>Tema 1. Tek Başına Oyun Davranışları </vt:lpstr>
      <vt:lpstr>Tema 2. Akranlarla Birlikte Oyun Davranışları </vt:lpstr>
      <vt:lpstr>Tema 2. Akranlarla Birlikte Oyun Davranışları </vt:lpstr>
      <vt:lpstr>PowerPoint Sunusu</vt:lpstr>
      <vt:lpstr>Tablo 1. Ali’nin Zihinsel Yetersizliğe Sâhip Akranları ile Oyun Davranışları 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Tablo 2. Ali’nin Normal Gelişim Gösteren Akranları ile Oyun Davranışları 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Tema 3. Akran Etkileşimi </vt:lpstr>
      <vt:lpstr>Ali’nin Normal Gelişim Gösteren Akranları ile Oyun Davranışları</vt:lpstr>
      <vt:lpstr>Ali’nin Normal Gelişim Gösteren Akranları ile Oyun Davranışları</vt:lpstr>
      <vt:lpstr>Tartışma ve Sonuç 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PowerPoint Sunusu</vt:lpstr>
      <vt:lpstr>KAYNAKÇA</vt:lpstr>
      <vt:lpstr>PowerPoint Sunusu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Zihinsel Yetersizliği Olan Çocuklar ve Oyun Ortamında Akran Etkileşimi</dc:title>
  <cp:lastModifiedBy>Hp</cp:lastModifiedBy>
  <cp:revision>40</cp:revision>
  <cp:lastPrinted>2018-11-03T19:18:00Z</cp:lastPrinted>
  <dcterms:modified xsi:type="dcterms:W3CDTF">2018-11-03T19:21:03Z</dcterms:modified>
</cp:coreProperties>
</file>