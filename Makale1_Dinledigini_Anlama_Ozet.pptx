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797675" cy="987266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106" Type="http://schemas.openxmlformats.org/officeDocument/2006/relationships/notesMaster" Target="notesMasters/notesMaster1.xml"/><Relationship Id="rId107" Type="http://schemas.openxmlformats.org/officeDocument/2006/relationships/presProps" Target="presProps.xml"/><Relationship Id="rId108" Type="http://schemas.openxmlformats.org/officeDocument/2006/relationships/viewProps" Target="viewProps.xml"/><Relationship Id="rId109" Type="http://schemas.openxmlformats.org/officeDocument/2006/relationships/theme" Target="theme/theme1.xml"/><Relationship Id="rId1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9D820-8787-4EFC-A334-4F6172B60678}" type="datetimeFigureOut">
              <a:rPr lang="tr-TR" smtClean="0"/>
              <a:t>03.11.2018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162E2-2D59-4448-8347-DF58660EEE4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771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69B0-F384-4AD7-AD8D-4096480A9A4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E379-24A1-460A-9149-676909C681DD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AD7F-6F3F-4DFF-B7AD-B125074C601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635F-7193-4694-BC28-2F8F93A66EBD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18252-8E12-4243-A9B5-112538D552CA}" type="datetime1">
              <a:rPr lang="tr-TR" smtClean="0"/>
              <a:t>03.11.2018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BD8F-24F3-4D49-A602-4010108E9C2F}" type="datetime1">
              <a:rPr lang="tr-TR" smtClean="0"/>
              <a:t>03.11.2018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E7C8-ED9D-4733-AE7A-D26D62C5977F}" type="datetime1">
              <a:rPr lang="tr-TR" smtClean="0"/>
              <a:t>03.11.2018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56B2-AAAF-4ACC-8725-F361F719AEAE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6ABE-C472-4B30-AEE4-F60A52850637}" type="datetime1">
              <a:rPr lang="tr-TR" smtClean="0"/>
              <a:t>03.11.2018</a:t>
            </a:fld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84E-E50D-4FCE-98A9-267F995A398B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F191-22B5-4872-AE57-ADC5493E3A67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74E615E-36E1-4294-A833-FBFDBE08EE80}" type="datetime1">
              <a:rPr lang="tr-TR" smtClean="0"/>
              <a:t>03.11.2018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>
                <a:latin typeface="Times New Roman"/>
              </a:rPr>
              <a:t>Hafif Düzeyde Zihinsel Yetersizliği Olan Kaynaştırma Öğrencilerinin Dinlediğini Anlama Becerilerinin İncelenmesi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latin typeface="Times New Roman"/>
              </a:rPr>
              <a:t>İbrahim COŞKUN</a:t>
            </a:r>
          </a:p>
          <a:p>
            <a:r>
              <a:rPr sz="2000" b="1">
                <a:latin typeface="Times New Roman"/>
              </a:rPr>
              <a:t>Gül ERDİN</a:t>
            </a:r>
          </a:p>
          <a:p>
            <a:r>
              <a:rPr sz="1400" b="0">
                <a:latin typeface="Times New Roman"/>
              </a:rPr>
              <a:t>Akademik Bakış Dergisi, Sayı 41, Mart–Nisan 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Öz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Amaç: Hafif düzeyde zihinsel yetersizliği olan kaynaştırma öğrencilerinin hikâye ve bilgilendirici metinleri işitsel ya da görsel-işitsel materyalle dinlediklerinde anlama düzeylerini ölçmek.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Katılımcılar: Farklı okullara devam eden, zekâ bölümü 50-70 arasında üç öğrenci.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Desen: Nitel araştırma, durum çalışması; uygulama özel eğitim ve rehabilitasyon merkezinde bireysel yapılmıştır.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Öz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Aralık 2013’te her öğrenciyle toplam 6 ders saati çalışılmış; 1., 2. ve 3. sınıf düzeyine uygun hikâye edici ve bilgilendirici metin/video kullanılmıştır.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Ölçme: 5N1K ve hikâye haritası temelli dinlediğini anlama testi.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Bulgu: Görsel ve işitsel materyal birlikte kullanıldığında anlama, yalnız işitsel materyale göre daha yüksektir; hikâye edici metinde başarı bilgilendirici metne göre daha yüksektir.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Anahtar sözcükler: Zihin engelliler, kaynaştırma eğitimi, dinleme anlama öğretimi.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Zihinsel Yetersizlik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Zihinsel yetersizlik: zihinsel işlevlerde ve kavramsal, sosyal, pratik uyumsal becerilerde belirgin sınırlılık; 18 yaşından önce başlar (AAMR, 2002).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Zekâ bölümüne göre hafif (50/55-70), orta, ağır ve çok ağır olarak sınıflandırılır.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Hafif düzeydeki öğrenciler zihinsel engellilerin yaklaşık %85’ini oluşturur (Salend, 1998).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Soyut kavramları geç kavrar, genelleme yapmakta zorlanır; akademik beceriler yaklaşık 6. sınıf düzeyine ulaşır (Eripek, 2005; Sucuoğlu, 2010).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Kaynaştırma Eğitimi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Kaynaştırma: engelli öğrencilerin, özel eğitim desteğiyle engelsiz akranlarıyla normal okul ve sınıflarda eğitim almasıdır (Tüfekçioğlu, 1997).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Amaçlar: damgalamayı silmek, engelli çocuğun sosyal statüsünü yükseltmek, daha iyi ve ucuz bir öğrenme çevresi yaratmak.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En az kısıtlayıcı ortam ilkesine göre kaynaştırma, eğitim ortamları içinde en üst basamaktır (Kırcaali-İftar, 1998).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Türkiye’de kaynaştırma uygulamaları 1985’ten sonra başlamıştır (Kuz, 2001).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Dinleme Becerisi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Dinleme: sözlü iletişimde mesajı anlama ve cevap verme etkinliğidir; insanın kazandığı ilk dil becerisidir (Ömür, 2006).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Dinleme tek başına gelişir, öğretilemez gibi yaygın görüşlere rağmen bu iddia araştırmayla doğrulanmamıştır (Funk ve Funk, 1989).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İlköğretim öğrencileri zayıf dinleyicidir; nedenleri arasında dinleme eğitimine yeterince yer verilmemesi ve evde dinleme etkileşiminin azlığı vardır (Brent ve Anderson, 1993).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Dinleme eğitiminde görsel öğeler, hikâye haritası, düşünce şeması gibi teknikler başarıyı artırır (Winn, 1988).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Metin Türleri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Hikâye edici metin: </a:t>
            </a:r>
            <a:r>
              <a:rPr sz="2500" b="0">
                <a:latin typeface="Times New Roman"/>
              </a:rPr>
              <a:t>sahne, karakter, olay, problem çözme, sonuç, ana fikir ve tepki aşamalarını içerir; okul öncesi dönemden beri tanıdık bir yapıdır, anlamak ve hatırlamak daha kolaydır (Graesser vd., 1991).</a:t>
            </a:r>
          </a:p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Bilgi verici metin: </a:t>
            </a:r>
            <a:r>
              <a:rPr sz="2500" b="0">
                <a:latin typeface="Times New Roman"/>
              </a:rPr>
              <a:t>amacı bilgi aktarmaktır; anlatım düzdür, yaratıcılık ve kurgusallık yoktur, gerçek dünyadaki durumları anlatır (Özdemir, 1998).</a:t>
            </a:r>
          </a:p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Bilgilendirici metin anlama: </a:t>
            </a:r>
            <a:r>
              <a:rPr sz="2500" b="0">
                <a:latin typeface="Times New Roman"/>
              </a:rPr>
              <a:t>5N1K (kim, ne, ne zaman, nerede, nasıl, niçin), ana fikir ve yardımcı fikirlerin bulunması (Alperen, 1999).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Problem ve Alt Problemler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400" b="1">
                <a:latin typeface="Times New Roman"/>
              </a:rPr>
              <a:t>Ana problem: </a:t>
            </a:r>
            <a:r>
              <a:rPr sz="2400" b="0">
                <a:latin typeface="Times New Roman"/>
              </a:rPr>
              <a:t>Hafif düzeyde zihinsel yetersizliği olan kaynaştırma öğrencilerinin dinlediğini anlama becerileri nasıldır?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Alt problemler: öğrencilerin (1) hikâyeyi ve (2) bilgilendirici metni yalnızca işitsel materyalle; (3) hikâyeyi ve (4) bilgilendirici metni görsel-işitsel materyalle dinlediklerinde anlama düzeyleri nasıldır?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(5) İşitsel ve görsel-işitsel materyal kullanımının anlamaya etkisi nedir?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(6) Hikâye edici ve bilgi verici metin türlerinin anlamaya etkisi nedir?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Amaç, Önem ve Sınırlılıklar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Amaç: </a:t>
            </a:r>
            <a:r>
              <a:rPr sz="2500" b="0">
                <a:latin typeface="Times New Roman"/>
              </a:rPr>
              <a:t>Öğrencilerin dinlediğini anlama becerilerini ölçmek ve görsel ile işitsel materyal arasındaki etkileşimi belirlemek.</a:t>
            </a:r>
          </a:p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Önem: </a:t>
            </a:r>
            <a:r>
              <a:rPr sz="2500" b="0">
                <a:latin typeface="Times New Roman"/>
              </a:rPr>
              <a:t>Sonuçlar, hafif düzeyde zihinsel engelli çocukların eğitim ortamı ve materyallerinin düzenlenmesine ve öğretmen yetiştirme programlarına fikir verebilir.</a:t>
            </a:r>
          </a:p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Sınırlılıklar: </a:t>
            </a:r>
            <a:r>
              <a:rPr sz="2500" b="0">
                <a:latin typeface="Times New Roman"/>
              </a:rPr>
              <a:t>İstanbul’da ilköğretime devam eden 11-12 yaşlarında, 50-70 arası zekâ bölümlü üç öğrenci; yalnızca işitsel ve görsel-işitsel materyaller.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Yöntem ve Katılımcılar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Desen: </a:t>
            </a:r>
            <a:r>
              <a:rPr sz="2500" b="0">
                <a:latin typeface="Times New Roman"/>
              </a:rPr>
              <a:t>Nitel araştırma yöntemlerinden durum çalışması (Yıldırım ve Şimşek, 2006; Merriam, 1988).</a:t>
            </a:r>
          </a:p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G: </a:t>
            </a:r>
            <a:r>
              <a:rPr sz="2500" b="0">
                <a:latin typeface="Times New Roman"/>
              </a:rPr>
              <a:t>10 yaşında, 4. sınıf, bireysel eğitim alıyor.</a:t>
            </a:r>
          </a:p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B: </a:t>
            </a:r>
            <a:r>
              <a:rPr sz="2500" b="0">
                <a:latin typeface="Times New Roman"/>
              </a:rPr>
              <a:t>12 yaşında, 7. sınıf, bireysel eğitim alıyor.</a:t>
            </a:r>
          </a:p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F: </a:t>
            </a:r>
            <a:r>
              <a:rPr sz="2500" b="0">
                <a:latin typeface="Times New Roman"/>
              </a:rPr>
              <a:t>11 yaşında, 6. sınıf, bireysel ve grup eğitimi alıyor; Asperger sendromu tanısı var.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Üçü de RAM değerlendirmesiyle destek eğitim programından yararlanmaktadır; sınıfta yalnızca araştırmacı ve öğrenci bulunmuştur.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Veri Toplama Araçları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400" b="1">
                <a:latin typeface="Times New Roman"/>
              </a:rPr>
              <a:t>İşitsel materyal: </a:t>
            </a:r>
            <a:r>
              <a:rPr sz="2400" b="0">
                <a:latin typeface="Times New Roman"/>
              </a:rPr>
              <a:t>MEB onaylı Türkçe ders kitaplarından 1., 2., 3. sınıfa uygun 6 hikâye edici ve 6 bilgilendirici metin (ör. Kuşkucu Horoz, Üç Kelebek, Nasreddin Hoca Şenlikleri).</a:t>
            </a:r>
          </a:p>
          <a:p>
            <a:pPr>
              <a:spcAft>
                <a:spcPts val="600"/>
              </a:spcAft>
            </a:pPr>
            <a:r>
              <a:rPr sz="2400" b="1">
                <a:latin typeface="Times New Roman"/>
              </a:rPr>
              <a:t>Görsel-işitsel materyal: </a:t>
            </a:r>
            <a:r>
              <a:rPr sz="2400" b="0">
                <a:latin typeface="Times New Roman"/>
              </a:rPr>
              <a:t>Uzman görüşüyle seçilen çizgi filmler (Üçüzler Doktorda, Pak ile Pırpır, Rüya’nın Günlüğü) ve bilgi verici videolar (Bitkilerin Büyümesi, İlkyardım Eğitimi, Kek Nasıl Üretilir?).</a:t>
            </a:r>
          </a:p>
          <a:p>
            <a:pPr>
              <a:spcAft>
                <a:spcPts val="600"/>
              </a:spcAft>
            </a:pPr>
            <a:r>
              <a:rPr sz="2400" b="0">
                <a:latin typeface="Times New Roman"/>
              </a:rPr>
              <a:t>Metinler araştırmacı tarafından prozodik özelliklere uygun, bir kez ve tekrarsız okunmuş; videolar bir kez izletilmiştir.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Dinlediğini Anlama Testi ve Puanlama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Test: </a:t>
            </a:r>
            <a:r>
              <a:rPr sz="2000" b="0">
                <a:latin typeface="Times New Roman"/>
              </a:rPr>
              <a:t>12 ayrı dinlediğini anlama testi geliştirilmiştir (alan yazın, uzman ve öğretmen görüşü alınarak).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Bilgilendirici metin: </a:t>
            </a:r>
            <a:r>
              <a:rPr sz="2000" b="0">
                <a:latin typeface="Times New Roman"/>
              </a:rPr>
              <a:t>5N1K temelinde 8 soru; konu ve ana fikir 20’şer, diğer sorular 10’ar puan.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Hikâye edici metin: </a:t>
            </a:r>
            <a:r>
              <a:rPr sz="2000" b="0">
                <a:latin typeface="Times New Roman"/>
              </a:rPr>
              <a:t>hikâye haritasına göre 8 soru; ana fikir 25, sonuç 15, diğer unsurlar 10’ar puan.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Sorular basit anlama (6 soru, 60 puan) ve derin anlama (2 soru, 40 puan) olarak ayrılmıştır; toplam 100 puandır.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Uygulama Aralık 2013’te her öğrenciyle ayrı ayrı, ders saatinde 2’şer metin/video olmak üzere toplam 6 ders saati yapılmış; önce hikâye edici, sonra bilgi verici materyal sunulmuştur. Cevaplar araştırmacı ve iki uzmanca puanlanmış, bulgular betimsel yorumlanmıştır.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Anlama Puanları (100 üzerinden)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00200"/>
          <a:ext cx="761999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675"/>
                <a:gridCol w="1441621"/>
                <a:gridCol w="1544594"/>
                <a:gridCol w="1647567"/>
                <a:gridCol w="1750540"/>
              </a:tblGrid>
              <a:tr h="347472"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Öğrenci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İşitsel – Hikâye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İşitsel – Bilgi verici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Görsel-işitsel – Hikâye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Görsel-işitsel – Bilgi verici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800" b="0">
                          <a:latin typeface="Times New Roman"/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41,3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7,7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65,7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41,0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800" b="0">
                          <a:latin typeface="Times New Roman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46,3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19,3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60,7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50,3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800" b="0">
                          <a:latin typeface="Times New Roman"/>
                        </a:rPr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5,3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0,0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19,7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latin typeface="Times New Roman"/>
                        </a:rPr>
                        <a:t>10,0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/>
                        </a:rPr>
                        <a:t>Ortalama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/>
                        </a:rPr>
                        <a:t>31,0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/>
                        </a:rPr>
                        <a:t>9,0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/>
                        </a:rPr>
                        <a:t>48,7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/>
                        </a:rPr>
                        <a:t>33,8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50000"/>
            <a:ext cx="76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latin typeface="Times New Roman"/>
              </a:rPr>
              <a:t>Tablo 1–4’ün 1., 2. ve 3. sınıf düzeylerinin ortalamalarıdır.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İşitsel Materyal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Hikâye edici metin: </a:t>
            </a:r>
            <a:r>
              <a:rPr sz="2500" b="0">
                <a:latin typeface="Times New Roman"/>
              </a:rPr>
              <a:t>G, B, F için 41,3 / 46,3 / 5,3. Sınıf düzeyi arttıkça başarı düşmüştür (ortalama 38,3 → 31,0 → 23,7).</a:t>
            </a:r>
          </a:p>
          <a:p>
            <a:pPr>
              <a:spcAft>
                <a:spcPts val="600"/>
              </a:spcAft>
            </a:pPr>
            <a:r>
              <a:rPr sz="2500" b="1">
                <a:latin typeface="Times New Roman"/>
              </a:rPr>
              <a:t>Bilgi verici metin: </a:t>
            </a:r>
            <a:r>
              <a:rPr sz="2500" b="0">
                <a:latin typeface="Times New Roman"/>
              </a:rPr>
              <a:t>G, B, F için 7,7 / 19,3 / 0. Tüm sınıf düzeylerinde anlama başarısı düşüktür.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F’nin çok düşük puanları Asperger sendromunun sosyal etkileşim ve iletişim güçlüğüyle ilişkilendirilmiştir.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G’nin 3. sınıf bilgi verici metinde puanının artması metnin ilgi alanına girmesine bağlanmıştır.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Görsel-İşitsel Materyal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Hikâye edici metin: </a:t>
            </a:r>
            <a:r>
              <a:rPr sz="2000" b="0">
                <a:latin typeface="Times New Roman"/>
              </a:rPr>
              <a:t>G, B, F için 65,7 / 60,7 / 19,7; sınıf düzeyi yükseldikçe ortalama 61,3 → 48 → 36,7’ye düşmüştür.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Bilgi verici metin: </a:t>
            </a:r>
            <a:r>
              <a:rPr sz="2000" b="0">
                <a:latin typeface="Times New Roman"/>
              </a:rPr>
              <a:t>G, B, F için 41 / 50,3 / 10; ortalama 43,3 → 34,7 → 23,3.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Karşılaştırma: </a:t>
            </a:r>
            <a:r>
              <a:rPr sz="2000" b="0">
                <a:latin typeface="Times New Roman"/>
              </a:rPr>
              <a:t>Her iki metin türünde basit ve derin anlama çoğunlukla görsel-işitsel materyalle daha yüksektir; tek istisna B’nin hikâye metnindeki basit anlamasıdır (37,3 → 35,6).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Derin anlama sorularında başarı düşük kalmış; F işitsel koşulda derin anlamada hiç puan alamamıştır.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Sonuç ve Tartışma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Yalnız işitsel materyalle hikâye edici metinde anlama normal düzeydedir (G 41,3; B 46,3; F 5,3); bilgi verici metinde ise düşüktür (7,7 / 19,3 / 0).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Bulgu, hikâye edici türün anlaşılması ve hatırlanmasının kolaylığıyla (Graesser vd., 1991) ve bilgi vermeye dayalı metinlerin daha zor olduğu görüşüyle (Akyol, 2013) paralellik gösterir.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İşitsel materyalin tek başına kullanılması anlama başarısını potansiyelin altında tutmaktadır; insanlar anlatılanların yalnızca %5-20’sini hatırlayabilmektedir (Açıkgöz, 2006).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Sonuç ve Tartışma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Hikâye edici metni görsel-işitsel materyalle dinlediklerinde anlama düzeyleri normaldir (65,7 / 60,7 / 19,7); bilgi verici metinde 41 / 50,3 / 10’dur.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Görsel ve işitsel materyalin birlikte kullanılması, yalnız işitsel kullanıma göre anlama düzeyini artırmıştır (Ergin, 1998; Sönmez, 2005; Türkyılmaz, 2010; Winn, 1988).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Hikâye edici metinlerde anlama başarısı bilgilendirici metne göre daha yüksektir; bu bulgu işitsel ve görsel-işitsel koşulda aynıdır.</a:t>
            </a:r>
          </a:p>
          <a:p>
            <a:pPr>
              <a:spcAft>
                <a:spcPts val="600"/>
              </a:spcAft>
            </a:pPr>
            <a:r>
              <a:rPr sz="2500" b="0">
                <a:latin typeface="Times New Roman"/>
              </a:rPr>
              <a:t>Sınıf düzeyi yükseldikçe anlama başarısı düşmüştür.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Öneriler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Times New Roman"/>
              </a:rPr>
              <a:t>Dinleme anlama çalışmalarında ortam, öğrencinin dikkatini dağıtmayacak şekilde düzenlenmeli ve öğrencinin tam katılımı sağlanmalıdır.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Times New Roman"/>
              </a:rPr>
              <a:t>Hikâye edici ve bilgi verici metin öğretiminde görsel-işitsel materyal kullanılmalıdır.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Times New Roman"/>
              </a:rPr>
              <a:t>Kaynaştırma ortamındaki öğrencilerin anlama düzeyleri, akranlarla birlikte değil kendi düzeylerine uygun ölçme ve değerlendirmeyle belirlenmelidir.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Times New Roman"/>
              </a:rPr>
              <a:t>Metinler öğrencinin gelişim düzeyine uygun seçilmeli; dinleme becerisi sınıf ve özel eğitim öğretmeninin iş birliğiyle geliştirilmelidir.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Times New Roman"/>
              </a:rPr>
              <a:t>Benzer çalışmalar farklı yaş gruplarında yapılıp karşılaştırılabilir.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(Seçme)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AAMR (2002). Mental Retardation: Definition, Classification, and Systems of Supports (10. Baskı). Washington DC: AAMR.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Eripek, S. (2005). Zekâ Geriliği. Ankara: Kök Yayıncılık.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Graesser, A., Golding, J. M., &amp; Long, D. L. (1991). Narrative Representation and Comprehension. Handbook of Reading Research (Vol. II).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Kırcaali-İftar, G. (1998). Özel Eğitim. Eskişehir: Anadolu Üniversitesi Yayınları.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Sucuoğlu, B. (2010). Zihin Engelliler ve Eğitimleri. Ankara: Kök Yayıncılık.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Doğan, Y. (2012). Dinleme Eğitimi. Ankara: Pegem Akademi.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Creswell, J. W. (2007). Qualitative Inquiry and Research Design (2nd ed.). London: Sage.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latin typeface="Times New Roman"/>
              </a:rPr>
              <a:t>HAZIRLAYAN :</a:t>
            </a:r>
          </a:p>
          <a:p/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>ÖZET MAKALE (TÜRKÇE)</a:t>
            </a:r>
          </a:p>
          <a:p/>
          <a:p>
            <a:r>
              <a:rPr sz="2400" b="1">
                <a:latin typeface="Times New Roman"/>
              </a:rPr>
              <a:t>Akademik Bakış Dergisi, Sayı 41, Mart–Nisan 2014</a:t>
            </a:r>
          </a:p>
          <a:p>
            <a:r>
              <a:rPr sz="2400" b="1">
                <a:latin typeface="Times New Roman"/>
              </a:rPr>
              <a:t>Celalabat / Kırgızistan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itişiklik">
  <a:themeElements>
    <a:clrScheme name="Bitişiklik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i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tişiklik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356</TotalTime>
  <Words>6685</Words>
  <Application>Microsoft Office PowerPoint</Application>
  <PresentationFormat>Ekran Gösterisi (4:3)</PresentationFormat>
  <Paragraphs>498</Paragraphs>
  <Slides>104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104</vt:i4>
      </vt:variant>
    </vt:vector>
  </HeadingPairs>
  <TitlesOfParts>
    <vt:vector size="105" baseType="lpstr">
      <vt:lpstr>Bitişiklik</vt:lpstr>
      <vt:lpstr>Zihinsel Yetersizliği Olan Çocuklar ve Oyun Ortamında Akran Etkileşimi</vt:lpstr>
      <vt:lpstr>  Öz </vt:lpstr>
      <vt:lpstr>Öz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Giriş </vt:lpstr>
      <vt:lpstr>Zihinsel Yetersizliği Olan Çocuklar ve Oyun Ortamında Akran Etkileşimi</vt:lpstr>
      <vt:lpstr>PowerPoint Sunusu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Yöntem  Araştırma Modeli </vt:lpstr>
      <vt:lpstr>Zihinsel Yetersizliği Olan Çocuklar ve Oyun Ortamında Akran Etkileşimi</vt:lpstr>
      <vt:lpstr>Zihinsel Yetersizliği Olan Çocuklar ve Oyun Ortamında Akran Etkileşimi</vt:lpstr>
      <vt:lpstr>Katılımcılar </vt:lpstr>
      <vt:lpstr>PowerPoint Sunusu</vt:lpstr>
      <vt:lpstr>Veri Toplama Araçları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Verilerin Toplanması </vt:lpstr>
      <vt:lpstr>Verilerin Toplanması </vt:lpstr>
      <vt:lpstr>Verilerin Toplanması </vt:lpstr>
      <vt:lpstr>PowerPoint Sunusu</vt:lpstr>
      <vt:lpstr>PowerPoint Sunusu</vt:lpstr>
      <vt:lpstr>PowerPoint Sunusu</vt:lpstr>
      <vt:lpstr>PowerPoint Sunusu</vt:lpstr>
      <vt:lpstr>Verilerin Analizi </vt:lpstr>
      <vt:lpstr>Verilerin Analizi </vt:lpstr>
      <vt:lpstr>Bulgular </vt:lpstr>
      <vt:lpstr>Tema 1. Tek Başına Oyun Davranışları </vt:lpstr>
      <vt:lpstr>Tema 1. Tek Başına Oyun Davranışları </vt:lpstr>
      <vt:lpstr>Tema 2. Akranlarla Birlikte Oyun Davranışları </vt:lpstr>
      <vt:lpstr>Tema 2. Akranlarla Birlikte Oyun Davranışları </vt:lpstr>
      <vt:lpstr>PowerPoint Sunusu</vt:lpstr>
      <vt:lpstr>Tablo 1. Ali’nin Zihinsel Yetersizliğe Sâhip Akranları ile Oyun Davranışları 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Tablo 2. Ali’nin Normal Gelişim Gösteren Akranları ile Oyun Davranışları 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Tema 3. Akran Etkileşimi </vt:lpstr>
      <vt:lpstr>Ali’nin Normal Gelişim Gösteren Akranları ile Oyun Davranışları</vt:lpstr>
      <vt:lpstr>Ali’nin Normal Gelişim Gösteren Akranları ile Oyun Davranışları</vt:lpstr>
      <vt:lpstr>Tartışma ve Sonuç 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PowerPoint Sunusu</vt:lpstr>
      <vt:lpstr>KAYNAKÇA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Zihinsel Yetersizliği Olan Çocuklar ve Oyun Ortamında Akran Etkileşimi</dc:title>
  <cp:lastModifiedBy>Hp</cp:lastModifiedBy>
  <cp:revision>40</cp:revision>
  <cp:lastPrinted>2018-11-03T19:18:00Z</cp:lastPrinted>
  <dcterms:modified xsi:type="dcterms:W3CDTF">2018-11-03T19:21:03Z</dcterms:modified>
</cp:coreProperties>
</file>