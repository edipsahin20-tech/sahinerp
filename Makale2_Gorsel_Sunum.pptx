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797675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Times New Roman"/>
              </a:rPr>
              <a:t>Öğretmen görüşlerinin kategorilere göre sıklığı (f)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E8B3A"/>
            </a:solidFill>
          </c:spPr>
          <c:cat>
            <c:strRef>
              <c:f>Sheet1!$A$2:$A$10</c:f>
              <c:strCache>
                <c:ptCount val="9"/>
                <c:pt idx="0">
                  <c:v>Sosyal hayata uyum ve entegrasyon</c:v>
                </c:pt>
                <c:pt idx="1">
                  <c:v>Bağımsız yaşam, temel beceriler</c:v>
                </c:pt>
                <c:pt idx="2">
                  <c:v>Sosyal ve iletişim becerileri</c:v>
                </c:pt>
                <c:pt idx="3">
                  <c:v>Akademik-bilişsel gelişim</c:v>
                </c:pt>
                <c:pt idx="4">
                  <c:v>Genel yaşam kalitesi</c:v>
                </c:pt>
                <c:pt idx="5">
                  <c:v>Özgüven ve akran ilişkileri</c:v>
                </c:pt>
                <c:pt idx="6">
                  <c:v>Öğrenci ihtiyaçları</c:v>
                </c:pt>
                <c:pt idx="7">
                  <c:v>Problemli davranışların azalması</c:v>
                </c:pt>
                <c:pt idx="8">
                  <c:v>İstihdam ve topluma katılım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</c:v>
                </c:pt>
                <c:pt idx="1">
                  <c:v>8</c:v>
                </c:pt>
                <c:pt idx="2">
                  <c:v>7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Times New Roman"/>
              </a:rPr>
              <a:t>UDA kapsamında kullanılan yöntemler (f)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E8B3A"/>
            </a:solidFill>
          </c:spPr>
          <c:cat>
            <c:strRef>
              <c:f>Sheet1!$A$2:$A$9</c:f>
              <c:strCache>
                <c:ptCount val="8"/>
                <c:pt idx="0">
                  <c:v>Davranışsal öğretim</c:v>
                </c:pt>
                <c:pt idx="1">
                  <c:v>Model olma ve drama</c:v>
                </c:pt>
                <c:pt idx="2">
                  <c:v>Sosyal temelli öğrenme</c:v>
                </c:pt>
                <c:pt idx="3">
                  <c:v>Doğrudan öğretim</c:v>
                </c:pt>
                <c:pt idx="4">
                  <c:v>Doğal öğretim</c:v>
                </c:pt>
                <c:pt idx="5">
                  <c:v>Yanlışsız öğretim</c:v>
                </c:pt>
                <c:pt idx="6">
                  <c:v>Etkinlik temelli öğrenme</c:v>
                </c:pt>
                <c:pt idx="7">
                  <c:v>Beceri ve destekleyici teknikler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11</c:v>
                </c:pt>
                <c:pt idx="2">
                  <c:v>10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dPt>
            <c:idx val="0"/>
            <c:spPr>
              <a:solidFill>
                <a:srgbClr val="2E8B3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6FB97C"/>
              </a:solidFill>
            </c:spPr>
          </c:dPt>
          <c:cat>
            <c:strRef>
              <c:f>Sheet1!$A$2:$A$4</c:f>
              <c:strCache>
                <c:ptCount val="3"/>
                <c:pt idx="0">
                  <c:v>Etkileşim temelli</c:v>
                </c:pt>
                <c:pt idx="1">
                  <c:v>Video ve görsel destekli</c:v>
                </c:pt>
                <c:pt idx="2">
                  <c:v>PECS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latin typeface="Times New Roman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77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rgbClr val="2E8B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aflas.penpublishing.net/makale/877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2E8B3A"/>
                </a:solidFill>
                <a:latin typeface="Times New Roman"/>
              </a:rPr>
              <a:t>Özel Eğitim Öğretmenlerinin Uygulamalı Davranış Analizi Kapsamında Sosyal Becerilere Yönelik Görüşlerinin İncelenmesi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2E8B3A"/>
                </a:solidFill>
                <a:latin typeface="Times New Roman"/>
              </a:rPr>
              <a:t>Abdullah Bilgin KAYMAZ</a:t>
            </a:r>
          </a:p>
          <a:p>
            <a:r>
              <a:rPr sz="2000" b="1">
                <a:solidFill>
                  <a:srgbClr val="2E8B3A"/>
                </a:solidFill>
                <a:latin typeface="Times New Roman"/>
              </a:rPr>
              <a:t>Salih Zeki GENÇ</a:t>
            </a:r>
          </a:p>
          <a:p>
            <a:r>
              <a:rPr sz="1400" b="0">
                <a:latin typeface="Times New Roman"/>
              </a:rPr>
              <a:t>Uluslararası Engelsiz Yaşam ve Toplum Dergisi, 2025, 9 (1), 22-41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543800" cy="73152"/>
          </a:xfrm>
          <a:prstGeom prst="rect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Sunanlar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2423160"/>
            <a:ext cx="1143000" cy="114300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Times New Roman"/>
              </a:rPr>
              <a:t>Feyza BÜYÜKBEKTAŞ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11879" y="2423160"/>
            <a:ext cx="1143000" cy="114300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Times New Roman"/>
              </a:rPr>
              <a:t>Çiğdem TURAN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72200" y="2423160"/>
            <a:ext cx="1143000" cy="114300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Times New Roman"/>
              </a:rPr>
              <a:t>Derya YILMAZ YILDIZ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60020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Özel eğitim öğretmenlerinin uygulamalı davranış analizi (UDA) kapsamında sosyal beceri öğretimine ilişkin görüşlerini ortaya koymak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KATILIMCI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3464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İstanbul Beylikdüzü’nde görevli 27 özel eğitim öğretmeni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6908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DESEN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06908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Nitel araştırma, durum çalışması; yarı yapılandırılmış görüşme formu ve içerik analizi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7543800" cy="9144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BULGU: Öğretmenlerin büyük çoğunluğu UDA’nın sosyal beceri öğretiminde etkili bir yaklaşım olduğunu belirtti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Özel Eğitim ve Sosyal Beceri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%15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dünya nüfusunda engel oranı (WHO, 2020)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Öğrenilmiş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sosyal beceriler öğretilebilen davranışlardır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Kaynaşma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yetersizlik topluma uyumda güçlük yaratır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7543800" cy="192024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Özel eğitim; bireyin gelişim özellikleri, yetenekleri ve ihtiyaçları dikkate alınarak hazırlanan eğitim hizmetidir (MEB, 2018)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Sosyal beceri yetersizliği yaşayan bireyler toplumla kaynaşmada güçlük çeker (Samancı ve Uçan, 2017)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Uygulamalı Davranış Analizi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Tanım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Gözlemlenebilir davranışları bilimsel yöntemlerle ele alan, bilimsel dayanaklı bir uygulama (Birkan, 2013)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Amaç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İstenen davranış sıklığını artırmak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Davranışı genellemek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Davranış değişimini sağlamak (Tekin-İftar, 2014)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Etkenler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Bilimsel uygulamaların yanında öğretmen tutumu ve alan bilgisi de sosyal beceri gelişimini etkiler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Amaç ve Alt Amaçlar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7543800" cy="1234440"/>
          </a:xfrm>
          <a:prstGeom prst="roundRect">
            <a:avLst>
              <a:gd name="adj" fmla="val 10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UDA yöntemlerinin sosyal beceri öğretimindeki yerine ilişkin öğretmen görüşleri nelerdir?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3474720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91840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Bilgi düzeyi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UDA hakkındaki bilgi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20040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34840" y="3474720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91840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Teknikler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Sık tercih edilen UDA teknikleri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4937759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54879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Alternatifler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UDA dışı kullanılan uygulamalar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66344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4937759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754879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Etkililik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UDA’nın etkililiğine ilişkin görüşler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Desen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Nitel araştırma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Tek durumlu durum çalışması (Gustafsson, 2024; Creswell, 2021)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Bağlam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İstanbul, Beylikdüzü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Devlet okullarındaki ilkokul, ortaokul ve lise özel eğitim sınıfları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Veri aracı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Demografik bilgi formu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10 soruluk yarı yapılandırılmış görüşme formu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Yöntem: Çalışma Grubu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2148840" cy="73152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özel eğitim öğretmeni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002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69164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19 E · 8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60320"/>
            <a:ext cx="2148840" cy="73152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erkek ve kadın öğretmen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002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4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2–20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560320"/>
            <a:ext cx="2148840" cy="73152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yıl mesleki kıdem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423160" cy="260604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Görev yeri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24528"/>
            <a:ext cx="2276856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5 ilkokul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18 ortaokul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4 lise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566160"/>
            <a:ext cx="2423160" cy="260604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0" y="356616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Mezuniyet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4224528"/>
            <a:ext cx="2276856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7 zihinsel engelliler öğretmenliği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20 özel eğitim öğretmenliği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566160"/>
            <a:ext cx="2423160" cy="260604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0" y="356616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Öğrenim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4224528"/>
            <a:ext cx="2276856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19 lisans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5 tezli yüksek lisans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3 tezsiz yüksek lisans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Veri Toplama ve Güvenirlik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2852928"/>
            <a:ext cx="6492240" cy="64008"/>
          </a:xfrm>
          <a:prstGeom prst="rect">
            <a:avLst/>
          </a:prstGeom>
          <a:solidFill>
            <a:srgbClr val="8FD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Form geliştirme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Alanyazın taraması</a:t>
            </a:r>
          </a:p>
        </p:txBody>
      </p:sp>
      <p:sp>
        <p:nvSpPr>
          <p:cNvPr id="7" name="Oval 6"/>
          <p:cNvSpPr/>
          <p:nvPr/>
        </p:nvSpPr>
        <p:spPr>
          <a:xfrm>
            <a:off x="278892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Uzman görüşü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2 doçent ve 2 profesör</a:t>
            </a:r>
          </a:p>
        </p:txBody>
      </p:sp>
      <p:sp>
        <p:nvSpPr>
          <p:cNvPr id="10" name="Oval 9"/>
          <p:cNvSpPr/>
          <p:nvPr/>
        </p:nvSpPr>
        <p:spPr>
          <a:xfrm>
            <a:off x="470916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İçerik analizi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Kodlama ve kategoriler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Güvenirlik %82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Miles ve Huberman (1994)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49240"/>
            <a:ext cx="7543800" cy="9144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Etik: kurum izni, gönüllü katılım, yazılı onam; kimlikler gizli tutuldu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Sosyal Becerinin Önemi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7543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Öğretmenler Ne Dedi?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sosyal hayata uyum ve entegrasyon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0604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bağımsız yaşam ve temel beceriler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3736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60604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sosyal ve iletişim becerileri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7543800" cy="22860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Times New Roman"/>
              </a:rPr>
              <a:t>“Çok önemli olduğunu hatta akademik becerilerden önce sosyal beceri çalışılması gerekmektedir.”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Öğretmenler sosyal beceri çalışmalarının akademik, bilişsel gelişimi ve yaşam kalitesini de desteklediğini belirtti.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Kullanılan Yöntemler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7543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12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Öne Çıkan Teknikler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Davranışsal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Ayrık denemelerle öğretim (7)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Uygun olmayan davranışı önleme (5)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Pekiştirme tarifeleri (4)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Model-drama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Videoyla model olma (8)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Rol yapma, drama 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Öyküler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Sosyal öykülerle öğretim en sık sosyal temelli teknik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Doğrudan öğretim (7)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13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UDA Dışı Uygulamalar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645920"/>
          <a:ext cx="3840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389120" y="164592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Etkileşim temelli (11)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2272" y="2304288"/>
            <a:ext cx="3465576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•  Akran destekli öğretim, Erken Denver Modeli, öykü temelli öğretim, Floortime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6616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356616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Video ve görsel 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4224528"/>
            <a:ext cx="3465576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•  Video modelle öğretim, gösteri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98348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498348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PECS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5641848"/>
            <a:ext cx="3465576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•  Alternatif iletişim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Genel Eğitim Sınıfında UDA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E8B3A"/>
                </a:solidFill>
                <a:latin typeface="Times New Roman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grup çalışmalarında etkili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A1A1A"/>
                </a:solidFill>
                <a:latin typeface="Times New Roman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grup çalışmalarında etkili değil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8308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E6B2A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74320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yorum yapamadı (deneyim yok)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Etkili bulanlar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636007"/>
            <a:ext cx="3511296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Model alma ve gözlem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Akran ortamında hızlı dönüt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Genelleme imkânı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977639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3977639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Etkili bulmayanlar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636007"/>
            <a:ext cx="3511296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Davranış değiştirme bireysel çalışılmalı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Olumlu tutum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Öğretmenler UDA’ya olumlu yaklaşıyor, kendini yeterli görüyor ve UDA’ya dayalı uygulamaları aktif kullanıyor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5468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Grup ve bireysel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15468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Kalabalık sınıf, zaman sınırı ve uygulayıcı yeterliği nedeniyle grupta güç; bireysel öğretimde daha etkili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Ortam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66344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Özel eğitim sınıflarında uygulama daha sistematik; genel eğitimde destekleyici düzenleme gerekli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16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Sonuç: Öne Çıkanlar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Gelişim alanları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Sosyal beceri; sosyal gelişim, okula uyum, akademik ve öz bakım becerilerini destekliyor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80560" y="1828800"/>
            <a:ext cx="640080" cy="64008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828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UDA dışı yöntemler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Akran destekli öğretim, Erken Denver, öykü temelli öğretim, Floortime ve PECS tercih ediliyor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Alanyazınla uyum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Bulgular Cooper vd. (2019), İftar (2023) ve Karaaslan ve Kutlu (2010) ile tutarlı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411480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14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Bütüncül bakış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892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Etkileşim, görsel destek, oyun ve alternatif iletişim yöntemleri UDA’yı tamamlıyor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Akçamete, G. (1998). Özel eğitime giriş. Kök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Akçamete, G. (2019). Özel gereksinimli olan bireyler. Ü. Şahbaz (Ed.), Özel eğitim ve kaynaştırma (2. bs., ss. 2–31). Anı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Ataman, A. (Ed.). (2012). Temel eğitim öğretmenleri için kaynaştırma uygulamaları ve özel eğitim. Vize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Aziz, A. (2011). Sosyal bilimlerde araştırma yöntemleri ve teknikleri (6. bs.). Nobel Akademik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Bateman, B. D., &amp; Linden, M. (1998). Better IEPs: How to develop legally correct and educationally useful programs. Attainment Company.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Boyraz, B. (2016). Otizimli çocuklara kurallı oyunların öğretiminde aşamalı yardımla öğretim yönteminin etkililiği (Yüksek lisans tezi). Marmara Üniversitesi, Eğitim Bilimleri Enstitüsü.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Du, G., Guo, Y., &amp; Xu, W. (2024). Effectiveness of applied behavior analysis program training on emotional-social skills of children with autism. BMC Psychology, 12(1), 568. https://doi.org/10.1186/s40359-024-02045-5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Cleveland Clinic. (2023). Applied behavior analysis. https://my.clevelandclinic.org/health/treatments/25197-applied-behavior-analysis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Cooper, J. O., Heron, T. E., &amp; Heward, W. L. (2007). Applied behavior analysis (2nd ed.). Pearson Prentice Hall.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Creswell, J. W. (2021). Nitel araştırma yöntemleri: Beş yaklaşıma göre nitel araştırma ve araştırma deseni (M. Bütün &amp; S. B. Demir, Çev.). Siyasal Kitabevi.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Çağlar, D. (1998). Türkiye’de özel eğitimin tarihçesi. Cumhuriyet’in 75. Yılında İlköğretim 1. Ulusal Sempozyumu Bildirileri (ss. 1–15). Öğretmen Hüseyin Hüsnü Tekışık Eğitim Araştırma Geliştirme Merkezi.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Çifci-Tekinarslan, İ., Arı, A., Bozak, B., Çay, E., &amp; Çiçek, M. (2018). Özel eğitim öğretmen adaylarının bilimsel dayanaklı uygulamalar hakkındaki görüşleri. Journal of Human Sciences, 15(3), 1756–1772.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Çitil, M. (2012). Yasalar ve özel eğitim. Vize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Demir, Z. (2017). Özel gereksinimli bireylerde eğitim modelleri ve uygulamaları (Doktora tezi). Anadolu Üniversitesi.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Eikeseth, S., Klintwall, L., Jahr, E., &amp; Karlsson, P. (2012). Outcome for children with autism receiving early and intensive behavioral intervention in mainstream preschool and kindergarten settings. Research in Autism Spectrum Disorders, 6(2), 829–835.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Ergül, C., Baydık, C., &amp; Demir, Ş. (2013). Özel eğitim öğretmen adaylarının ve öğretmenlerinin yeterliklerine ilişkin görüşleri. Kuram ve Uygulamada Eğitim Bilimleri, 13(1), 499–522.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Fombonne, E. (2018). The rising prevalence of autism. Journal of Child Psychology and Psychiatry, 59(7), 717–720.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Fryling, M. J. (2013). Theory, philosophy, and the practice of applied behavior analysis. European Journal of Behavior Analysis, 14(1), 45–54.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Güleç-Aslan, Y. (2017). Otizm spektrum bozukluğu olan çocuklarla çalışan eğitimcilerin ABA algıları. Hacettepe Üniversitesi Eğitim Bilimleri Dergisi, 32, 1013–1032.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Güner Yıldız, N., Akın, E., &amp; Okatan, İ. (2020). Opinions of school counselors about problem behaviors and applied behavior analysis. Journal of Kırşehir Education Faculty.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Kabasakal, Z., &amp; Çelik, N. (2010). Sosyal beceri eğitiminin ilköğretim öğrencilerine etkisi. İlköğretim Online, 9(1), 203–212.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Karaaslan, Ö., &amp; Kutlu, M. (2010). OSB’li çocuklarda sosyal öykü kullanımı. Çukurova Üniversitesi Sosyal Bilimler Enstitüsü Dergisi, 19(2), 1–17.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Kirk, S. A., &amp; Gallagher, J. J. (1989). Educating exceptional children. Houghton Mifflin.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Kuzu, A. (2011). Veri toplama yöntem ve araçları. S. D. Erişti &amp; A. A. Kurt (Ed.), Bilimsel araştırma yöntemleri (ss. 95–117). Anadolu Üniversitesi Yayınları.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Kırcaali-İftar, G. (1992). Kaynaştırma becerileri öz değerlendirme aracı. Anadolu Üniversitesi Eğitim Fakültesi Dergisi, 5, 119–129.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Lovaas, O. I. (1987). Behavioral treatment and normal educational and intellectual functioning in young autistic children. Journal of Consulting and Clinical Psychology, 55(1), 3–9. https://doi.org/10.1037/0022-006X.55.1.3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McConnell, S. R. (2002). Interventions to facilitate social interaction for young children with autism. Journal of Autism and Developmental Disorders, 32(5), 351–372.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Meral, B. F. (2017). OSB’li çocuklarda beslenme problemleri. Ankara Üniversitesi Eğitim Bilimleri Fakültesi Özel Eğitim Dergisi, 18(3), 493–508.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Mesibov, G. B., &amp; Shea, V. (2011). The TEACCH program in the era of evidence-based practice. Journal of Autism and Developmental Disorders, 41(5), 589–593.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Milli Eğitim Bakanlığı. (2018). Özel eğitim hizmetleri yönetmeliği.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Newcomb, E. T., &amp; Hagopian, L. P. (2018). Treatment of severe problem behaviour in children with ASD. International Review of Psychiatry, 30(1), 96–109.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Özsoy, Y., Özyürek, M., &amp; Eripek, S. (2002). Özel eğitime muhtaç çocuklar: Özel eğitime giriş. Karatepe Yayınları.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Rakap, S., Birkan, B., &amp; Kalkan, S. (2017). Türkiye’de otizm spektrum bozukluğu ve özel eğitim. S. Rakap (Ed.), Sivil Düşün AB Programı Raporu.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20</a:t>
            </a:fld>
            <a:endParaRPr 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Rutherford, R., Mathur, B., Sarup, J., Quinn, R., &amp; Mary, M. (1998). Promoting social communication skills. Education and Treatment of Children, 21(3), 354–369.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Short, C. (2006). Social skills training to increase self-concept in children with ADHD (Master’s thesis). ProQuest Dissertations.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Smith, D. D. (2007). Introduction to special education: Making a difference. Pearson Education.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Sucuoğlu, B., Diken, İ. H., Demir, Ş., Ünlü, E., &amp; Şen, A. (2010). Özel eğitim terimler sözlüğü. Maya Akademi.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Tekin-İftar, E. (2014). Uygulamalı davranış analizi. Vize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Ünlü, E. (2012). ADÖSEP’in etkililiği (Doktora tezi). Anadolu Üniversitesi.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Yıldırım, A., &amp; Şimşek, H. (2021). Sosyal bilimlerde nitel araştırma yöntemleri. Seçkin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Yılmaz, A. (2010). Türkiye’de özel eğitim uygulamaları ve sorunları (Yüksek lisans tezi). Hacettepe Üniversitesi.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Yi, Z., &amp; Dixon, M. R. (2020). Increasing adherence to telehealth ABA parent training. Behavior Analysis in Practice, 14(1), 58–74.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Yüksel, G. (1999). Sosyal beceri eğitiminin üniversite öğrencilerine etkisi. Türk Psikolojik Danışma ve Rehberlik Dergisi, 2, 37–45.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Whalon, K. J., Al Otaiba, S., &amp; Delano, M. E. (2009). Evidence-based reading instruction for individuals with ASD. Focus on Autism and Other Developmental Disabilities, 24(1), 3–16.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21</a:t>
            </a:fld>
            <a:endParaRPr 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HAZIRLAYAN :</a:t>
            </a:r>
          </a:p>
          <a:p/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>ÖZET MAKALE (TÜRKÇE)</a:t>
            </a:r>
          </a:p>
          <a:p/>
          <a:p>
            <a:r>
              <a:rPr sz="2400" b="1">
                <a:latin typeface="Times New Roman"/>
              </a:rPr>
              <a:t>Engelsiz Yaşam ve Toplum Dergisi, 2025, 9 (1)</a:t>
            </a:r>
          </a:p>
          <a:p>
            <a:r>
              <a:rPr sz="2400" b="1">
                <a:latin typeface="Times New Roman"/>
              </a:rPr>
              <a:t>İstanbul / Türkiye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22</a:t>
            </a:fld>
            <a:endParaRPr lang="tr-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57200" y="5257800"/>
            <a:ext cx="7543800" cy="1097280"/>
          </a:xfrm>
          <a:prstGeom prst="roundRect">
            <a:avLst>
              <a:gd name="adj" fmla="val 20000"/>
            </a:avLst>
          </a:prstGeom>
          <a:solidFill>
            <a:srgbClr val="E6F4E8"/>
          </a:solidFill>
          <a:ln w="38100">
            <a:solidFill>
              <a:srgbClr val="2E8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Makalenin tamamına buradan ulaşabilirsiniz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Makaleyi açmak için tıklayın  ›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https://baflas.penpublishing.net/makale/8774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262626"/>
      </a:dk2>
      <a:lt2>
        <a:srgbClr val="DFDCB7"/>
      </a:lt2>
      <a:accent1>
        <a:srgbClr val="2E8B3A"/>
      </a:accent1>
      <a:accent2>
        <a:srgbClr val="9CBEBD"/>
      </a:accent2>
      <a:accent3>
        <a:srgbClr val="8FD19E"/>
      </a:accent3>
      <a:accent4>
        <a:srgbClr val="95A39D"/>
      </a:accent4>
      <a:accent5>
        <a:srgbClr val="C89F5D"/>
      </a:accent5>
      <a:accent6>
        <a:srgbClr val="B1A089"/>
      </a:accent6>
      <a:hlink>
        <a:srgbClr val="1E6B2A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356</TotalTime>
  <Words>6685</Words>
  <Application>Microsoft Office PowerPoint</Application>
  <PresentationFormat>Ekran Gösterisi (4:3)</PresentationFormat>
  <Paragraphs>498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Bitişiklik</vt:lpstr>
      <vt:lpstr>Zihinsel Yetersizliği Olan Çocuklar ve Oyun Ortamında Akran Etkileşimi</vt:lpstr>
      <vt:lpstr>  Öz </vt:lpstr>
      <vt:lpstr>Öz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Giriş </vt:lpstr>
      <vt:lpstr>Zihinsel Yetersizliği Olan Çocuklar ve Oyun Ortamında Akran Etkileşimi</vt:lpstr>
      <vt:lpstr>PowerPoint Sunusu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Yöntem  Araştırma Modeli </vt:lpstr>
      <vt:lpstr>Zihinsel Yetersizliği Olan Çocuklar ve Oyun Ortamında Akran Etkileşimi</vt:lpstr>
      <vt:lpstr>Zihinsel Yetersizliği Olan Çocuklar ve Oyun Ortamında Akran Etkileşimi</vt:lpstr>
      <vt:lpstr>Katılımcılar </vt:lpstr>
      <vt:lpstr>PowerPoint Sunusu</vt:lpstr>
      <vt:lpstr>Veri Toplama Araçları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Verilerin Toplanması </vt:lpstr>
      <vt:lpstr>Verilerin Toplanması </vt:lpstr>
      <vt:lpstr>Verilerin Toplanması </vt:lpstr>
      <vt:lpstr>PowerPoint Sunusu</vt:lpstr>
      <vt:lpstr>PowerPoint Sunusu</vt:lpstr>
      <vt:lpstr>PowerPoint Sunusu</vt:lpstr>
      <vt:lpstr>PowerPoint Sunusu</vt:lpstr>
      <vt:lpstr>Verilerin Analizi </vt:lpstr>
      <vt:lpstr>Verilerin Analizi </vt:lpstr>
      <vt:lpstr>Bulgular </vt:lpstr>
      <vt:lpstr>Tema 1. Tek Başına Oyun Davranışları </vt:lpstr>
      <vt:lpstr>Tema 1. Tek Başına Oyun Davranışları </vt:lpstr>
      <vt:lpstr>Tema 2. Akranlarla Birlikte Oyun Davranışları </vt:lpstr>
      <vt:lpstr>Tema 2. Akranlarla Birlikte Oyun Davranışları </vt:lpstr>
      <vt:lpstr>PowerPoint Sunusu</vt:lpstr>
      <vt:lpstr>Tablo 1. Ali’nin Zihinsel Yetersizliğe Sâhip Akranları ile Oyun Davranışları 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Tablo 2. Ali’nin Normal Gelişim Gösteren Akranları ile Oyun Davranışları 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Tema 3. Akran Etkileşimi </vt:lpstr>
      <vt:lpstr>Ali’nin Normal Gelişim Gösteren Akranları ile Oyun Davranışları</vt:lpstr>
      <vt:lpstr>Ali’nin Normal Gelişim Gösteren Akranları ile Oyun Davranışları</vt:lpstr>
      <vt:lpstr>Tartışma ve Sonuç 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PowerPoint Sunusu</vt:lpstr>
      <vt:lpstr>KAYNAKÇA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Zihinsel Yetersizliği Olan Çocuklar ve Oyun Ortamında Akran Etkileşimi</dc:title>
  <cp:lastModifiedBy>Hp</cp:lastModifiedBy>
  <cp:revision>40</cp:revision>
  <cp:lastPrinted>2018-11-03T19:18:00Z</cp:lastPrinted>
  <dcterms:modified xsi:type="dcterms:W3CDTF">2018-11-03T19:21:03Z</dcterms:modified>
</cp:coreProperties>
</file>