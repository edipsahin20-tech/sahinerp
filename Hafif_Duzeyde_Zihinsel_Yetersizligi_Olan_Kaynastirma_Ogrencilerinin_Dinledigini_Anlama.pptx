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type="screen4x3" cy="6858000" cx="9144000"/>
  <p:notesSz cx="6797675" cy="9872663"/>
  <p:defaultTextStyle>
    <a:defPPr>
      <a:defRPr lang="tr-TR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tableStyles" Target="tableStyle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1048715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1048716" name="Slayt Görüntüsü Yer Tutucusu 3"/>
          <p:cNvSpPr>
            <a:spLocks noChangeAspect="1" noRot="1" noGrp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tr-TR"/>
          </a:p>
        </p:txBody>
      </p:sp>
      <p:sp>
        <p:nvSpPr>
          <p:cNvPr id="1048717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1048718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1048719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Başlık Slaydı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584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algn="l"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dirty="0" lang="en-US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aşlık ve İçerik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Bölüm Üstbilgisi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b="0" cap="all" sz="3600"/>
            </a:lvl1pPr>
          </a:lstStyle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687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486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10486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6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İki İçerik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4869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dirty="0" lang="en-US"/>
          </a:p>
        </p:txBody>
      </p:sp>
      <p:sp>
        <p:nvSpPr>
          <p:cNvPr id="1048693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dirty="0" lang="en-US"/>
          </a:p>
        </p:txBody>
      </p:sp>
      <p:sp>
        <p:nvSpPr>
          <p:cNvPr id="10486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Karşılaştırma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4869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algn="ctr" indent="0" marL="0">
              <a:buNone/>
              <a:defRPr b="1" sz="2000">
                <a:solidFill>
                  <a:schemeClr val="tx2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4869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dirty="0" lang="en-US"/>
          </a:p>
        </p:txBody>
      </p:sp>
      <p:sp>
        <p:nvSpPr>
          <p:cNvPr id="10487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algn="ctr" indent="0" marL="0">
              <a:buNone/>
              <a:defRPr b="1" sz="2000">
                <a:solidFill>
                  <a:schemeClr val="tx2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48701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04870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104870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70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Yalnızca Başlık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4866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104866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6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oş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104870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Başlıklı İçerik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b="1" sz="2200"/>
            </a:lvl1pPr>
          </a:lstStyle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709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487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10487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7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48713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Başlıklı Resim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b="1" sz="22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67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dirty="0" lang="en-US"/>
          </a:p>
        </p:txBody>
      </p:sp>
      <p:sp>
        <p:nvSpPr>
          <p:cNvPr id="1048677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04867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104867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4868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Başlık, Dikey Meti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4868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0486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10486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6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Dikey Başlık ve Metin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anchor="b" anchorCtr="0" vert="eaVert"/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6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tr-TR"/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r>
              <a:rPr lang="tr-TR" smtClean="0"/>
              <a:t>Asıl başlık stili için tıklatın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dirty="0" lang="en-US"/>
          </a:p>
        </p:txBody>
      </p:sp>
      <p:sp>
        <p:nvSpPr>
          <p:cNvPr id="1048578" name="Rectangle 6"/>
          <p:cNvSpPr/>
          <p:nvPr/>
        </p:nvSpPr>
        <p:spPr>
          <a:xfrm>
            <a:off x="8458200" y="0"/>
            <a:ext cx="685800" cy="6858000"/>
          </a:xfrm>
          <a:prstGeom prst="rect"/>
          <a:solidFill>
            <a:srgbClr val="E3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79" name="Rectangle 7"/>
          <p:cNvSpPr/>
          <p:nvPr/>
        </p:nvSpPr>
        <p:spPr>
          <a:xfrm>
            <a:off x="8458200" y="5486400"/>
            <a:ext cx="685800" cy="68580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anchor="ctr" bIns="0" lIns="0" rIns="0" rtlCol="0" tIns="0" vert="horz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1048582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eaLnBrk="1" hangingPunct="1" latinLnBrk="0" rtl="0">
        <a:spcBef>
          <a:spcPct val="0"/>
        </a:spcBef>
        <a:buNone/>
        <a:defRPr baseline="0" cap="none" sz="4600" kern="1200" spc="-1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342900" rtl="0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40080" rtl="0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005840" rtl="0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280160" rtl="0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554480" rtl="0">
        <a:spcBef>
          <a:spcPct val="20000"/>
        </a:spcBef>
        <a:buClr>
          <a:schemeClr val="accent5"/>
        </a:buClr>
        <a:buFont typeface="Arial" pitchFamily="34" charset="0"/>
        <a:buChar char="•"/>
        <a:defRPr baseline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82880" latinLnBrk="0" marL="1737360" rtl="0">
        <a:spcBef>
          <a:spcPct val="20000"/>
        </a:spcBef>
        <a:buClr>
          <a:schemeClr val="accent1"/>
        </a:buClr>
        <a:buFont typeface="Arial" pitchFamily="34" charset="0"/>
        <a:buChar char="•"/>
        <a:defRPr baseline="0" sz="1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82880" latinLnBrk="0" marL="1920240" rtl="0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82880" latinLnBrk="0" marL="2103120" rtl="0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82880" latinLnBrk="0" marL="2286000" rtl="0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b="1" sz="3400">
                <a:solidFill>
                  <a:srgbClr val="E36C0A"/>
                </a:solidFill>
                <a:latin typeface="Times New Roman"/>
              </a:rPr>
              <a:t>Hafif Düzeyde Zihinsel Yetersizliği Olan Kaynaştırma Öğrencilerinin Dinlediğini Anlama Becerilerinin İncelenmesi</a:t>
            </a: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857"/>
          </a:bodyPr>
          <a:p>
            <a:r>
              <a:rPr b="1" sz="2000">
                <a:solidFill>
                  <a:srgbClr val="E36C0A"/>
                </a:solidFill>
                <a:latin typeface="Times New Roman"/>
              </a:rPr>
              <a:t>İbrahim COŞKUN</a:t>
            </a:r>
          </a:p>
          <a:p>
            <a:r>
              <a:rPr b="1" sz="2000">
                <a:solidFill>
                  <a:srgbClr val="E36C0A"/>
                </a:solidFill>
                <a:latin typeface="Times New Roman"/>
              </a:rPr>
              <a:t>Gül ERDİN</a:t>
            </a:r>
          </a:p>
          <a:p>
            <a:r>
              <a:rPr b="0" sz="1400">
                <a:latin typeface="Times New Roman"/>
              </a:rPr>
              <a:t>Akademik Bakış Dergisi, Sayı 41, Mart–Nisan 2014</a:t>
            </a:r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  <p:sp>
        <p:nvSpPr>
          <p:cNvPr id="1048591" name="Rectangle 6"/>
          <p:cNvSpPr/>
          <p:nvPr/>
        </p:nvSpPr>
        <p:spPr>
          <a:xfrm>
            <a:off x="685800" y="1750000"/>
            <a:ext cx="7543800" cy="70000"/>
          </a:xfrm>
          <a:prstGeom prst="rect"/>
          <a:solidFill>
            <a:srgbClr val="E3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1048591"/>
          <p:cNvSpPr txBox="1"/>
          <p:nvPr/>
        </p:nvSpPr>
        <p:spPr>
          <a:xfrm>
            <a:off x="3108960" y="6309360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Times New Roman"/>
              </a:rPr>
              <a:t>JEL KOD: I-Z1 *** ID:213 K:192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Sunanlar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700">
                <a:latin typeface="Times New Roman"/>
              </a:rPr>
              <a:t>Feyza BÜYÜKBEKTAŞ</a:t>
            </a:r>
          </a:p>
          <a:p>
            <a:pPr>
              <a:spcAft>
                <a:spcPts val="600"/>
              </a:spcAft>
            </a:pPr>
            <a:r>
              <a:rPr b="0" sz="2700">
                <a:latin typeface="Times New Roman"/>
              </a:rPr>
              <a:t>Çiğdem TURAN</a:t>
            </a:r>
          </a:p>
          <a:p>
            <a:pPr>
              <a:spcAft>
                <a:spcPts val="600"/>
              </a:spcAft>
            </a:pPr>
            <a:r>
              <a:rPr b="0" sz="2700">
                <a:latin typeface="Times New Roman"/>
              </a:rPr>
              <a:t>Derya YILMAZ YILDIZ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Amaç: Hafif düzeyde zihinsel yetersizliği olan kaynaştırma öğrencilerinin hikâye ve bilgilendirici metinleri işitsel ya da görsel-işitsel materyalle dinlediklerinde anlama düzeylerini ölçmek.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Katılımcılar: Farklı okullara devam eden, zekâ bölümü 50-70 arasında üç öğrenci.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Desen: Nitel araştırma, durum çalışması; uygulama özel eğitim ve rehabilitasyon merkezinde bireysel yapılmıştır.</a:t>
            </a:r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Aralık 2013’te her öğrenciyle toplam 6 ders saati çalışılmış; 1., 2. ve 3. sınıf düzeyine uygun hikâye edici ve bilgilendirici metin/video kullanılmıştır.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Ölçme: 5N1K ve hikâye haritası temelli dinlediğini anlama testi.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Bulgu: Görsel ve işitsel materyal birlikte kullanıldığında anlama, yalnız işitsel materyale göre daha yüksektir; hikâye edici metinde başarı bilgilendirici metne göre daha yüksektir.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Anahtar sözcükler: Zihin engelliler, kaynaştırma eğitimi, dinleme anlama öğretimi.</a:t>
            </a:r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Giriş: Zihinsel Yetersizlik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Zihinsel yetersizlik: zihinsel işlevlerde ve kavramsal, sosyal, pratik uyumsal becerilerde belirgin sınırlılık; 18 yaşından önce başlar (AAMR, 2002).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Zekâ bölümüne göre hafif (50/55-70), orta, ağır ve çok ağır olarak sınıflandırılır.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Hafif düzeydeki öğrenciler zihinsel engellilerin yaklaşık %85’ini oluşturur (Salend, 1998).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Soyut kavramları geç kavrar, genelleme yapmakta zorlanır; akademik beceriler yaklaşık 6. sınıf düzeyine ulaşır (Eripek, 2005; Sucuoğlu, 2010).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Giriş: Kaynaştırma Eğitimi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Kaynaştırma: engelli öğrencilerin, özel eğitim desteğiyle engelsiz akranlarıyla normal okul ve sınıflarda eğitim almasıdır (Tüfekçioğlu, 1997).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Amaçlar: damgalamayı silmek, engelli çocuğun sosyal statüsünü yükseltmek, daha iyi ve ucuz bir öğrenme çevresi yaratmak.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En az kısıtlayıcı ortam ilkesine göre kaynaştırma, eğitim ortamları içinde en üst basamaktır (Kırcaali-İftar, 1998).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Türkiye’de kaynaştırma uygulamaları 1985’ten sonra başlamıştır (Kuz, 2001).</a:t>
            </a:r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/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Giriş: Dinleme Becerisi</a:t>
            </a: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Dinleme: sözlü iletişimde mesajı anlama ve cevap verme etkinliğidir; insanın kazandığı ilk dil becerisidir (Ömür, 2006).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Dinleme tek başına gelişir, öğretilemez gibi yaygın görüşlere rağmen bu iddia araştırmayla doğrulanmamıştır (Funk ve Funk, 1989).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İlköğretim öğrencileri zayıf dinleyicidir; nedenleri arasında dinleme eğitimine yeterince yer verilmemesi ve evde dinleme etkileşiminin azlığı vardır (Brent ve Anderson, 1993).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Dinleme eğitiminde görsel öğeler, hikâye haritası, düşünce şeması gibi teknikler başarıyı artırır (Winn, 1988).</a:t>
            </a:r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/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Giriş: Metin Türleri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Hikâye edici metin: </a:t>
            </a:r>
            <a:r>
              <a:rPr b="0" sz="2500">
                <a:latin typeface="Times New Roman"/>
              </a:rPr>
              <a:t>sahne, karakter, olay, problem çözme, sonuç, ana fikir ve tepki aşamalarını içerir; okul öncesi dönemden beri tanıdık bir yapıdır, anlamak ve hatırlamak daha kolaydır (Graesser vd., 1991).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Bilgi verici metin: </a:t>
            </a:r>
            <a:r>
              <a:rPr b="0" sz="2500">
                <a:latin typeface="Times New Roman"/>
              </a:rPr>
              <a:t>amacı bilgi aktarmaktır; anlatım düzdür, yaratıcılık ve kurgusallık yoktur, gerçek dünyadaki durumları anlatır (Özdemir, 1998).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Bilgilendirici metin anlama: </a:t>
            </a:r>
            <a:r>
              <a:rPr b="0" sz="2500">
                <a:latin typeface="Times New Roman"/>
              </a:rPr>
              <a:t>5N1K (kim, ne, ne zaman, nerede, nasıl, niçin), ana fikir ve yardımcı fikirlerin bulunması (Alperen, 1999).</a:t>
            </a: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/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Problem ve Alt Problemler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400">
                <a:latin typeface="Times New Roman"/>
              </a:rPr>
              <a:t>Ana problem: </a:t>
            </a:r>
            <a:r>
              <a:rPr b="0" sz="2400">
                <a:latin typeface="Times New Roman"/>
              </a:rPr>
              <a:t>Hafif düzeyde zihinsel yetersizliği olan kaynaştırma öğrencilerinin dinlediğini anlama becerileri nasıldır?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Alt problemler: öğrencilerin (1) hikâyeyi ve (2) bilgilendirici metni yalnızca işitsel materyalle; (3) hikâyeyi ve (4) bilgilendirici metni görsel-işitsel materyalle dinlediklerinde anlama düzeyleri nasıldır?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(5) İşitsel ve görsel-işitsel materyal kullanımının anlamaya etkisi nedir?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(6) Hikâye edici ve bilgi verici metin türlerinin anlamaya etkisi nedir?</a:t>
            </a:r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/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Amaç, Önem ve Sınırlılıklar</a:t>
            </a:r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Amaç: </a:t>
            </a:r>
            <a:r>
              <a:rPr b="0" sz="2500">
                <a:latin typeface="Times New Roman"/>
              </a:rPr>
              <a:t>Öğrencilerin dinlediğini anlama becerilerini ölçmek ve görsel ile işitsel materyal arasındaki etkileşimi belirlemek.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Önem: </a:t>
            </a:r>
            <a:r>
              <a:rPr b="0" sz="2500">
                <a:latin typeface="Times New Roman"/>
              </a:rPr>
              <a:t>Sonuçlar, hafif düzeyde zihinsel engelli çocukların eğitim ortamı ve materyallerinin düzenlenmesine ve öğretmen yetiştirme programlarına fikir verebilir.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Sınırlılıklar: </a:t>
            </a:r>
            <a:r>
              <a:rPr b="0" sz="2500">
                <a:latin typeface="Times New Roman"/>
              </a:rPr>
              <a:t>İstanbul’da ilköğretime devam eden 11-12 yaşlarında, 50-70 arası zekâ bölümlü üç öğrenci; yalnızca işitsel ve görsel-işitsel materyaller.</a:t>
            </a:r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/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Yöntem ve Katılımcılar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Desen: </a:t>
            </a:r>
            <a:r>
              <a:rPr b="0" sz="2500">
                <a:latin typeface="Times New Roman"/>
              </a:rPr>
              <a:t>Nitel araştırma yöntemlerinden durum çalışması (Yıldırım ve Şimşek, 2006; Merriam, 1988).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G: </a:t>
            </a:r>
            <a:r>
              <a:rPr b="0" sz="2500">
                <a:latin typeface="Times New Roman"/>
              </a:rPr>
              <a:t>10 yaşında, 4. sınıf, bireysel eğitim alıyor.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B: </a:t>
            </a:r>
            <a:r>
              <a:rPr b="0" sz="2500">
                <a:latin typeface="Times New Roman"/>
              </a:rPr>
              <a:t>12 yaşında, 7. sınıf, bireysel eğitim alıyor.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F: </a:t>
            </a:r>
            <a:r>
              <a:rPr b="0" sz="2500">
                <a:latin typeface="Times New Roman"/>
              </a:rPr>
              <a:t>11 yaşında, 6. sınıf, bireysel ve grup eğitimi alıyor; Asperger sendromu tanısı var.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Üçü de RAM değerlendirmesiyle destek eğitim programından yararlanmaktadır; sınıfta yalnızca araştırmacı ve öğrenci bulunmuştur.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/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Veri Toplama Araçları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400">
                <a:latin typeface="Times New Roman"/>
              </a:rPr>
              <a:t>İşitsel materyal: </a:t>
            </a:r>
            <a:r>
              <a:rPr b="0" sz="2400">
                <a:latin typeface="Times New Roman"/>
              </a:rPr>
              <a:t>MEB onaylı Türkçe ders kitaplarından 1., 2., 3. sınıfa uygun 6 hikâye edici ve 6 bilgilendirici metin (ör. Kuşkucu Horoz, Üç Kelebek, Nasreddin Hoca Şenlikleri).</a:t>
            </a:r>
          </a:p>
          <a:p>
            <a:pPr>
              <a:spcAft>
                <a:spcPts val="600"/>
              </a:spcAft>
            </a:pPr>
            <a:r>
              <a:rPr b="1" sz="2400">
                <a:latin typeface="Times New Roman"/>
              </a:rPr>
              <a:t>Görsel-işitsel materyal: </a:t>
            </a:r>
            <a:r>
              <a:rPr b="0" sz="2400">
                <a:latin typeface="Times New Roman"/>
              </a:rPr>
              <a:t>Uzman görüşüyle seçilen çizgi filmler (Üçüzler Doktorda, Pak ile Pırpır, Rüya’nın Günlüğü) ve bilgi verici videolar (Bitkilerin Büyümesi, İlkyardım Eğitimi, Kek Nasıl Üretilir?).</a:t>
            </a:r>
          </a:p>
          <a:p>
            <a:pPr>
              <a:spcAft>
                <a:spcPts val="600"/>
              </a:spcAft>
            </a:pPr>
            <a:r>
              <a:rPr b="0" sz="2400">
                <a:latin typeface="Times New Roman"/>
              </a:rPr>
              <a:t>Metinler araştırmacı tarafından prozodik özelliklere uygun, bir kez ve tekrarsız okunmuş; videolar bir kez izletilmiştir.</a:t>
            </a:r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/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Dinlediğini Anlama Testi ve Puanlama</a:t>
            </a:r>
          </a:p>
        </p:txBody>
      </p:sp>
      <p:sp>
        <p:nvSpPr>
          <p:cNvPr id="1048631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Test: </a:t>
            </a:r>
            <a:r>
              <a:rPr b="0" sz="2000">
                <a:latin typeface="Times New Roman"/>
              </a:rPr>
              <a:t>12 ayrı dinlediğini anlama testi geliştirilmiştir (alan yazın, uzman ve öğretmen görüşü alınarak).</a:t>
            </a:r>
          </a:p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Bilgilendirici metin: </a:t>
            </a:r>
            <a:r>
              <a:rPr b="0" sz="2000">
                <a:latin typeface="Times New Roman"/>
              </a:rPr>
              <a:t>5N1K temelinde 8 soru; konu ve ana fikir 20’şer, diğer sorular 10’ar puan.</a:t>
            </a:r>
          </a:p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Hikâye edici metin: </a:t>
            </a:r>
            <a:r>
              <a:rPr b="0" sz="2000">
                <a:latin typeface="Times New Roman"/>
              </a:rPr>
              <a:t>hikâye haritasına göre 8 soru; ana fikir 25, sonuç 15, diğer unsurlar 10’ar puan.</a:t>
            </a:r>
          </a:p>
          <a:p>
            <a:pPr>
              <a:spcAft>
                <a:spcPts val="600"/>
              </a:spcAft>
            </a:pPr>
            <a:r>
              <a:rPr b="0" sz="2000">
                <a:latin typeface="Times New Roman"/>
              </a:rPr>
              <a:t>Sorular basit anlama (6 soru, 60 puan) ve derin anlama (2 soru, 40 puan) olarak ayrılmıştır; toplam 100 puandır.</a:t>
            </a:r>
          </a:p>
          <a:p>
            <a:pPr>
              <a:spcAft>
                <a:spcPts val="600"/>
              </a:spcAft>
            </a:pPr>
            <a:r>
              <a:rPr b="0" sz="2000">
                <a:latin typeface="Times New Roman"/>
              </a:rPr>
              <a:t>Uygulama Aralık 2013’te her öğrenciyle ayrı ayrı, ders saatinde 2’şer metin/video olmak üzere toplam 6 ders saati yapılmış; önce hikâye edici, sonra bilgi verici materyal sunulmuştur. Cevaplar araştırmacı ve iki uzmanca puanlanmış, bulgular betimsel yorumlanmıştır.</a:t>
            </a:r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/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Bulgular: Anlama Puanları (100 üzerinden)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457200" y="1800200"/>
          <a:ext cx="761999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675"/>
                <a:gridCol w="1441621"/>
                <a:gridCol w="1544594"/>
                <a:gridCol w="1647567"/>
                <a:gridCol w="1750540"/>
              </a:tblGrid>
              <a:tr h="347472"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Öğrenci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İşitsel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İşitsel – Bilgi verici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Görsel-işitsel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Görsel-işitsel – Bilgi verici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p>
                      <a:r>
                        <a:rPr b="0" sz="1800">
                          <a:latin typeface="Times New Roman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41,3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7,7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65,7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41,0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p>
                      <a:r>
                        <a:rPr b="0" sz="1800">
                          <a:latin typeface="Times New Roman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46,3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19,3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60,7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50,3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p>
                      <a:r>
                        <a:rPr b="0" sz="1800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5,3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0,0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19,7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0" sz="1800">
                          <a:latin typeface="Times New Roman"/>
                        </a:rPr>
                        <a:t>10,0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p>
                      <a:r>
                        <a:rPr b="1" sz="1800">
                          <a:latin typeface="Times New Roman"/>
                        </a:rPr>
                        <a:t>Ortalama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1" sz="1800">
                          <a:latin typeface="Times New Roman"/>
                        </a:rPr>
                        <a:t>31,0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1" sz="1800">
                          <a:latin typeface="Times New Roman"/>
                        </a:rPr>
                        <a:t>9,0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1" sz="1800">
                          <a:latin typeface="Times New Roman"/>
                        </a:rPr>
                        <a:t>48,7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b="1" sz="1800">
                          <a:latin typeface="Times New Roman"/>
                        </a:rPr>
                        <a:t>33,8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48634" name="TextBox 3"/>
          <p:cNvSpPr txBox="1"/>
          <p:nvPr/>
        </p:nvSpPr>
        <p:spPr>
          <a:xfrm>
            <a:off x="457200" y="5350000"/>
            <a:ext cx="7620000" cy="370841"/>
          </a:xfrm>
          <a:prstGeom prst="rect"/>
          <a:noFill/>
        </p:spPr>
        <p:txBody>
          <a:bodyPr wrap="square">
            <a:spAutoFit/>
          </a:bodyPr>
          <a:p>
            <a:r>
              <a:rPr b="0" sz="1600" i="1">
                <a:latin typeface="Times New Roman"/>
              </a:rPr>
              <a:t>Tablo 1–4’ün 1., 2. ve 3. sınıf düzeylerinin ortalamalarıdır.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/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Bulgular: İşitsel Materyal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Hikâye edici metin: </a:t>
            </a:r>
            <a:r>
              <a:rPr b="0" sz="2500">
                <a:latin typeface="Times New Roman"/>
              </a:rPr>
              <a:t>G, B, F için 41,3 / 46,3 / 5,3. Sınıf düzeyi arttıkça başarı düşmüştür (ortalama 38,3 → 31,0 → 23,7).</a:t>
            </a:r>
          </a:p>
          <a:p>
            <a:pPr>
              <a:spcAft>
                <a:spcPts val="600"/>
              </a:spcAft>
            </a:pPr>
            <a:r>
              <a:rPr b="1" sz="2500">
                <a:latin typeface="Times New Roman"/>
              </a:rPr>
              <a:t>Bilgi verici metin: </a:t>
            </a:r>
            <a:r>
              <a:rPr b="0" sz="2500">
                <a:latin typeface="Times New Roman"/>
              </a:rPr>
              <a:t>G, B, F için 7,7 / 19,3 / 0. Tüm sınıf düzeylerinde anlama başarısı düşüktür.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F’nin çok düşük puanları Asperger sendromunun sosyal etkileşim ve iletişim güçlüğüyle ilişkilendirilmiştir.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G’nin 3. sınıf bilgi verici metinde puanının artması metnin ilgi alanına girmesine bağlanmıştır.</a:t>
            </a:r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/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Bulgular: Görsel-İşitsel Materyal</a:t>
            </a:r>
          </a:p>
        </p:txBody>
      </p:sp>
      <p:sp>
        <p:nvSpPr>
          <p:cNvPr id="1048640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Hikâye edici metin: </a:t>
            </a:r>
            <a:r>
              <a:rPr b="0" sz="2000">
                <a:latin typeface="Times New Roman"/>
              </a:rPr>
              <a:t>G, B, F için 65,7 / 60,7 / 19,7; sınıf düzeyi yükseldikçe ortalama 61,3 → 48 → 36,7’ye düşmüştür.</a:t>
            </a:r>
          </a:p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Bilgi verici metin: </a:t>
            </a:r>
            <a:r>
              <a:rPr b="0" sz="2000">
                <a:latin typeface="Times New Roman"/>
              </a:rPr>
              <a:t>G, B, F için 41 / 50,3 / 10; ortalama 43,3 → 34,7 → 23,3.</a:t>
            </a:r>
          </a:p>
          <a:p>
            <a:pPr>
              <a:spcAft>
                <a:spcPts val="600"/>
              </a:spcAft>
            </a:pPr>
            <a:r>
              <a:rPr b="1" sz="2000">
                <a:latin typeface="Times New Roman"/>
              </a:rPr>
              <a:t>Karşılaştırma: </a:t>
            </a:r>
            <a:r>
              <a:rPr b="0" sz="2000">
                <a:latin typeface="Times New Roman"/>
              </a:rPr>
              <a:t>Her iki metin türünde basit ve derin anlama çoğunlukla görsel-işitsel materyalle daha yüksektir; tek istisna B’nin hikâye metnindeki basit anlamasıdır (37,3 → 35,6).</a:t>
            </a:r>
          </a:p>
          <a:p>
            <a:pPr>
              <a:spcAft>
                <a:spcPts val="600"/>
              </a:spcAft>
            </a:pPr>
            <a:r>
              <a:rPr b="0" sz="2000">
                <a:latin typeface="Times New Roman"/>
              </a:rPr>
              <a:t>Derin anlama sorularında başarı düşük kalmış; F işitsel koşulda derin anlamada hiç puan alamamıştır.</a:t>
            </a:r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/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Sonuç ve Tartışma (1)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Yalnız işitsel materyalle hikâye edici metinde anlama normal düzeydedir (G 41,3; B 46,3; F 5,3); bilgi verici metinde ise düşüktür (7,7 / 19,3 / 0).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Bulgu, hikâye edici türün anlaşılması ve hatırlanmasının kolaylığıyla (Graesser vd., 1991) ve bilgi vermeye dayalı metinlerin daha zor olduğu görüşüyle (Akyol, 2013) paralellik gösterir.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İşitsel materyalin tek başına kullanılması anlama başarısını potansiyelin altında tutmaktadır; insanlar anlatılanların yalnızca %5-20’sini hatırlayabilmektedir (Açıkgöz, 2006).</a:t>
            </a: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/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Sonuç ve Tartışma (2)</a:t>
            </a:r>
          </a:p>
        </p:txBody>
      </p:sp>
      <p:sp>
        <p:nvSpPr>
          <p:cNvPr id="1048646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Hikâye edici metni görsel-işitsel materyalle dinlediklerinde anlama düzeyleri normaldir (65,7 / 60,7 / 19,7); bilgi verici metinde 41 / 50,3 / 10’dur.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Görsel ve işitsel materyalin birlikte kullanılması, yalnız işitsel kullanıma göre anlama düzeyini artırmıştır (Ergin, 1998; Sönmez, 2005; Türkyılmaz, 2010; Winn, 1988).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Hikâye edici metinlerde anlama başarısı bilgilendirici metne göre daha yüksektir; bu bulgu işitsel ve görsel-işitsel koşulda aynıdır.</a:t>
            </a:r>
          </a:p>
          <a:p>
            <a:pPr>
              <a:spcAft>
                <a:spcPts val="600"/>
              </a:spcAft>
            </a:pPr>
            <a:r>
              <a:rPr b="0" sz="2500">
                <a:latin typeface="Times New Roman"/>
              </a:rPr>
              <a:t>Sınıf düzeyi yükseldikçe anlama başarısı düşmüştür.</a:t>
            </a:r>
          </a:p>
        </p:txBody>
      </p:sp>
      <p:sp>
        <p:nvSpPr>
          <p:cNvPr id="10486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/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Öneriler</a:t>
            </a:r>
          </a:p>
        </p:txBody>
      </p:sp>
      <p:sp>
        <p:nvSpPr>
          <p:cNvPr id="1048649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>
              <a:spcAft>
                <a:spcPts val="600"/>
              </a:spcAft>
            </a:pPr>
            <a:r>
              <a:rPr b="0" sz="1900">
                <a:latin typeface="Times New Roman"/>
              </a:rPr>
              <a:t>Dinleme anlama çalışmalarında ortam, öğrencinin dikkatini dağıtmayacak şekilde düzenlenmeli ve öğrencinin tam katılımı sağlanmalıdır.</a:t>
            </a:r>
          </a:p>
          <a:p>
            <a:pPr>
              <a:spcAft>
                <a:spcPts val="600"/>
              </a:spcAft>
            </a:pPr>
            <a:r>
              <a:rPr b="0" sz="1900">
                <a:latin typeface="Times New Roman"/>
              </a:rPr>
              <a:t>Hikâye edici ve bilgi verici metin öğretiminde görsel-işitsel materyal kullanılmalıdır.</a:t>
            </a:r>
          </a:p>
          <a:p>
            <a:pPr>
              <a:spcAft>
                <a:spcPts val="600"/>
              </a:spcAft>
            </a:pPr>
            <a:r>
              <a:rPr b="0" sz="1900">
                <a:latin typeface="Times New Roman"/>
              </a:rPr>
              <a:t>Kaynaştırma ortamındaki öğrencilerin anlama düzeyleri, akranlarla birlikte değil kendi düzeylerine uygun ölçme ve değerlendirmeyle belirlenmelidir.</a:t>
            </a:r>
          </a:p>
          <a:p>
            <a:pPr>
              <a:spcAft>
                <a:spcPts val="600"/>
              </a:spcAft>
            </a:pPr>
            <a:r>
              <a:rPr b="0" sz="1900">
                <a:latin typeface="Times New Roman"/>
              </a:rPr>
              <a:t>Metinler öğrencinin gelişim düzeyine uygun seçilmeli; dinleme becerisi sınıf ve özel eğitim öğretmeninin iş birliğiyle geliştirilmelidir.</a:t>
            </a:r>
          </a:p>
          <a:p>
            <a:pPr>
              <a:spcAft>
                <a:spcPts val="600"/>
              </a:spcAft>
            </a:pPr>
            <a:r>
              <a:rPr b="0" sz="1900">
                <a:latin typeface="Times New Roman"/>
              </a:rPr>
              <a:t>Benzer çalışmalar farklı yaş gruplarında yapılıp karşılaştırılabilir.</a:t>
            </a:r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/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Kaynakça (1/4)</a:t>
            </a:r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AAMR, (2002). Mental Retardation: Definition, Classification, and Systems of Supports (10. Baskı). Washington DC: AAMR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Akyol, H. (1999). Hikâye Haritası Yöntemiyle Metin Öğretimi. Milli Eğitim, 142. (Online): Web: http://yayim.meb.gov.tr/dergiler/medergi/15.htm (Erişim Tarihi: 13.11.2013)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American Psychiatric Association. (2000). "Diagnostic criteria for 299.80 Asperger's Disorder (AD)". Diagnostic and Statistical Manual of Mental Disorders (4th ed., text revision bas.). ISBN 0-89042-025-4. (Erişim Tarihi: 17.09.2013)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Baskin, J. H., Sperber, M.&amp;Price B. H. (2006). "Asperger Syndrome Revisited". Rev Neurol Dis 3 (1): 1–7.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Başal, M. ve Batu, S. (2002). Zihin Özürlü Öğrencilere Okuma Yazma Öğretme Konusunda Alt Özel Sınıf Öğretmenlerinin Görüş ve Önerileri. Özel Eğitim Dergisi, 3(2), 85-98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Bıyıklı, L. (1997). Özel Eğitim Gereksinimi Duyan Çocuklar. Milli Eğitim Sanat-Kültür Dergisi. Sayı: 136, s. 31-32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Brent, R.&amp;Anderson, P. (1993). Devoloping Children`s Classroom Listening Strategies. Reading Teacher, 47, (2), pp. 122-126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Chenfeld, M. B. (1978). Teaching Language Arts Creatively. Harcourt Brace Jovanovich Publishers. San Diego.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Creswell, J. W. (2007). Qualitative Inquiry and Research Design: Choosing Among Five Traditions (Second Edition). London: Sage Publication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Doğan, Y.(2012). Dinleme Eğitimi. Pegem Akademi. Ankara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Ergin, A. ve BİROL, C. (2000). Eğitimde İletişim. Ankara: Anı Yayıncılık</a:t>
            </a:r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/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Kaynakça (2/4)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Ergin, A. (2010). Eğitimde Etkili İletişim. Ankara: Anı Yayıncılık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Eripek, S. (1998). Özel Eğitim. T.C. Anadolu Üniversitesi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Eripek, S. (2005). Zekâ Geriliği. Ankara: Kök Yayıncılık.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Funk, H. D.&amp;Funk, G. D. (1989). Guidelines for Developing Listening Skills. The Reading Teacher, pp.660-663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Gangi, J. M. (2004). Encountering Children's Literature. Pearson Education. Boston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Graesser, A., Golding, J. M., &amp; Long, D. L. (1991). Narrative Representation and Comprehension. in R. Bar, M. L. Kamil, P. Mosenthal &amp; P. D. Pearson (Ed.), Handbook of Reading Research (Vol. II, pp. 171-205). White Plains, NY: Longman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Hampleman, R. (1958). Comparoson of Listening and Reading Comprehension Ability of 4th and 6th Grade Pupils. Elementary English. XXXI, 49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İftar, G. K., Birkan, B. ve Uysal, A. (1997). Zihin Özürlü Çocuklara Kavram Öğretimi. Eskişehir: Mesleki Eğitim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Jalongo, M. R. (1995). Promoting Active Listening in the Cossroom. Childhood Education, 72, 1, pp.13-18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Johnson, K. O. (1951). The Effect of Classroom Training upon Listening Comprehension. The Journal of Communication. I, 58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Klin, A. (2006). "Asperger's syndrome". Adolesc Med Clin 17 (3): 771–88.</a:t>
            </a:r>
          </a:p>
        </p:txBody>
      </p:sp>
      <p:sp>
        <p:nvSpPr>
          <p:cNvPr id="10486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21</a:t>
            </a:fld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/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Kaynakça (3/4)</a:t>
            </a:r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Kilgo, J.&amp;Gorgiarla, R. (2005). Young Children with Special Needs. (Second Edition). USA: Thomson-Delmar Learning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Kırcaali-İftar, G. (1998). Özel Eğitim. Eskişehir: T.C. Anadolu Üniversitesi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Kingen, S. (2000). Teaching Language Arts in Middle Schools. Mahwah, New Jersey: Lawrence Erlbaum Associates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Kuz, T. (2001). Kaynaştırma Eğitimine Yönelik Tutumların İncelenmesi. Ankara: Başbakanlık Özürlüler idaresi Başkanlığı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Kuzu, T. S. (2004). Etkileşimsel Modele Uygun Okuma Öğretiminin Türkçe Bilgilendirici Metinleri Anlama Düzeyine Etkisi. Ankara Üniversitesi, Eğitim Bilimleri Fakültesi Dergisi, 3(1), 55-77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Levis, R. B.&amp;Doorlag H. D. (1999). Teaching Special Students in General Education Classrooms. New Jersey, Prentice Hall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Mağden, D. ve Avcı, N. (1997). Öğretmen Adaylarının Özürlü Öğrencilerin Kaynaştırılmasına İlişkin Görüşleri. 4. Ulusal Eğitim Bilimleri Kongresi. Eskişehir: Anadolu Üniversitesi Eğitim Fakültesi. 10-12 Eylül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MEB. (2005). İlköğretim 1-5. Sınıf Programları Tanıtım El Kitabı. Ankara: Devlet Kitapları Müdürlüğü Basımevi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MEB. (2006). Özel eğitim Hizmetleri Yönetmeliği, 31.05.2006 tarih ve 26184 Sayılı Resmî Gazete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MEB. (2009). MEGEP. Çocuk Gelişimi ve Eğitimi. Zihinsel Engelliler. Ders Notları. Ankara: Devlet Kitapları Müdürlüğü Basımevi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Merriam, S. B. (1998). Qualitative Researchand Case Study Applications in Education (Second Edition). San Francisco: Jossey-Bass Publishers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22</a:t>
            </a:fld>
            <a:endParaRPr lang="tr-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/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>
                <a:latin typeface="Times New Roman"/>
              </a:rPr>
              <a:t>Kaynakça (4/4)</a:t>
            </a:r>
          </a:p>
        </p:txBody>
      </p:sp>
      <p:sp>
        <p:nvSpPr>
          <p:cNvPr id="1048661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Ömür, M. (2006). Kulağımızın Göz Kapağı Yoktur, Cumhuriyet Bilim, S.990, s. 16-17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Özbay, M. (2005). Bir Dil Becerisi Olarak Dinleme Eğitimi. Ankara: Akçağ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Özel Eğitim Hakkında Kanun Hükmünde Kararname ve Özel Eğitim Hizmetleri Yönetmeliği (2000). Ankara: Milli Eğitim Basımevi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Özdemir, E. (1998). Eleştirel Okuma. Ankara: Ümit Yayıncılık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Özgür, G. (2004). Engelli Çocuklar ve Eğitim-Özel Eğitim. Adana: Karhan Kitabevi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Salend, S. J. (1998). Effective Mainstreaming: Creating inclusive classrooms. (3rd Edition). New Jersey: Merrill Prentice Hall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Sucuoğlu, B. (2010). Zihin Engelliler ve Eğitimleri. Ankara: Kök Yayıncılık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Şura Raporu. (1999). I. Özürlüler Şurası Çağdaş Toplum Çağdaş Yaşam ve Özürlüler. 29 Kasım-02 Aralık. Ankara: T.C. Başbakanlık Özürlüler İdaresi Başkanlığı Yayınları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Tüfekçioğlu, Ü. (1997). İşitme Engelli Çocukların Okul Öncesi Dönemde Kaynaştırma Ortamında Eğitimleri. Milli Eğitim Kültür-Sanat Dergisi, Sayı: 136, S:58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Quandt, J. I. (1983). Language Arts for Children. London: Prentice Hall Inc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Weaver, C.&amp;Kintsch, W. (1991). Expository Texts. Handbook of Reading Research. Rebecca Barr, Michael Kamil ve diğer (Ed.) New York: Longman</a:t>
            </a:r>
          </a:p>
          <a:p>
            <a:pPr indent="-228600" marL="228600">
              <a:spcAft>
                <a:spcPts val="500"/>
              </a:spcAft>
              <a:buNone/>
            </a:pPr>
            <a:r>
              <a:rPr b="0" sz="1300">
                <a:latin typeface="Times New Roman"/>
              </a:rPr>
              <a:t>Westling, D. L.&amp;Fox, L. (2000). Teaching Students With Several Disabilities. (2nd Edition). USA: Printice Hall</a:t>
            </a:r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23</a:t>
            </a:fld>
            <a:endParaRPr lang="tr-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/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0" sz="2400">
                <a:latin typeface="Times New Roman"/>
              </a:rPr>
              <a:t>HAZIRLAYAN :</a:t>
            </a:r>
          </a:p>
          <a:p/>
          <a:p>
            <a:r>
              <a:rPr b="0" sz="2400">
                <a:latin typeface="Times New Roman"/>
              </a:rPr>
              <a:t/>
            </a:r>
          </a:p>
          <a:p>
            <a:r>
              <a:rPr b="0" sz="2400">
                <a:latin typeface="Times New Roman"/>
              </a:rPr>
              <a:t/>
            </a:r>
          </a:p>
          <a:p>
            <a:r>
              <a:rPr b="0" sz="2400">
                <a:latin typeface="Times New Roman"/>
              </a:rPr>
              <a:t>ÖZET MAKALE (TÜRKÇE)</a:t>
            </a:r>
          </a:p>
          <a:p/>
          <a:p>
            <a:r>
              <a:rPr b="1" sz="2400">
                <a:latin typeface="Times New Roman"/>
              </a:rPr>
              <a:t>Akademik Bakış Dergisi, Sayı 41, Mart–Nisan 2014</a:t>
            </a:r>
          </a:p>
          <a:p>
            <a:r>
              <a:rPr b="1" sz="2400">
                <a:latin typeface="Times New Roman"/>
              </a:rPr>
              <a:t>Celalabat / Kırgızistan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02176B-0E47-46AC-8F43-DAB4B8A37D06}" type="slidenum">
              <a:rPr lang="tr-TR" smtClean="0"/>
              <a:t>24</a:t>
            </a:fld>
            <a:endParaRPr lang="tr-TR"/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E36C0A"/>
      </a:accent1>
      <a:accent2>
        <a:srgbClr val="9CBEBD"/>
      </a:accent2>
      <a:accent3>
        <a:srgbClr val="F4A259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algn="bl" blurRad="50800" dist="25400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dir="tl" rig="brightRoom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algn="tl" flip="none" sx="32000" sy="32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is Teması">
  <a:themeElements>
    <a:clrScheme name="Ofis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Zihinsel Yetersizliği Olan Çocuklar ve Oyun Ortamında Akran Etkileşimi</dc:title>
  <dc:creator>24091RPADG</dc:creator>
  <cp:lastModifiedBy>Hp</cp:lastModifiedBy>
  <dcterms:created xsi:type="dcterms:W3CDTF">2026-10-26T10:04:49Z</dcterms:created>
  <dcterms:modified xsi:type="dcterms:W3CDTF">2026-10-26T10:04:49Z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5534a23a0caa49edb7601792e56f9dbc_23</vt:lpwstr>
  </property>
</Properties>
</file>